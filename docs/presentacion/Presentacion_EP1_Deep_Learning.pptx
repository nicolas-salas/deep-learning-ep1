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[Ambos] Presentación de integrantes y del objetivo general: construir y justificar experimentalmente una MLP para clasificar material educativo en cuatro categorías curriculares. Nicolás presenta datos, arquitectura e hiperparámetros de entrenamiento; Rahyzza presenta funciones, arquitectura comparada y evaluación en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Recorrido de la presentación, alineado con los diez puntos solicitados para la defensa.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Primera sección: problema, dataset y preparación de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El dataset tiene 100.000 registros ya depurados. La clase mayoritaria (Números, 30,2%) y la minoritaria (Datos y Probabilidad, 19,7%) están en razón 1,53. Por eso se usa F1 ponderado como métrica principal y no solo accuracy, que podría favorecer a la clase mayoritaria.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Tres decisiones de preparación. La estandarización es necesaria porque el descenso de gradiente es sensible a la escala: variables con rangos grandes dominarían las actualizaciones. El scaler se ajusta solo con train para no filtrar información de validación y test. La semilla reiniciada por corrida permite atribuir cada diferencia al parámetro variado.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Segunda sección: arquitectura, funciones, hiperparámetros y regularización.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MLP de dos capas ocultas. La elección de 64-32 se respalda en el experimento de arquitectura: redes con hasta 22 veces más parámetros no mejoraron el F1 en más de 0,001. Dropout 0.2 después de cada capa oculta, Softmax en la salida por tratarse de clases excluyentes. Los valores de la fila inferior provienen de los experimentos B1 a B5.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Con dos capas, las cuatro activaciones quedan dentro de 0,0024 de F1, porque el gradiente atraviesa pocas derivadas. Para verificar el efecto teórico se midió el gradiente en una red de cinco capas: con sigmoide llega 1.959 veces más débil a la primera capa, dado que su derivada no supera 0,25. En entrenamiento, las tres alcanzan el mismo F1 porque Adam escala el paso según la magnitud del gradiente, pero ReLU converge en 36 épocas frente a 56 de sigmoide.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Ambas combinaciones clasifican igual porque el modelo elige la salida más alta en los dos casos. La diferencia está en el significado: Softmax fuerza que las salidas sumen 1, Sigmoide no, por lo que un registro podría recibir probabilidad alta en dos categorías a la vez. Cross-entropy es la pérdida que corresponde a una distribución Softmax, y la versión sparse permite usar las etiquetas enteras 0 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Experimento controlado: solo varía la tasa. Con 0.1 el paso excede el valle de la función de costo y la red colapsa a predecir una sola clase: accuracy igual a la proporción de la clase mayoritaria y pérdida igual a ln 4, que corresponde a una predicción uniforme sobre cuatro clases. Entre 0.01 y 0.0005 la diferencia es mínima porque Adam adapta el paso por parámetro. Se elige 0.0005 por el mayor F1 y el menor val_loss.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Batch 256 obtiene el mejor F1 y el menor val_loss, en una fracción del tiempo, por aprovechar la vectorización. Hay que matizar que con épocas fijas un batch grande hace menos actualizaciones, por eso el número de épocas se controla después con Early Stopping. La curva larga muestra que desde la época 16 la validación sube levemente mientras train sigue bajando: sobreajuste leve. Patience 10 tolera fluctuaciones y restaura los pesos de la mejor época.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Todas las corridas comparten lr, batch y early stopping; solo cambia la técnica. El efecto se ve más en val_loss que en F1. L2 ralentiza la convergencia (no activa early stopping) y BatchNorm aporta poco porque las entradas ya están estandarizadas. Dropout 0.4 tiene el F1 más alto por 0,0006, pero bajo el criterio definido se prefiere 0.2 por menor val_loss y menor brecha en valor absoluto.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El cuadro consolidado ordena todas las corridas por F1. La tabla de la derecha sigue la secuencia de decisiones: casi toda la mejora proviene de la tasa de aprendizaje y el tamaño de lote. Early Stopping, aislado frente a la corrida de 100 épocas sin parada, aporta +0,0031 y reduce la brecha en un 77%.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Dos comparaciones más. Los tres optimizadores llegan al mismo F1: el optimizador cambia la trayectoria, no el resultado final. En arquitecturas, con Dropout y Early Stopping agregar capacidad no provoca sobreajuste, pero tampoco mejora: el problema no necesita una red más grande. En ambos casos se conserva la opción sobre la que se calibraron los hiperparámetros.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[Nicolás] Comparación directa entre el punto de partida y la configuración optimizada. El baseline alcanzaba su mínimo de val_loss en la época 3 y seguía 37 épocas sobreajustando; el modelo final se detiene y restaura su mejor época. Además entrena alrededor de cinco veces más rápido, principalmente por el batch 256.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Tercera sección: evaluación única sobre el conjunto de test y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El test se usa una sola vez, cargando los pesos del modelo final. Accuracy, precision, recall y F1 ponderados coinciden en 0,9108 porque los errores se reparten de forma pareja entre clases. Precision responde: de lo que el modelo asigna a una categoría, cuánto pertenece a ella. Recall: de lo que pertenece a la categoría, cuánto detecta. La categoría con menos registros es la mejor clasificada, por lo que el desempeño no depende del soporte sino de qué tan distintas son sus características.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La diagonal de la matriz normalizada corresponde al recall de cada clase. Números y Álgebra se confunden en ambos sentidos, 349 registros en total, probablemente porque comparten operaciones aritméticas. Números participa en las tres confusiones principales, lo que explica que sea la categoría con menor recall: el 41% de sus errores van a Álgebra.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Si solo se aceptan las predicciones en que el modelo está más seguro, la precisión sube a costa de dejar registros sin clasificar. Con umbral 0,80 la precisión llega a 96,7% cubriendo el 82,1%. En una aplicación real, los registros bajo el umbral podrían derivarse a revisión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[Rahyzza] Cierre con los cuatro hallazgos principales y las mejoras. Una limitación importante: la reproducibilidad por semilla se garantiza en un mismo equipo, pero en otro hardware pueden aparecer diferencias numéricas pequeñas.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[Ambos] Cierre y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home/claude/ppt/assets/portada.jpg">    </p:cNvPr>
          <p:cNvPicPr>
            <a:picLocks noChangeAspect="1"/>
          </p:cNvPicPr>
          <p:nvPr/>
        </p:nvPicPr>
        <p:blipFill>
          <a:blip r:embed="rId1"/>
          <a:srcRect l="0" r="0" t="0" b="0"/>
          <a:stretch/>
        </p:blipFill>
        <p:spPr>
          <a:xfrm>
            <a:off x="0" y="0"/>
            <a:ext cx="18288000" cy="10287000"/>
          </a:xfrm>
          <a:prstGeom prst="rect">
            <a:avLst/>
          </a:prstGeom>
        </p:spPr>
      </p:pic>
      <p:sp>
        <p:nvSpPr>
          <p:cNvPr id="3" name="Shape 0"/>
          <p:cNvSpPr/>
          <p:nvPr/>
        </p:nvSpPr>
        <p:spPr>
          <a:xfrm>
            <a:off x="9144000" y="640080"/>
            <a:ext cx="8412480" cy="8823960"/>
          </a:xfrm>
          <a:prstGeom prst="rect">
            <a:avLst/>
          </a:prstGeom>
          <a:solidFill>
            <a:srgbClr val="2A4BDB"/>
          </a:solidFill>
          <a:ln w="12700">
            <a:solidFill>
              <a:srgbClr val="2A4BDB"/>
            </a:solidFill>
            <a:prstDash val="solid"/>
          </a:ln>
        </p:spPr>
      </p:sp>
      <p:sp>
        <p:nvSpPr>
          <p:cNvPr id="4" name="Text 1"/>
          <p:cNvSpPr txBox="1"/>
          <p:nvPr/>
        </p:nvSpPr>
        <p:spPr>
          <a:xfrm>
            <a:off x="9646920" y="960120"/>
            <a:ext cx="3840480" cy="91440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DuocUC</a:t>
            </a:r>
            <a:endParaRPr lang="en-US" sz="3600" dirty="0"/>
          </a:p>
        </p:txBody>
      </p:sp>
      <p:sp>
        <p:nvSpPr>
          <p:cNvPr id="5" name="Text 2"/>
          <p:cNvSpPr txBox="1"/>
          <p:nvPr/>
        </p:nvSpPr>
        <p:spPr>
          <a:xfrm>
            <a:off x="13716000" y="1097280"/>
            <a:ext cx="3474720" cy="6858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INFORMÁTICA Y</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TELECOMUNICACIONES</a:t>
            </a:r>
            <a:endParaRPr lang="en-US" sz="1100" dirty="0"/>
          </a:p>
        </p:txBody>
      </p:sp>
      <p:sp>
        <p:nvSpPr>
          <p:cNvPr id="6" name="Shape 3"/>
          <p:cNvSpPr/>
          <p:nvPr/>
        </p:nvSpPr>
        <p:spPr>
          <a:xfrm>
            <a:off x="9692640" y="3429000"/>
            <a:ext cx="310896" cy="310896"/>
          </a:xfrm>
          <a:prstGeom prst="rect">
            <a:avLst/>
          </a:prstGeom>
          <a:solidFill>
            <a:srgbClr val="FFFFFF"/>
          </a:solidFill>
          <a:ln w="12700">
            <a:solidFill>
              <a:srgbClr val="FFFFFF"/>
            </a:solidFill>
            <a:prstDash val="solid"/>
          </a:ln>
        </p:spPr>
      </p:sp>
      <p:sp>
        <p:nvSpPr>
          <p:cNvPr id="7" name="Text 4"/>
          <p:cNvSpPr txBox="1"/>
          <p:nvPr/>
        </p:nvSpPr>
        <p:spPr>
          <a:xfrm>
            <a:off x="10287000" y="2971800"/>
            <a:ext cx="7040880" cy="1737360"/>
          </a:xfrm>
          <a:prstGeom prst="rect">
            <a:avLst/>
          </a:prstGeom>
          <a:noFill/>
          <a:ln/>
        </p:spPr>
        <p:txBody>
          <a:bodyPr wrap="square" lIns="0" tIns="0" rIns="0" bIns="0" rtlCol="0" anchor="t"/>
          <a:lstStyle/>
          <a:p>
            <a:pPr indent="0" marL="0">
              <a:buNone/>
            </a:pPr>
            <a:r>
              <a:rPr lang="en-US" sz="3800" dirty="0">
                <a:solidFill>
                  <a:srgbClr val="FFFFFF"/>
                </a:solidFill>
                <a:latin typeface="Arial" pitchFamily="34" charset="0"/>
                <a:ea typeface="Arial" pitchFamily="34" charset="-122"/>
                <a:cs typeface="Arial" pitchFamily="34" charset="-120"/>
              </a:rPr>
              <a:t>Clasificación Curricular</a:t>
            </a:r>
            <a:endParaRPr lang="en-US" sz="3800" dirty="0"/>
          </a:p>
          <a:p>
            <a:pPr indent="0" marL="0">
              <a:buNone/>
            </a:pPr>
            <a:r>
              <a:rPr lang="en-US" sz="3800" dirty="0">
                <a:solidFill>
                  <a:srgbClr val="FFFFFF"/>
                </a:solidFill>
                <a:latin typeface="Arial" pitchFamily="34" charset="0"/>
                <a:ea typeface="Arial" pitchFamily="34" charset="-122"/>
                <a:cs typeface="Arial" pitchFamily="34" charset="-120"/>
              </a:rPr>
              <a:t>Automática con MLP</a:t>
            </a:r>
            <a:endParaRPr lang="en-US" sz="3800" dirty="0"/>
          </a:p>
        </p:txBody>
      </p:sp>
      <p:sp>
        <p:nvSpPr>
          <p:cNvPr id="8" name="Text 5"/>
          <p:cNvSpPr txBox="1"/>
          <p:nvPr/>
        </p:nvSpPr>
        <p:spPr>
          <a:xfrm>
            <a:off x="10287000" y="4846320"/>
            <a:ext cx="7040880" cy="1188720"/>
          </a:xfrm>
          <a:prstGeom prst="rect">
            <a:avLst/>
          </a:prstGeom>
          <a:noFill/>
          <a:ln/>
        </p:spPr>
        <p:txBody>
          <a:bodyPr wrap="square" lIns="0" tIns="0" rIns="0" bIns="0" rtlCol="0" anchor="t"/>
          <a:lstStyle/>
          <a:p>
            <a:pPr indent="0" marL="0">
              <a:buNone/>
            </a:pPr>
            <a:r>
              <a:rPr lang="en-US" sz="2200" i="1" dirty="0">
                <a:solidFill>
                  <a:srgbClr val="FFFFFF"/>
                </a:solidFill>
                <a:latin typeface="Arial" pitchFamily="34" charset="0"/>
                <a:ea typeface="Arial" pitchFamily="34" charset="-122"/>
                <a:cs typeface="Arial" pitchFamily="34" charset="-120"/>
              </a:rPr>
              <a:t>Evaluación Parcial N.° 1</a:t>
            </a:r>
            <a:endParaRPr lang="en-US" sz="2200" dirty="0"/>
          </a:p>
          <a:p>
            <a:pPr indent="0" marL="0">
              <a:buNone/>
            </a:pPr>
            <a:r>
              <a:rPr lang="en-US" sz="2200" i="1" dirty="0">
                <a:solidFill>
                  <a:srgbClr val="FFFFFF"/>
                </a:solidFill>
                <a:latin typeface="Arial" pitchFamily="34" charset="0"/>
                <a:ea typeface="Arial" pitchFamily="34" charset="-122"/>
                <a:cs typeface="Arial" pitchFamily="34" charset="-120"/>
              </a:rPr>
              <a:t>Fundamentos de Deep Learning (DLY0100)</a:t>
            </a:r>
            <a:endParaRPr lang="en-US" sz="2200" dirty="0"/>
          </a:p>
        </p:txBody>
      </p:sp>
      <p:sp>
        <p:nvSpPr>
          <p:cNvPr id="9" name="Text 6"/>
          <p:cNvSpPr txBox="1"/>
          <p:nvPr/>
        </p:nvSpPr>
        <p:spPr>
          <a:xfrm>
            <a:off x="9555480" y="7086600"/>
            <a:ext cx="4206240" cy="146304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Integrantes:</a:t>
            </a:r>
            <a:endParaRPr lang="en-US" sz="1800" dirty="0"/>
          </a:p>
          <a:p>
            <a:pPr marL="228600" indent="-228600">
              <a:buSzPct val="100000"/>
              <a:buChar char="•"/>
            </a:pPr>
            <a:r>
              <a:rPr lang="en-US" sz="1800" dirty="0">
                <a:solidFill>
                  <a:srgbClr val="FFFFFF"/>
                </a:solidFill>
                <a:latin typeface="Arial" pitchFamily="34" charset="0"/>
                <a:ea typeface="Arial" pitchFamily="34" charset="-122"/>
                <a:cs typeface="Arial" pitchFamily="34" charset="-120"/>
              </a:rPr>
              <a:t>Rahyzza Novoa</a:t>
            </a:r>
            <a:endParaRPr lang="en-US" sz="1800" dirty="0"/>
          </a:p>
          <a:p>
            <a:pPr marL="228600" indent="-228600">
              <a:buSzPct val="100000"/>
              <a:buChar char="•"/>
            </a:pPr>
            <a:r>
              <a:rPr lang="en-US" sz="1800" dirty="0">
                <a:solidFill>
                  <a:srgbClr val="FFFFFF"/>
                </a:solidFill>
                <a:latin typeface="Arial" pitchFamily="34" charset="0"/>
                <a:ea typeface="Arial" pitchFamily="34" charset="-122"/>
                <a:cs typeface="Arial" pitchFamily="34" charset="-120"/>
              </a:rPr>
              <a:t>Nicolás Salas</a:t>
            </a:r>
            <a:endParaRPr lang="en-US" sz="1800" dirty="0"/>
          </a:p>
        </p:txBody>
      </p:sp>
      <p:sp>
        <p:nvSpPr>
          <p:cNvPr id="10" name="Text 7"/>
          <p:cNvSpPr txBox="1"/>
          <p:nvPr/>
        </p:nvSpPr>
        <p:spPr>
          <a:xfrm>
            <a:off x="13944600" y="7086600"/>
            <a:ext cx="3474720" cy="109728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Profesora:</a:t>
            </a:r>
            <a:endParaRPr lang="en-US" sz="1800" dirty="0"/>
          </a:p>
          <a:p>
            <a:pPr indent="0" marL="0">
              <a:buNone/>
            </a:pPr>
            <a:r>
              <a:rPr lang="en-US" sz="1800" dirty="0">
                <a:solidFill>
                  <a:srgbClr val="FFFFFF"/>
                </a:solidFill>
                <a:latin typeface="Arial" pitchFamily="34" charset="0"/>
                <a:ea typeface="Arial" pitchFamily="34" charset="-122"/>
                <a:cs typeface="Arial" pitchFamily="34" charset="-120"/>
              </a:rPr>
              <a:t>Elizabeth Chicata Castro</a:t>
            </a:r>
            <a:endParaRPr lang="en-US" sz="1800" dirty="0"/>
          </a:p>
        </p:txBody>
      </p:sp>
      <p:sp>
        <p:nvSpPr>
          <p:cNvPr id="11" name="Shape 8"/>
          <p:cNvSpPr/>
          <p:nvPr/>
        </p:nvSpPr>
        <p:spPr>
          <a:xfrm>
            <a:off x="15133320" y="8549640"/>
            <a:ext cx="2286000" cy="731520"/>
          </a:xfrm>
          <a:prstGeom prst="roundRect">
            <a:avLst>
              <a:gd name="adj" fmla="val 10000"/>
            </a:avLst>
          </a:prstGeom>
          <a:solidFill>
            <a:srgbClr val="FFFFFF"/>
          </a:solidFill>
          <a:ln w="12700">
            <a:solidFill>
              <a:srgbClr val="FFFFFF"/>
            </a:solidFill>
            <a:prstDash val="solid"/>
          </a:ln>
        </p:spPr>
      </p:sp>
      <p:pic>
        <p:nvPicPr>
          <p:cNvPr id="12" name="Image 1" descr="/home/claude/ppt/assets/logo.png">    </p:cNvPr>
          <p:cNvPicPr>
            <a:picLocks noChangeAspect="1"/>
          </p:cNvPicPr>
          <p:nvPr/>
        </p:nvPicPr>
        <p:blipFill>
          <a:blip r:embed="rId2"/>
          <a:stretch>
            <a:fillRect/>
          </a:stretch>
        </p:blipFill>
        <p:spPr>
          <a:xfrm>
            <a:off x="15179040" y="8641080"/>
            <a:ext cx="219456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Índice</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54480" y="2240280"/>
            <a:ext cx="475488" cy="475488"/>
          </a:xfrm>
          <a:prstGeom prst="rect">
            <a:avLst/>
          </a:prstGeom>
          <a:solidFill>
            <a:srgbClr val="2A4BDB"/>
          </a:solidFill>
          <a:ln w="12700">
            <a:solidFill>
              <a:srgbClr val="2A4BDB"/>
            </a:solidFill>
            <a:prstDash val="solid"/>
          </a:ln>
        </p:spPr>
      </p:sp>
      <p:sp>
        <p:nvSpPr>
          <p:cNvPr id="10" name="Text 7"/>
          <p:cNvSpPr txBox="1"/>
          <p:nvPr/>
        </p:nvSpPr>
        <p:spPr>
          <a:xfrm>
            <a:off x="1554480" y="224028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11" name="Text 8"/>
          <p:cNvSpPr txBox="1"/>
          <p:nvPr/>
        </p:nvSpPr>
        <p:spPr>
          <a:xfrm>
            <a:off x="2331720" y="2240280"/>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Problema y objetivo del modelo</a:t>
            </a:r>
            <a:endParaRPr lang="en-US" sz="2200" dirty="0"/>
          </a:p>
        </p:txBody>
      </p:sp>
      <p:sp>
        <p:nvSpPr>
          <p:cNvPr id="12" name="Shape 9"/>
          <p:cNvSpPr/>
          <p:nvPr/>
        </p:nvSpPr>
        <p:spPr>
          <a:xfrm>
            <a:off x="1554480" y="3026664"/>
            <a:ext cx="475488" cy="475488"/>
          </a:xfrm>
          <a:prstGeom prst="rect">
            <a:avLst/>
          </a:prstGeom>
          <a:solidFill>
            <a:srgbClr val="2A4BDB"/>
          </a:solidFill>
          <a:ln w="12700">
            <a:solidFill>
              <a:srgbClr val="2A4BDB"/>
            </a:solidFill>
            <a:prstDash val="solid"/>
          </a:ln>
        </p:spPr>
      </p:sp>
      <p:sp>
        <p:nvSpPr>
          <p:cNvPr id="13" name="Text 10"/>
          <p:cNvSpPr txBox="1"/>
          <p:nvPr/>
        </p:nvSpPr>
        <p:spPr>
          <a:xfrm>
            <a:off x="1554480" y="302666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1"/>
          <p:cNvSpPr txBox="1"/>
          <p:nvPr/>
        </p:nvSpPr>
        <p:spPr>
          <a:xfrm>
            <a:off x="2331720" y="3026664"/>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Preparación de los datos</a:t>
            </a:r>
            <a:endParaRPr lang="en-US" sz="2200" dirty="0"/>
          </a:p>
        </p:txBody>
      </p:sp>
      <p:sp>
        <p:nvSpPr>
          <p:cNvPr id="15" name="Shape 12"/>
          <p:cNvSpPr/>
          <p:nvPr/>
        </p:nvSpPr>
        <p:spPr>
          <a:xfrm>
            <a:off x="1554480" y="3813048"/>
            <a:ext cx="475488" cy="475488"/>
          </a:xfrm>
          <a:prstGeom prst="rect">
            <a:avLst/>
          </a:prstGeom>
          <a:solidFill>
            <a:srgbClr val="2A4BDB"/>
          </a:solidFill>
          <a:ln w="12700">
            <a:solidFill>
              <a:srgbClr val="2A4BDB"/>
            </a:solidFill>
            <a:prstDash val="solid"/>
          </a:ln>
        </p:spPr>
      </p:sp>
      <p:sp>
        <p:nvSpPr>
          <p:cNvPr id="16" name="Text 13"/>
          <p:cNvSpPr txBox="1"/>
          <p:nvPr/>
        </p:nvSpPr>
        <p:spPr>
          <a:xfrm>
            <a:off x="1554480" y="3813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4"/>
          <p:cNvSpPr txBox="1"/>
          <p:nvPr/>
        </p:nvSpPr>
        <p:spPr>
          <a:xfrm>
            <a:off x="2331720" y="3813048"/>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Arquitectura de la MLP</a:t>
            </a:r>
            <a:endParaRPr lang="en-US" sz="2200" dirty="0"/>
          </a:p>
        </p:txBody>
      </p:sp>
      <p:sp>
        <p:nvSpPr>
          <p:cNvPr id="18" name="Shape 15"/>
          <p:cNvSpPr/>
          <p:nvPr/>
        </p:nvSpPr>
        <p:spPr>
          <a:xfrm>
            <a:off x="1554480" y="4599432"/>
            <a:ext cx="475488" cy="475488"/>
          </a:xfrm>
          <a:prstGeom prst="rect">
            <a:avLst/>
          </a:prstGeom>
          <a:solidFill>
            <a:srgbClr val="2A4BDB"/>
          </a:solidFill>
          <a:ln w="12700">
            <a:solidFill>
              <a:srgbClr val="2A4BDB"/>
            </a:solidFill>
            <a:prstDash val="solid"/>
          </a:ln>
        </p:spPr>
      </p:sp>
      <p:sp>
        <p:nvSpPr>
          <p:cNvPr id="19" name="Text 16"/>
          <p:cNvSpPr txBox="1"/>
          <p:nvPr/>
        </p:nvSpPr>
        <p:spPr>
          <a:xfrm>
            <a:off x="1554480" y="459943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0" name="Text 17"/>
          <p:cNvSpPr txBox="1"/>
          <p:nvPr/>
        </p:nvSpPr>
        <p:spPr>
          <a:xfrm>
            <a:off x="2331720" y="4599432"/>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Funciones de activación, salida y pérdida</a:t>
            </a:r>
            <a:endParaRPr lang="en-US" sz="2200" dirty="0"/>
          </a:p>
        </p:txBody>
      </p:sp>
      <p:sp>
        <p:nvSpPr>
          <p:cNvPr id="21" name="Shape 18"/>
          <p:cNvSpPr/>
          <p:nvPr/>
        </p:nvSpPr>
        <p:spPr>
          <a:xfrm>
            <a:off x="1554480" y="5385816"/>
            <a:ext cx="475488" cy="475488"/>
          </a:xfrm>
          <a:prstGeom prst="rect">
            <a:avLst/>
          </a:prstGeom>
          <a:solidFill>
            <a:srgbClr val="2A4BDB"/>
          </a:solidFill>
          <a:ln w="12700">
            <a:solidFill>
              <a:srgbClr val="2A4BDB"/>
            </a:solidFill>
            <a:prstDash val="solid"/>
          </a:ln>
        </p:spPr>
      </p:sp>
      <p:sp>
        <p:nvSpPr>
          <p:cNvPr id="22" name="Text 19"/>
          <p:cNvSpPr txBox="1"/>
          <p:nvPr/>
        </p:nvSpPr>
        <p:spPr>
          <a:xfrm>
            <a:off x="1554480" y="538581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3" name="Text 20"/>
          <p:cNvSpPr txBox="1"/>
          <p:nvPr/>
        </p:nvSpPr>
        <p:spPr>
          <a:xfrm>
            <a:off x="2331720" y="5385816"/>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Épocas, learning rate y batch size</a:t>
            </a:r>
            <a:endParaRPr lang="en-US" sz="2200" dirty="0"/>
          </a:p>
        </p:txBody>
      </p:sp>
      <p:sp>
        <p:nvSpPr>
          <p:cNvPr id="24" name="Shape 21"/>
          <p:cNvSpPr/>
          <p:nvPr/>
        </p:nvSpPr>
        <p:spPr>
          <a:xfrm>
            <a:off x="1554480" y="6172200"/>
            <a:ext cx="475488" cy="475488"/>
          </a:xfrm>
          <a:prstGeom prst="rect">
            <a:avLst/>
          </a:prstGeom>
          <a:solidFill>
            <a:srgbClr val="2A4BDB"/>
          </a:solidFill>
          <a:ln w="12700">
            <a:solidFill>
              <a:srgbClr val="2A4BDB"/>
            </a:solidFill>
            <a:prstDash val="solid"/>
          </a:ln>
        </p:spPr>
      </p:sp>
      <p:sp>
        <p:nvSpPr>
          <p:cNvPr id="25" name="Text 22"/>
          <p:cNvSpPr txBox="1"/>
          <p:nvPr/>
        </p:nvSpPr>
        <p:spPr>
          <a:xfrm>
            <a:off x="1554480" y="617220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6" name="Text 23"/>
          <p:cNvSpPr txBox="1"/>
          <p:nvPr/>
        </p:nvSpPr>
        <p:spPr>
          <a:xfrm>
            <a:off x="2331720" y="6172200"/>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Efecto de la regularización</a:t>
            </a:r>
            <a:endParaRPr lang="en-US" sz="2200" dirty="0"/>
          </a:p>
        </p:txBody>
      </p:sp>
      <p:sp>
        <p:nvSpPr>
          <p:cNvPr id="27" name="Shape 24"/>
          <p:cNvSpPr/>
          <p:nvPr/>
        </p:nvSpPr>
        <p:spPr>
          <a:xfrm>
            <a:off x="1554480" y="6958584"/>
            <a:ext cx="475488" cy="475488"/>
          </a:xfrm>
          <a:prstGeom prst="rect">
            <a:avLst/>
          </a:prstGeom>
          <a:solidFill>
            <a:srgbClr val="2A4BDB"/>
          </a:solidFill>
          <a:ln w="12700">
            <a:solidFill>
              <a:srgbClr val="2A4BDB"/>
            </a:solidFill>
            <a:prstDash val="solid"/>
          </a:ln>
        </p:spPr>
      </p:sp>
      <p:sp>
        <p:nvSpPr>
          <p:cNvPr id="28" name="Text 25"/>
          <p:cNvSpPr txBox="1"/>
          <p:nvPr/>
        </p:nvSpPr>
        <p:spPr>
          <a:xfrm>
            <a:off x="1554480" y="695858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29" name="Text 26"/>
          <p:cNvSpPr txBox="1"/>
          <p:nvPr/>
        </p:nvSpPr>
        <p:spPr>
          <a:xfrm>
            <a:off x="2331720" y="6958584"/>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Comparación de configuraciones y modelo final</a:t>
            </a:r>
            <a:endParaRPr lang="en-US" sz="2200" dirty="0"/>
          </a:p>
        </p:txBody>
      </p:sp>
      <p:sp>
        <p:nvSpPr>
          <p:cNvPr id="30" name="Shape 27"/>
          <p:cNvSpPr/>
          <p:nvPr/>
        </p:nvSpPr>
        <p:spPr>
          <a:xfrm>
            <a:off x="1554480" y="7744968"/>
            <a:ext cx="475488" cy="475488"/>
          </a:xfrm>
          <a:prstGeom prst="rect">
            <a:avLst/>
          </a:prstGeom>
          <a:solidFill>
            <a:srgbClr val="2A4BDB"/>
          </a:solidFill>
          <a:ln w="12700">
            <a:solidFill>
              <a:srgbClr val="2A4BDB"/>
            </a:solidFill>
            <a:prstDash val="solid"/>
          </a:ln>
        </p:spPr>
      </p:sp>
      <p:sp>
        <p:nvSpPr>
          <p:cNvPr id="31" name="Text 28"/>
          <p:cNvSpPr txBox="1"/>
          <p:nvPr/>
        </p:nvSpPr>
        <p:spPr>
          <a:xfrm>
            <a:off x="1554480" y="774496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8</a:t>
            </a:r>
            <a:endParaRPr lang="en-US" sz="1800" dirty="0"/>
          </a:p>
        </p:txBody>
      </p:sp>
      <p:sp>
        <p:nvSpPr>
          <p:cNvPr id="32" name="Text 29"/>
          <p:cNvSpPr txBox="1"/>
          <p:nvPr/>
        </p:nvSpPr>
        <p:spPr>
          <a:xfrm>
            <a:off x="2331720" y="7744968"/>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Resultados: accuracy, precision, recall y F1</a:t>
            </a:r>
            <a:endParaRPr lang="en-US" sz="2200" dirty="0"/>
          </a:p>
        </p:txBody>
      </p:sp>
      <p:sp>
        <p:nvSpPr>
          <p:cNvPr id="33" name="Shape 30"/>
          <p:cNvSpPr/>
          <p:nvPr/>
        </p:nvSpPr>
        <p:spPr>
          <a:xfrm>
            <a:off x="1554480" y="8531352"/>
            <a:ext cx="475488" cy="475488"/>
          </a:xfrm>
          <a:prstGeom prst="rect">
            <a:avLst/>
          </a:prstGeom>
          <a:solidFill>
            <a:srgbClr val="2A4BDB"/>
          </a:solidFill>
          <a:ln w="12700">
            <a:solidFill>
              <a:srgbClr val="2A4BDB"/>
            </a:solidFill>
            <a:prstDash val="solid"/>
          </a:ln>
        </p:spPr>
      </p:sp>
      <p:sp>
        <p:nvSpPr>
          <p:cNvPr id="34" name="Text 31"/>
          <p:cNvSpPr txBox="1"/>
          <p:nvPr/>
        </p:nvSpPr>
        <p:spPr>
          <a:xfrm>
            <a:off x="1554480" y="853135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9</a:t>
            </a:r>
            <a:endParaRPr lang="en-US" sz="1800" dirty="0"/>
          </a:p>
        </p:txBody>
      </p:sp>
      <p:sp>
        <p:nvSpPr>
          <p:cNvPr id="35" name="Text 32"/>
          <p:cNvSpPr txBox="1"/>
          <p:nvPr/>
        </p:nvSpPr>
        <p:spPr>
          <a:xfrm>
            <a:off x="2331720" y="8531352"/>
            <a:ext cx="10058400" cy="475488"/>
          </a:xfrm>
          <a:prstGeom prst="rect">
            <a:avLst/>
          </a:prstGeom>
          <a:noFill/>
          <a:ln/>
        </p:spPr>
        <p:txBody>
          <a:bodyPr wrap="square" lIns="0" tIns="0" rIns="0" bIns="0" rtlCol="0" anchor="ctr"/>
          <a:lstStyle/>
          <a:p>
            <a:pPr indent="0" marL="0">
              <a:buNone/>
            </a:pPr>
            <a:r>
              <a:rPr lang="en-US" sz="2200" dirty="0">
                <a:solidFill>
                  <a:srgbClr val="222222"/>
                </a:solidFill>
                <a:latin typeface="Arial" pitchFamily="34" charset="0"/>
                <a:ea typeface="Arial" pitchFamily="34" charset="-122"/>
                <a:cs typeface="Arial" pitchFamily="34" charset="-120"/>
              </a:rPr>
              <a:t>Conclusiones y posibles mejoras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p:bgPr>
    </p:bg>
    <p:spTree>
      <p:nvGrpSpPr>
        <p:cNvPr id="1" name=""/>
        <p:cNvGrpSpPr/>
        <p:nvPr/>
      </p:nvGrpSpPr>
      <p:grpSpPr>
        <a:xfrm>
          <a:off x="0" y="0"/>
          <a:ext cx="0" cy="0"/>
          <a:chOff x="0" y="0"/>
          <a:chExt cx="0" cy="0"/>
        </a:xfrm>
      </p:grpSpPr>
      <p:pic>
        <p:nvPicPr>
          <p:cNvPr id="2" name="Image 0" descr="/home/claude/ppt/assets/sec1.png">    </p:cNvPr>
          <p:cNvPicPr>
            <a:picLocks noChangeAspect="1"/>
          </p:cNvPicPr>
          <p:nvPr/>
        </p:nvPicPr>
        <p:blipFill>
          <a:blip r:embed="rId1"/>
          <a:srcRect l="0" r="0" t="0" b="0"/>
          <a:stretch/>
        </p:blipFill>
        <p:spPr>
          <a:xfrm>
            <a:off x="0" y="0"/>
            <a:ext cx="18288000" cy="10287000"/>
          </a:xfrm>
          <a:prstGeom prst="rect">
            <a:avLst/>
          </a:prstGeom>
        </p:spPr>
      </p:pic>
      <p:sp>
        <p:nvSpPr>
          <p:cNvPr id="3" name="Shape 0"/>
          <p:cNvSpPr/>
          <p:nvPr/>
        </p:nvSpPr>
        <p:spPr>
          <a:xfrm>
            <a:off x="10058400" y="3291840"/>
            <a:ext cx="8229600" cy="4023360"/>
          </a:xfrm>
          <a:prstGeom prst="rect">
            <a:avLst/>
          </a:prstGeom>
          <a:solidFill>
            <a:srgbClr val="0D0D0D">
              <a:alpha val="60000"/>
            </a:srgbClr>
          </a:solidFill>
          <a:ln w="12700">
            <a:solidFill>
              <a:srgbClr val="0D0D0D">
                <a:alpha val="0"/>
              </a:srgbClr>
            </a:solidFill>
            <a:prstDash val="solid"/>
          </a:ln>
        </p:spPr>
      </p:sp>
      <p:sp>
        <p:nvSpPr>
          <p:cNvPr id="4" name="Shape 1"/>
          <p:cNvSpPr/>
          <p:nvPr/>
        </p:nvSpPr>
        <p:spPr>
          <a:xfrm>
            <a:off x="10332720" y="2834640"/>
            <a:ext cx="457200" cy="457200"/>
          </a:xfrm>
          <a:prstGeom prst="rect">
            <a:avLst/>
          </a:prstGeom>
          <a:solidFill>
            <a:srgbClr val="2A4BDB"/>
          </a:solidFill>
          <a:ln w="12700">
            <a:solidFill>
              <a:srgbClr val="2A4BDB"/>
            </a:solidFill>
            <a:prstDash val="solid"/>
          </a:ln>
        </p:spPr>
      </p:sp>
      <p:sp>
        <p:nvSpPr>
          <p:cNvPr id="5" name="Shape 2"/>
          <p:cNvSpPr/>
          <p:nvPr/>
        </p:nvSpPr>
        <p:spPr>
          <a:xfrm>
            <a:off x="0" y="3886200"/>
            <a:ext cx="2057400" cy="2468880"/>
          </a:xfrm>
          <a:prstGeom prst="rect">
            <a:avLst/>
          </a:prstGeom>
          <a:solidFill>
            <a:srgbClr val="2A4BDB"/>
          </a:solidFill>
          <a:ln w="12700">
            <a:solidFill>
              <a:srgbClr val="2A4BDB"/>
            </a:solidFill>
            <a:prstDash val="solid"/>
          </a:ln>
        </p:spPr>
      </p:sp>
      <p:sp>
        <p:nvSpPr>
          <p:cNvPr id="6" name="Text 3"/>
          <p:cNvSpPr txBox="1"/>
          <p:nvPr/>
        </p:nvSpPr>
        <p:spPr>
          <a:xfrm>
            <a:off x="0" y="3886200"/>
            <a:ext cx="2057400" cy="2468880"/>
          </a:xfrm>
          <a:prstGeom prst="rect">
            <a:avLst/>
          </a:prstGeom>
          <a:noFill/>
          <a:ln/>
        </p:spPr>
        <p:txBody>
          <a:bodyPr wrap="square" lIns="0" tIns="0" rIns="0" bIns="0" rtlCol="0" anchor="ctr"/>
          <a:lstStyle/>
          <a:p>
            <a:pPr algn="ctr" indent="0" marL="0">
              <a:buNone/>
            </a:pPr>
            <a:r>
              <a:rPr lang="en-US" sz="6400" b="1" dirty="0">
                <a:solidFill>
                  <a:srgbClr val="FFFFFF"/>
                </a:solidFill>
                <a:latin typeface="Arial" pitchFamily="34" charset="0"/>
                <a:ea typeface="Arial" pitchFamily="34" charset="-122"/>
                <a:cs typeface="Arial" pitchFamily="34" charset="-120"/>
              </a:rPr>
              <a:t>01</a:t>
            </a:r>
            <a:endParaRPr lang="en-US" sz="6400" dirty="0"/>
          </a:p>
        </p:txBody>
      </p:sp>
      <p:sp>
        <p:nvSpPr>
          <p:cNvPr id="7" name="Text 4"/>
          <p:cNvSpPr txBox="1"/>
          <p:nvPr/>
        </p:nvSpPr>
        <p:spPr>
          <a:xfrm>
            <a:off x="10744200" y="3931920"/>
            <a:ext cx="7132320" cy="2743200"/>
          </a:xfrm>
          <a:prstGeom prst="rect">
            <a:avLst/>
          </a:prstGeom>
          <a:noFill/>
          <a:ln/>
        </p:spPr>
        <p:txBody>
          <a:bodyPr wrap="square" lIns="0" tIns="0" rIns="0" bIns="0" rtlCol="0" anchor="ctr"/>
          <a:lstStyle/>
          <a:p>
            <a:pPr indent="0" marL="0">
              <a:buNone/>
            </a:pPr>
            <a:r>
              <a:rPr lang="en-US" sz="4000" b="1" i="1" dirty="0">
                <a:solidFill>
                  <a:srgbClr val="FFFFFF"/>
                </a:solidFill>
                <a:latin typeface="Arial" pitchFamily="34" charset="0"/>
                <a:ea typeface="Arial" pitchFamily="34" charset="-122"/>
                <a:cs typeface="Arial" pitchFamily="34" charset="-120"/>
              </a:rPr>
              <a:t>Problema</a:t>
            </a:r>
            <a:endParaRPr lang="en-US" sz="4000" dirty="0"/>
          </a:p>
          <a:p>
            <a:pPr indent="0" marL="0">
              <a:buNone/>
            </a:pPr>
            <a:r>
              <a:rPr lang="en-US" sz="4000" b="1" i="1" dirty="0">
                <a:solidFill>
                  <a:srgbClr val="FFFFFF"/>
                </a:solidFill>
                <a:latin typeface="Arial" pitchFamily="34" charset="0"/>
                <a:ea typeface="Arial" pitchFamily="34" charset="-122"/>
                <a:cs typeface="Arial" pitchFamily="34" charset="-120"/>
              </a:rPr>
              <a:t>y datos</a:t>
            </a:r>
            <a:endParaRPr lang="en-US" sz="4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Problema y objetivo del modelo</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Text 6"/>
          <p:cNvSpPr txBox="1"/>
          <p:nvPr/>
        </p:nvSpPr>
        <p:spPr>
          <a:xfrm>
            <a:off x="1508760" y="2148840"/>
            <a:ext cx="7589520" cy="3291840"/>
          </a:xfrm>
          <a:prstGeom prst="rect">
            <a:avLst/>
          </a:prstGeom>
          <a:noFill/>
          <a:ln/>
        </p:spPr>
        <p:txBody>
          <a:bodyPr wrap="square" lIns="0" tIns="0" rIns="0" bIns="0" rtlCol="0" anchor="t"/>
          <a:lstStyle/>
          <a:p>
            <a:pPr indent="0" marL="0">
              <a:spcAft>
                <a:spcPts val="800"/>
              </a:spcAft>
              <a:buNone/>
            </a:pPr>
            <a:r>
              <a:rPr lang="en-US" sz="1900" b="1" dirty="0">
                <a:solidFill>
                  <a:srgbClr val="222222"/>
                </a:solidFill>
                <a:latin typeface="Arial" pitchFamily="34" charset="0"/>
                <a:ea typeface="Arial" pitchFamily="34" charset="-122"/>
                <a:cs typeface="Arial" pitchFamily="34" charset="-120"/>
              </a:rPr>
              <a:t>Problema. </a:t>
            </a:r>
            <a:pPr indent="0" marL="0">
              <a:spcAft>
                <a:spcPts val="800"/>
              </a:spcAft>
              <a:buNone/>
            </a:pPr>
            <a:r>
              <a:rPr lang="en-US" sz="1900" dirty="0">
                <a:solidFill>
                  <a:srgbClr val="222222"/>
                </a:solidFill>
                <a:latin typeface="Arial" pitchFamily="34" charset="0"/>
                <a:ea typeface="Arial" pitchFamily="34" charset="-122"/>
                <a:cs typeface="Arial" pitchFamily="34" charset="-120"/>
              </a:rPr>
              <a:t>Clasificar automáticamente material educativo de matemáticas en una de cuatro categorías curriculares, a partir de 22 variables numéricas sobre su estructura, contenido y diseño.</a:t>
            </a:r>
            <a:endParaRPr lang="en-US" sz="1900" dirty="0"/>
          </a:p>
          <a:p>
            <a:pPr indent="0" marL="0">
              <a:spcAft>
                <a:spcPts val="800"/>
              </a:spcAft>
              <a:buNone/>
            </a:pPr>
            <a:r>
              <a:rPr lang="en-US" sz="1900" b="1" dirty="0">
                <a:solidFill>
                  <a:srgbClr val="222222"/>
                </a:solidFill>
                <a:latin typeface="Arial" pitchFamily="34" charset="0"/>
                <a:ea typeface="Arial" pitchFamily="34" charset="-122"/>
                <a:cs typeface="Arial" pitchFamily="34" charset="-120"/>
              </a:rPr>
              <a:t>Objetivo. </a:t>
            </a:r>
            <a:pPr indent="0" marL="0">
              <a:spcAft>
                <a:spcPts val="800"/>
              </a:spcAft>
              <a:buNone/>
            </a:pPr>
            <a:r>
              <a:rPr lang="en-US" sz="1900" dirty="0">
                <a:solidFill>
                  <a:srgbClr val="222222"/>
                </a:solidFill>
                <a:latin typeface="Arial" pitchFamily="34" charset="0"/>
                <a:ea typeface="Arial" pitchFamily="34" charset="-122"/>
                <a:cs typeface="Arial" pitchFamily="34" charset="-120"/>
              </a:rPr>
              <a:t>Implementar una MLP en TensorFlow/Keras y justificar experimentalmente cada decisión de preprocesamiento, arquitectura, funciones, hiperparámetros y regularización.</a:t>
            </a:r>
            <a:endParaRPr lang="en-US" sz="1900" dirty="0"/>
          </a:p>
        </p:txBody>
      </p:sp>
      <p:sp>
        <p:nvSpPr>
          <p:cNvPr id="10" name="Shape 7"/>
          <p:cNvSpPr/>
          <p:nvPr/>
        </p:nvSpPr>
        <p:spPr>
          <a:xfrm>
            <a:off x="1508760" y="5760720"/>
            <a:ext cx="2377440" cy="2194560"/>
          </a:xfrm>
          <a:prstGeom prst="rect">
            <a:avLst/>
          </a:prstGeom>
          <a:solidFill>
            <a:srgbClr val="F4F6FA"/>
          </a:solidFill>
          <a:ln w="12700">
            <a:solidFill>
              <a:srgbClr val="D4D4D4"/>
            </a:solidFill>
            <a:prstDash val="solid"/>
          </a:ln>
        </p:spPr>
      </p:sp>
      <p:sp>
        <p:nvSpPr>
          <p:cNvPr id="11" name="Shape 8"/>
          <p:cNvSpPr/>
          <p:nvPr/>
        </p:nvSpPr>
        <p:spPr>
          <a:xfrm>
            <a:off x="1508760" y="5760720"/>
            <a:ext cx="2377440" cy="128016"/>
          </a:xfrm>
          <a:prstGeom prst="rect">
            <a:avLst/>
          </a:prstGeom>
          <a:solidFill>
            <a:srgbClr val="2A4BDB"/>
          </a:solidFill>
          <a:ln w="12700">
            <a:solidFill>
              <a:srgbClr val="2A4BDB"/>
            </a:solidFill>
            <a:prstDash val="solid"/>
          </a:ln>
        </p:spPr>
      </p:sp>
      <p:sp>
        <p:nvSpPr>
          <p:cNvPr id="12" name="Text 9"/>
          <p:cNvSpPr txBox="1"/>
          <p:nvPr/>
        </p:nvSpPr>
        <p:spPr>
          <a:xfrm>
            <a:off x="1828800" y="6080760"/>
            <a:ext cx="1828800" cy="868680"/>
          </a:xfrm>
          <a:prstGeom prst="rect">
            <a:avLst/>
          </a:prstGeom>
          <a:noFill/>
          <a:ln/>
        </p:spPr>
        <p:txBody>
          <a:bodyPr wrap="square" lIns="0" tIns="0" rIns="0" bIns="0" rtlCol="0" anchor="ctr"/>
          <a:lstStyle/>
          <a:p>
            <a:pPr indent="0" marL="0">
              <a:buNone/>
            </a:pPr>
            <a:r>
              <a:rPr lang="en-US" sz="4000" b="1" dirty="0">
                <a:solidFill>
                  <a:srgbClr val="2A4BDB"/>
                </a:solidFill>
                <a:latin typeface="Arial" pitchFamily="34" charset="0"/>
                <a:ea typeface="Arial" pitchFamily="34" charset="-122"/>
                <a:cs typeface="Arial" pitchFamily="34" charset="-120"/>
              </a:rPr>
              <a:t>100 mil</a:t>
            </a:r>
            <a:endParaRPr lang="en-US" sz="4000" dirty="0"/>
          </a:p>
        </p:txBody>
      </p:sp>
      <p:sp>
        <p:nvSpPr>
          <p:cNvPr id="13" name="Text 10"/>
          <p:cNvSpPr txBox="1"/>
          <p:nvPr/>
        </p:nvSpPr>
        <p:spPr>
          <a:xfrm>
            <a:off x="1828800" y="6949440"/>
            <a:ext cx="182880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registros</a:t>
            </a:r>
            <a:endParaRPr lang="en-US" sz="1900" dirty="0"/>
          </a:p>
        </p:txBody>
      </p:sp>
      <p:sp>
        <p:nvSpPr>
          <p:cNvPr id="14" name="Shape 11"/>
          <p:cNvSpPr/>
          <p:nvPr/>
        </p:nvSpPr>
        <p:spPr>
          <a:xfrm>
            <a:off x="4114800" y="5760720"/>
            <a:ext cx="2377440" cy="2194560"/>
          </a:xfrm>
          <a:prstGeom prst="rect">
            <a:avLst/>
          </a:prstGeom>
          <a:solidFill>
            <a:srgbClr val="F4F6FA"/>
          </a:solidFill>
          <a:ln w="12700">
            <a:solidFill>
              <a:srgbClr val="D4D4D4"/>
            </a:solidFill>
            <a:prstDash val="solid"/>
          </a:ln>
        </p:spPr>
      </p:sp>
      <p:sp>
        <p:nvSpPr>
          <p:cNvPr id="15" name="Shape 12"/>
          <p:cNvSpPr/>
          <p:nvPr/>
        </p:nvSpPr>
        <p:spPr>
          <a:xfrm>
            <a:off x="4114800" y="5760720"/>
            <a:ext cx="2377440" cy="128016"/>
          </a:xfrm>
          <a:prstGeom prst="rect">
            <a:avLst/>
          </a:prstGeom>
          <a:solidFill>
            <a:srgbClr val="2A4BDB"/>
          </a:solidFill>
          <a:ln w="12700">
            <a:solidFill>
              <a:srgbClr val="2A4BDB"/>
            </a:solidFill>
            <a:prstDash val="solid"/>
          </a:ln>
        </p:spPr>
      </p:sp>
      <p:sp>
        <p:nvSpPr>
          <p:cNvPr id="16" name="Text 13"/>
          <p:cNvSpPr txBox="1"/>
          <p:nvPr/>
        </p:nvSpPr>
        <p:spPr>
          <a:xfrm>
            <a:off x="4434840" y="6080760"/>
            <a:ext cx="1828800" cy="868680"/>
          </a:xfrm>
          <a:prstGeom prst="rect">
            <a:avLst/>
          </a:prstGeom>
          <a:noFill/>
          <a:ln/>
        </p:spPr>
        <p:txBody>
          <a:bodyPr wrap="square" lIns="0" tIns="0" rIns="0" bIns="0" rtlCol="0" anchor="ctr"/>
          <a:lstStyle/>
          <a:p>
            <a:pPr indent="0" marL="0">
              <a:buNone/>
            </a:pPr>
            <a:r>
              <a:rPr lang="en-US" sz="4000" b="1" dirty="0">
                <a:solidFill>
                  <a:srgbClr val="2A4BDB"/>
                </a:solidFill>
                <a:latin typeface="Arial" pitchFamily="34" charset="0"/>
                <a:ea typeface="Arial" pitchFamily="34" charset="-122"/>
                <a:cs typeface="Arial" pitchFamily="34" charset="-120"/>
              </a:rPr>
              <a:t>22</a:t>
            </a:r>
            <a:endParaRPr lang="en-US" sz="4000" dirty="0"/>
          </a:p>
        </p:txBody>
      </p:sp>
      <p:sp>
        <p:nvSpPr>
          <p:cNvPr id="17" name="Text 14"/>
          <p:cNvSpPr txBox="1"/>
          <p:nvPr/>
        </p:nvSpPr>
        <p:spPr>
          <a:xfrm>
            <a:off x="4434840" y="6949440"/>
            <a:ext cx="182880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variables</a:t>
            </a:r>
            <a:endParaRPr lang="en-US" sz="1900" dirty="0"/>
          </a:p>
        </p:txBody>
      </p:sp>
      <p:sp>
        <p:nvSpPr>
          <p:cNvPr id="18" name="Shape 15"/>
          <p:cNvSpPr/>
          <p:nvPr/>
        </p:nvSpPr>
        <p:spPr>
          <a:xfrm>
            <a:off x="6720840" y="5760720"/>
            <a:ext cx="2377440" cy="2194560"/>
          </a:xfrm>
          <a:prstGeom prst="rect">
            <a:avLst/>
          </a:prstGeom>
          <a:solidFill>
            <a:srgbClr val="F4F6FA"/>
          </a:solidFill>
          <a:ln w="12700">
            <a:solidFill>
              <a:srgbClr val="D4D4D4"/>
            </a:solidFill>
            <a:prstDash val="solid"/>
          </a:ln>
        </p:spPr>
      </p:sp>
      <p:sp>
        <p:nvSpPr>
          <p:cNvPr id="19" name="Shape 16"/>
          <p:cNvSpPr/>
          <p:nvPr/>
        </p:nvSpPr>
        <p:spPr>
          <a:xfrm>
            <a:off x="6720840" y="5760720"/>
            <a:ext cx="2377440" cy="128016"/>
          </a:xfrm>
          <a:prstGeom prst="rect">
            <a:avLst/>
          </a:prstGeom>
          <a:solidFill>
            <a:srgbClr val="2A4BDB"/>
          </a:solidFill>
          <a:ln w="12700">
            <a:solidFill>
              <a:srgbClr val="2A4BDB"/>
            </a:solidFill>
            <a:prstDash val="solid"/>
          </a:ln>
        </p:spPr>
      </p:sp>
      <p:sp>
        <p:nvSpPr>
          <p:cNvPr id="20" name="Text 17"/>
          <p:cNvSpPr txBox="1"/>
          <p:nvPr/>
        </p:nvSpPr>
        <p:spPr>
          <a:xfrm>
            <a:off x="7040880" y="6080760"/>
            <a:ext cx="1828800" cy="868680"/>
          </a:xfrm>
          <a:prstGeom prst="rect">
            <a:avLst/>
          </a:prstGeom>
          <a:noFill/>
          <a:ln/>
        </p:spPr>
        <p:txBody>
          <a:bodyPr wrap="square" lIns="0" tIns="0" rIns="0" bIns="0" rtlCol="0" anchor="ctr"/>
          <a:lstStyle/>
          <a:p>
            <a:pPr indent="0" marL="0">
              <a:buNone/>
            </a:pPr>
            <a:r>
              <a:rPr lang="en-US" sz="4000" b="1" dirty="0">
                <a:solidFill>
                  <a:srgbClr val="2A4BDB"/>
                </a:solidFill>
                <a:latin typeface="Arial" pitchFamily="34" charset="0"/>
                <a:ea typeface="Arial" pitchFamily="34" charset="-122"/>
                <a:cs typeface="Arial" pitchFamily="34" charset="-120"/>
              </a:rPr>
              <a:t>4</a:t>
            </a:r>
            <a:endParaRPr lang="en-US" sz="4000" dirty="0"/>
          </a:p>
        </p:txBody>
      </p:sp>
      <p:sp>
        <p:nvSpPr>
          <p:cNvPr id="21" name="Text 18"/>
          <p:cNvSpPr txBox="1"/>
          <p:nvPr/>
        </p:nvSpPr>
        <p:spPr>
          <a:xfrm>
            <a:off x="7040880" y="6949440"/>
            <a:ext cx="182880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categorías</a:t>
            </a:r>
            <a:endParaRPr lang="en-US" sz="1900" dirty="0"/>
          </a:p>
        </p:txBody>
      </p:sp>
      <p:sp>
        <p:nvSpPr>
          <p:cNvPr id="22" name="Text 19"/>
          <p:cNvSpPr txBox="1"/>
          <p:nvPr/>
        </p:nvSpPr>
        <p:spPr>
          <a:xfrm>
            <a:off x="1508760" y="8183880"/>
            <a:ext cx="7589520" cy="731520"/>
          </a:xfrm>
          <a:prstGeom prst="rect">
            <a:avLst/>
          </a:prstGeom>
          <a:noFill/>
          <a:ln/>
        </p:spPr>
        <p:txBody>
          <a:bodyPr wrap="square" lIns="0" tIns="0" rIns="0" bIns="0" rtlCol="0" anchor="ctr"/>
          <a:lstStyle/>
          <a:p>
            <a:pPr indent="0" marL="0">
              <a:buNone/>
            </a:pPr>
            <a:r>
              <a:rPr lang="en-US" sz="1500" i="1" dirty="0">
                <a:solidFill>
                  <a:srgbClr val="5A5A5A"/>
                </a:solidFill>
                <a:latin typeface="Arial" pitchFamily="34" charset="0"/>
                <a:ea typeface="Arial" pitchFamily="34" charset="-122"/>
                <a:cs typeface="Arial" pitchFamily="34" charset="-120"/>
              </a:rPr>
              <a:t>Métrica principal: F1-score ponderado, por el desbalance moderado entre clases (ratio 1,53).</a:t>
            </a:r>
            <a:endParaRPr lang="en-US" sz="1500" dirty="0"/>
          </a:p>
        </p:txBody>
      </p:sp>
      <p:sp>
        <p:nvSpPr>
          <p:cNvPr id="23" name="Shape 20"/>
          <p:cNvSpPr/>
          <p:nvPr/>
        </p:nvSpPr>
        <p:spPr>
          <a:xfrm>
            <a:off x="9646920" y="2194560"/>
            <a:ext cx="7863840" cy="4021045"/>
          </a:xfrm>
          <a:prstGeom prst="rect">
            <a:avLst/>
          </a:prstGeom>
          <a:solidFill>
            <a:srgbClr val="FFFFFF"/>
          </a:solidFill>
          <a:ln w="12700">
            <a:solidFill>
              <a:srgbClr val="D4D4D4"/>
            </a:solidFill>
            <a:prstDash val="solid"/>
          </a:ln>
        </p:spPr>
      </p:sp>
      <p:pic>
        <p:nvPicPr>
          <p:cNvPr id="24" name="Image 1" descr="/home/claude/ppt/assets/B_11_0.png">    </p:cNvPr>
          <p:cNvPicPr>
            <a:picLocks noChangeAspect="1"/>
          </p:cNvPicPr>
          <p:nvPr/>
        </p:nvPicPr>
        <p:blipFill>
          <a:blip r:embed="rId2"/>
          <a:stretch>
            <a:fillRect/>
          </a:stretch>
        </p:blipFill>
        <p:spPr>
          <a:xfrm>
            <a:off x="9784080" y="2331720"/>
            <a:ext cx="7589520" cy="37467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Preparación de los datos</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240280"/>
            <a:ext cx="5029200" cy="4023360"/>
          </a:xfrm>
          <a:prstGeom prst="rect">
            <a:avLst/>
          </a:prstGeom>
          <a:solidFill>
            <a:srgbClr val="F4F6FA"/>
          </a:solidFill>
          <a:ln w="12700">
            <a:solidFill>
              <a:srgbClr val="D4D4D4"/>
            </a:solidFill>
            <a:prstDash val="solid"/>
          </a:ln>
        </p:spPr>
      </p:sp>
      <p:sp>
        <p:nvSpPr>
          <p:cNvPr id="10" name="Shape 7"/>
          <p:cNvSpPr/>
          <p:nvPr/>
        </p:nvSpPr>
        <p:spPr>
          <a:xfrm>
            <a:off x="1508760" y="2240280"/>
            <a:ext cx="5029200" cy="128016"/>
          </a:xfrm>
          <a:prstGeom prst="rect">
            <a:avLst/>
          </a:prstGeom>
          <a:solidFill>
            <a:srgbClr val="2A4BDB"/>
          </a:solidFill>
          <a:ln w="12700">
            <a:solidFill>
              <a:srgbClr val="2A4BDB"/>
            </a:solidFill>
            <a:prstDash val="solid"/>
          </a:ln>
        </p:spPr>
      </p:sp>
      <p:sp>
        <p:nvSpPr>
          <p:cNvPr id="11" name="Text 8"/>
          <p:cNvSpPr txBox="1"/>
          <p:nvPr/>
        </p:nvSpPr>
        <p:spPr>
          <a:xfrm>
            <a:off x="1874520" y="2560320"/>
            <a:ext cx="914400" cy="822960"/>
          </a:xfrm>
          <a:prstGeom prst="rect">
            <a:avLst/>
          </a:prstGeom>
          <a:noFill/>
          <a:ln/>
        </p:spPr>
        <p:txBody>
          <a:bodyPr wrap="square" lIns="0" tIns="0" rIns="0" bIns="0" rtlCol="0" anchor="ctr"/>
          <a:lstStyle/>
          <a:p>
            <a:pPr indent="0" marL="0">
              <a:buNone/>
            </a:pPr>
            <a:r>
              <a:rPr lang="en-US" sz="4400" b="1" dirty="0">
                <a:solidFill>
                  <a:srgbClr val="2A4BDB"/>
                </a:solidFill>
                <a:latin typeface="Arial" pitchFamily="34" charset="0"/>
                <a:ea typeface="Arial" pitchFamily="34" charset="-122"/>
                <a:cs typeface="Arial" pitchFamily="34" charset="-120"/>
              </a:rPr>
              <a:t>1</a:t>
            </a:r>
            <a:endParaRPr lang="en-US" sz="4400" dirty="0"/>
          </a:p>
        </p:txBody>
      </p:sp>
      <p:sp>
        <p:nvSpPr>
          <p:cNvPr id="12" name="Text 9"/>
          <p:cNvSpPr txBox="1"/>
          <p:nvPr/>
        </p:nvSpPr>
        <p:spPr>
          <a:xfrm>
            <a:off x="1874520" y="3474720"/>
            <a:ext cx="438912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Verificación</a:t>
            </a:r>
            <a:endParaRPr lang="en-US" sz="2200" dirty="0"/>
          </a:p>
        </p:txBody>
      </p:sp>
      <p:sp>
        <p:nvSpPr>
          <p:cNvPr id="13" name="Text 10"/>
          <p:cNvSpPr txBox="1"/>
          <p:nvPr/>
        </p:nvSpPr>
        <p:spPr>
          <a:xfrm>
            <a:off x="1874520" y="4114800"/>
            <a:ext cx="4389120" cy="2011680"/>
          </a:xfrm>
          <a:prstGeom prst="rect">
            <a:avLst/>
          </a:prstGeom>
          <a:noFill/>
          <a:ln/>
        </p:spPr>
        <p:txBody>
          <a:bodyPr wrap="square" lIns="0" tIns="0" rIns="0" bIns="0" rtlCol="0" anchor="t"/>
          <a:lstStyle/>
          <a:p>
            <a:pPr indent="0" marL="0">
              <a:buNone/>
            </a:pPr>
            <a:r>
              <a:rPr lang="en-US" sz="1600" dirty="0">
                <a:solidFill>
                  <a:srgbClr val="5A5A5A"/>
                </a:solidFill>
                <a:latin typeface="Arial" pitchFamily="34" charset="0"/>
                <a:ea typeface="Arial" pitchFamily="34" charset="-122"/>
                <a:cs typeface="Arial" pitchFamily="34" charset="-120"/>
              </a:rPr>
              <a:t>0 valores nulos y 0 filas duplicadas. El dataset llega limpio, por lo que no se requiere ETL.</a:t>
            </a:r>
            <a:endParaRPr lang="en-US" sz="1600" dirty="0"/>
          </a:p>
        </p:txBody>
      </p:sp>
      <p:sp>
        <p:nvSpPr>
          <p:cNvPr id="14" name="Shape 11"/>
          <p:cNvSpPr/>
          <p:nvPr/>
        </p:nvSpPr>
        <p:spPr>
          <a:xfrm>
            <a:off x="6858000" y="2240280"/>
            <a:ext cx="5029200" cy="4023360"/>
          </a:xfrm>
          <a:prstGeom prst="rect">
            <a:avLst/>
          </a:prstGeom>
          <a:solidFill>
            <a:srgbClr val="F4F6FA"/>
          </a:solidFill>
          <a:ln w="12700">
            <a:solidFill>
              <a:srgbClr val="D4D4D4"/>
            </a:solidFill>
            <a:prstDash val="solid"/>
          </a:ln>
        </p:spPr>
      </p:sp>
      <p:sp>
        <p:nvSpPr>
          <p:cNvPr id="15" name="Shape 12"/>
          <p:cNvSpPr/>
          <p:nvPr/>
        </p:nvSpPr>
        <p:spPr>
          <a:xfrm>
            <a:off x="6858000" y="2240280"/>
            <a:ext cx="5029200" cy="128016"/>
          </a:xfrm>
          <a:prstGeom prst="rect">
            <a:avLst/>
          </a:prstGeom>
          <a:solidFill>
            <a:srgbClr val="2A4BDB"/>
          </a:solidFill>
          <a:ln w="12700">
            <a:solidFill>
              <a:srgbClr val="2A4BDB"/>
            </a:solidFill>
            <a:prstDash val="solid"/>
          </a:ln>
        </p:spPr>
      </p:sp>
      <p:sp>
        <p:nvSpPr>
          <p:cNvPr id="16" name="Text 13"/>
          <p:cNvSpPr txBox="1"/>
          <p:nvPr/>
        </p:nvSpPr>
        <p:spPr>
          <a:xfrm>
            <a:off x="7223760" y="2560320"/>
            <a:ext cx="914400" cy="822960"/>
          </a:xfrm>
          <a:prstGeom prst="rect">
            <a:avLst/>
          </a:prstGeom>
          <a:noFill/>
          <a:ln/>
        </p:spPr>
        <p:txBody>
          <a:bodyPr wrap="square" lIns="0" tIns="0" rIns="0" bIns="0" rtlCol="0" anchor="ctr"/>
          <a:lstStyle/>
          <a:p>
            <a:pPr indent="0" marL="0">
              <a:buNone/>
            </a:pPr>
            <a:r>
              <a:rPr lang="en-US" sz="4400" b="1" dirty="0">
                <a:solidFill>
                  <a:srgbClr val="2A4BDB"/>
                </a:solidFill>
                <a:latin typeface="Arial" pitchFamily="34" charset="0"/>
                <a:ea typeface="Arial" pitchFamily="34" charset="-122"/>
                <a:cs typeface="Arial" pitchFamily="34" charset="-120"/>
              </a:rPr>
              <a:t>2</a:t>
            </a:r>
            <a:endParaRPr lang="en-US" sz="4400" dirty="0"/>
          </a:p>
        </p:txBody>
      </p:sp>
      <p:sp>
        <p:nvSpPr>
          <p:cNvPr id="17" name="Text 14"/>
          <p:cNvSpPr txBox="1"/>
          <p:nvPr/>
        </p:nvSpPr>
        <p:spPr>
          <a:xfrm>
            <a:off x="7223760" y="3474720"/>
            <a:ext cx="438912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Partición 70 / 15 / 15</a:t>
            </a:r>
            <a:endParaRPr lang="en-US" sz="2200" dirty="0"/>
          </a:p>
        </p:txBody>
      </p:sp>
      <p:sp>
        <p:nvSpPr>
          <p:cNvPr id="18" name="Text 15"/>
          <p:cNvSpPr txBox="1"/>
          <p:nvPr/>
        </p:nvSpPr>
        <p:spPr>
          <a:xfrm>
            <a:off x="7223760" y="4114800"/>
            <a:ext cx="4389120" cy="2011680"/>
          </a:xfrm>
          <a:prstGeom prst="rect">
            <a:avLst/>
          </a:prstGeom>
          <a:noFill/>
          <a:ln/>
        </p:spPr>
        <p:txBody>
          <a:bodyPr wrap="square" lIns="0" tIns="0" rIns="0" bIns="0" rtlCol="0" anchor="t"/>
          <a:lstStyle/>
          <a:p>
            <a:pPr indent="0" marL="0">
              <a:buNone/>
            </a:pPr>
            <a:r>
              <a:rPr lang="en-US" sz="1600" dirty="0">
                <a:solidFill>
                  <a:srgbClr val="5A5A5A"/>
                </a:solidFill>
                <a:latin typeface="Arial" pitchFamily="34" charset="0"/>
                <a:ea typeface="Arial" pitchFamily="34" charset="-122"/>
                <a:cs typeface="Arial" pitchFamily="34" charset="-120"/>
              </a:rPr>
              <a:t>Split estratificado con random_state = 42: 70.000 entrenamiento, 15.000 validación y 15.000 test, preservando la proporción de clases.</a:t>
            </a:r>
            <a:endParaRPr lang="en-US" sz="1600" dirty="0"/>
          </a:p>
        </p:txBody>
      </p:sp>
      <p:sp>
        <p:nvSpPr>
          <p:cNvPr id="19" name="Shape 16"/>
          <p:cNvSpPr/>
          <p:nvPr/>
        </p:nvSpPr>
        <p:spPr>
          <a:xfrm>
            <a:off x="12207240" y="2240280"/>
            <a:ext cx="5029200" cy="4023360"/>
          </a:xfrm>
          <a:prstGeom prst="rect">
            <a:avLst/>
          </a:prstGeom>
          <a:solidFill>
            <a:srgbClr val="F4F6FA"/>
          </a:solidFill>
          <a:ln w="12700">
            <a:solidFill>
              <a:srgbClr val="D4D4D4"/>
            </a:solidFill>
            <a:prstDash val="solid"/>
          </a:ln>
        </p:spPr>
      </p:sp>
      <p:sp>
        <p:nvSpPr>
          <p:cNvPr id="20" name="Shape 17"/>
          <p:cNvSpPr/>
          <p:nvPr/>
        </p:nvSpPr>
        <p:spPr>
          <a:xfrm>
            <a:off x="12207240" y="2240280"/>
            <a:ext cx="5029200" cy="128016"/>
          </a:xfrm>
          <a:prstGeom prst="rect">
            <a:avLst/>
          </a:prstGeom>
          <a:solidFill>
            <a:srgbClr val="2A4BDB"/>
          </a:solidFill>
          <a:ln w="12700">
            <a:solidFill>
              <a:srgbClr val="2A4BDB"/>
            </a:solidFill>
            <a:prstDash val="solid"/>
          </a:ln>
        </p:spPr>
      </p:sp>
      <p:sp>
        <p:nvSpPr>
          <p:cNvPr id="21" name="Text 18"/>
          <p:cNvSpPr txBox="1"/>
          <p:nvPr/>
        </p:nvSpPr>
        <p:spPr>
          <a:xfrm>
            <a:off x="12573000" y="2560320"/>
            <a:ext cx="914400" cy="822960"/>
          </a:xfrm>
          <a:prstGeom prst="rect">
            <a:avLst/>
          </a:prstGeom>
          <a:noFill/>
          <a:ln/>
        </p:spPr>
        <p:txBody>
          <a:bodyPr wrap="square" lIns="0" tIns="0" rIns="0" bIns="0" rtlCol="0" anchor="ctr"/>
          <a:lstStyle/>
          <a:p>
            <a:pPr indent="0" marL="0">
              <a:buNone/>
            </a:pPr>
            <a:r>
              <a:rPr lang="en-US" sz="4400" b="1" dirty="0">
                <a:solidFill>
                  <a:srgbClr val="2A4BDB"/>
                </a:solidFill>
                <a:latin typeface="Arial" pitchFamily="34" charset="0"/>
                <a:ea typeface="Arial" pitchFamily="34" charset="-122"/>
                <a:cs typeface="Arial" pitchFamily="34" charset="-120"/>
              </a:rPr>
              <a:t>3</a:t>
            </a:r>
            <a:endParaRPr lang="en-US" sz="4400" dirty="0"/>
          </a:p>
        </p:txBody>
      </p:sp>
      <p:sp>
        <p:nvSpPr>
          <p:cNvPr id="22" name="Text 19"/>
          <p:cNvSpPr txBox="1"/>
          <p:nvPr/>
        </p:nvSpPr>
        <p:spPr>
          <a:xfrm>
            <a:off x="12573000" y="3474720"/>
            <a:ext cx="438912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StandardScaler</a:t>
            </a:r>
            <a:endParaRPr lang="en-US" sz="2200" dirty="0"/>
          </a:p>
        </p:txBody>
      </p:sp>
      <p:sp>
        <p:nvSpPr>
          <p:cNvPr id="23" name="Text 20"/>
          <p:cNvSpPr txBox="1"/>
          <p:nvPr/>
        </p:nvSpPr>
        <p:spPr>
          <a:xfrm>
            <a:off x="12573000" y="4114800"/>
            <a:ext cx="4389120" cy="2011680"/>
          </a:xfrm>
          <a:prstGeom prst="rect">
            <a:avLst/>
          </a:prstGeom>
          <a:noFill/>
          <a:ln/>
        </p:spPr>
        <p:txBody>
          <a:bodyPr wrap="square" lIns="0" tIns="0" rIns="0" bIns="0" rtlCol="0" anchor="t"/>
          <a:lstStyle/>
          <a:p>
            <a:pPr indent="0" marL="0">
              <a:buNone/>
            </a:pPr>
            <a:r>
              <a:rPr lang="en-US" sz="1600" dirty="0">
                <a:solidFill>
                  <a:srgbClr val="5A5A5A"/>
                </a:solidFill>
                <a:latin typeface="Arial" pitchFamily="34" charset="0"/>
                <a:ea typeface="Arial" pitchFamily="34" charset="-122"/>
                <a:cs typeface="Arial" pitchFamily="34" charset="-120"/>
              </a:rPr>
              <a:t>Ajustado solo con train y aplicado a validación y test, lo que evita fuga de información. Deja todas las variables en media 0 y desviación 1.</a:t>
            </a:r>
            <a:endParaRPr lang="en-US" sz="1600" dirty="0"/>
          </a:p>
        </p:txBody>
      </p:sp>
      <p:sp>
        <p:nvSpPr>
          <p:cNvPr id="24" name="Shape 21"/>
          <p:cNvSpPr/>
          <p:nvPr/>
        </p:nvSpPr>
        <p:spPr>
          <a:xfrm>
            <a:off x="1508760" y="6675120"/>
            <a:ext cx="15727680" cy="2148840"/>
          </a:xfrm>
          <a:prstGeom prst="rect">
            <a:avLst/>
          </a:prstGeom>
          <a:solidFill>
            <a:srgbClr val="E6EBFB"/>
          </a:solidFill>
          <a:ln w="12700">
            <a:solidFill>
              <a:srgbClr val="D4D4D4"/>
            </a:solidFill>
            <a:prstDash val="solid"/>
          </a:ln>
        </p:spPr>
      </p:sp>
      <p:sp>
        <p:nvSpPr>
          <p:cNvPr id="25" name="Shape 22"/>
          <p:cNvSpPr/>
          <p:nvPr/>
        </p:nvSpPr>
        <p:spPr>
          <a:xfrm>
            <a:off x="1508760" y="6675120"/>
            <a:ext cx="15727680" cy="128016"/>
          </a:xfrm>
          <a:prstGeom prst="rect">
            <a:avLst/>
          </a:prstGeom>
          <a:solidFill>
            <a:srgbClr val="2A4BDB"/>
          </a:solidFill>
          <a:ln w="12700">
            <a:solidFill>
              <a:srgbClr val="2A4BDB"/>
            </a:solidFill>
            <a:prstDash val="solid"/>
          </a:ln>
        </p:spPr>
      </p:sp>
      <p:sp>
        <p:nvSpPr>
          <p:cNvPr id="26" name="Text 23"/>
          <p:cNvSpPr txBox="1"/>
          <p:nvPr/>
        </p:nvSpPr>
        <p:spPr>
          <a:xfrm>
            <a:off x="1828800" y="6995160"/>
            <a:ext cx="15087600" cy="1645920"/>
          </a:xfrm>
          <a:prstGeom prst="rect">
            <a:avLst/>
          </a:prstGeom>
          <a:noFill/>
          <a:ln/>
        </p:spPr>
        <p:txBody>
          <a:bodyPr wrap="square" lIns="0" tIns="0" rIns="0" bIns="0" rtlCol="0" anchor="t"/>
          <a:lstStyle/>
          <a:p>
            <a:pPr indent="0" marL="0">
              <a:spcAft>
                <a:spcPts val="600"/>
              </a:spcAft>
              <a:buNone/>
            </a:pPr>
            <a:r>
              <a:rPr lang="en-US" sz="2000" b="1" dirty="0">
                <a:solidFill>
                  <a:srgbClr val="222222"/>
                </a:solidFill>
                <a:latin typeface="Arial" pitchFamily="34" charset="0"/>
                <a:ea typeface="Arial" pitchFamily="34" charset="-122"/>
                <a:cs typeface="Arial" pitchFamily="34" charset="-120"/>
              </a:rPr>
              <a:t>Decisiones de reproducibilidad</a:t>
            </a:r>
            <a:endParaRPr lang="en-US" sz="20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Semilla fija (42) reiniciada antes de cada entrenamiento y una función común entrenar_modelo(): la única diferencia entre corridas es el parámetro que se evalúa. El conjunto de test no se usa hasta la evaluación final.</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D"/>
        </a:solidFill>
      </p:bgPr>
    </p:bg>
    <p:spTree>
      <p:nvGrpSpPr>
        <p:cNvPr id="1" name=""/>
        <p:cNvGrpSpPr/>
        <p:nvPr/>
      </p:nvGrpSpPr>
      <p:grpSpPr>
        <a:xfrm>
          <a:off x="0" y="0"/>
          <a:ext cx="0" cy="0"/>
          <a:chOff x="0" y="0"/>
          <a:chExt cx="0" cy="0"/>
        </a:xfrm>
      </p:grpSpPr>
      <p:pic>
        <p:nvPicPr>
          <p:cNvPr id="2" name="Image 0" descr="/home/claude/ppt/assets/sec2.jpg">    </p:cNvPr>
          <p:cNvPicPr>
            <a:picLocks noChangeAspect="1"/>
          </p:cNvPicPr>
          <p:nvPr/>
        </p:nvPicPr>
        <p:blipFill>
          <a:blip r:embed="rId1"/>
          <a:srcRect l="0" r="0" t="0" b="0"/>
          <a:stretch/>
        </p:blipFill>
        <p:spPr>
          <a:xfrm>
            <a:off x="0" y="0"/>
            <a:ext cx="18288000" cy="10287000"/>
          </a:xfrm>
          <a:prstGeom prst="rect">
            <a:avLst/>
          </a:prstGeom>
        </p:spPr>
      </p:pic>
      <p:sp>
        <p:nvSpPr>
          <p:cNvPr id="3" name="Shape 0"/>
          <p:cNvSpPr/>
          <p:nvPr/>
        </p:nvSpPr>
        <p:spPr>
          <a:xfrm>
            <a:off x="10058400" y="3291840"/>
            <a:ext cx="8229600" cy="4023360"/>
          </a:xfrm>
          <a:prstGeom prst="rect">
            <a:avLst/>
          </a:prstGeom>
          <a:solidFill>
            <a:srgbClr val="0D0D0D">
              <a:alpha val="60000"/>
            </a:srgbClr>
          </a:solidFill>
          <a:ln w="12700">
            <a:solidFill>
              <a:srgbClr val="0D0D0D">
                <a:alpha val="0"/>
              </a:srgbClr>
            </a:solidFill>
            <a:prstDash val="solid"/>
          </a:ln>
        </p:spPr>
      </p:sp>
      <p:sp>
        <p:nvSpPr>
          <p:cNvPr id="4" name="Shape 1"/>
          <p:cNvSpPr/>
          <p:nvPr/>
        </p:nvSpPr>
        <p:spPr>
          <a:xfrm>
            <a:off x="10332720" y="2834640"/>
            <a:ext cx="457200" cy="457200"/>
          </a:xfrm>
          <a:prstGeom prst="rect">
            <a:avLst/>
          </a:prstGeom>
          <a:solidFill>
            <a:srgbClr val="2A4BDB"/>
          </a:solidFill>
          <a:ln w="12700">
            <a:solidFill>
              <a:srgbClr val="2A4BDB"/>
            </a:solidFill>
            <a:prstDash val="solid"/>
          </a:ln>
        </p:spPr>
      </p:sp>
      <p:sp>
        <p:nvSpPr>
          <p:cNvPr id="5" name="Shape 2"/>
          <p:cNvSpPr/>
          <p:nvPr/>
        </p:nvSpPr>
        <p:spPr>
          <a:xfrm>
            <a:off x="0" y="3886200"/>
            <a:ext cx="2057400" cy="2468880"/>
          </a:xfrm>
          <a:prstGeom prst="rect">
            <a:avLst/>
          </a:prstGeom>
          <a:solidFill>
            <a:srgbClr val="2A4BDB"/>
          </a:solidFill>
          <a:ln w="12700">
            <a:solidFill>
              <a:srgbClr val="2A4BDB"/>
            </a:solidFill>
            <a:prstDash val="solid"/>
          </a:ln>
        </p:spPr>
      </p:sp>
      <p:sp>
        <p:nvSpPr>
          <p:cNvPr id="6" name="Text 3"/>
          <p:cNvSpPr txBox="1"/>
          <p:nvPr/>
        </p:nvSpPr>
        <p:spPr>
          <a:xfrm>
            <a:off x="0" y="3886200"/>
            <a:ext cx="2057400" cy="2468880"/>
          </a:xfrm>
          <a:prstGeom prst="rect">
            <a:avLst/>
          </a:prstGeom>
          <a:noFill/>
          <a:ln/>
        </p:spPr>
        <p:txBody>
          <a:bodyPr wrap="square" lIns="0" tIns="0" rIns="0" bIns="0" rtlCol="0" anchor="ctr"/>
          <a:lstStyle/>
          <a:p>
            <a:pPr algn="ctr" indent="0" marL="0">
              <a:buNone/>
            </a:pPr>
            <a:r>
              <a:rPr lang="en-US" sz="6400" b="1" dirty="0">
                <a:solidFill>
                  <a:srgbClr val="FFFFFF"/>
                </a:solidFill>
                <a:latin typeface="Arial" pitchFamily="34" charset="0"/>
                <a:ea typeface="Arial" pitchFamily="34" charset="-122"/>
                <a:cs typeface="Arial" pitchFamily="34" charset="-120"/>
              </a:rPr>
              <a:t>02</a:t>
            </a:r>
            <a:endParaRPr lang="en-US" sz="6400" dirty="0"/>
          </a:p>
        </p:txBody>
      </p:sp>
      <p:sp>
        <p:nvSpPr>
          <p:cNvPr id="7" name="Text 4"/>
          <p:cNvSpPr txBox="1"/>
          <p:nvPr/>
        </p:nvSpPr>
        <p:spPr>
          <a:xfrm>
            <a:off x="10744200" y="3931920"/>
            <a:ext cx="7132320" cy="2743200"/>
          </a:xfrm>
          <a:prstGeom prst="rect">
            <a:avLst/>
          </a:prstGeom>
          <a:noFill/>
          <a:ln/>
        </p:spPr>
        <p:txBody>
          <a:bodyPr wrap="square" lIns="0" tIns="0" rIns="0" bIns="0" rtlCol="0" anchor="ctr"/>
          <a:lstStyle/>
          <a:p>
            <a:pPr indent="0" marL="0">
              <a:buNone/>
            </a:pPr>
            <a:r>
              <a:rPr lang="en-US" sz="4000" b="1" i="1" dirty="0">
                <a:solidFill>
                  <a:srgbClr val="FFFFFF"/>
                </a:solidFill>
                <a:latin typeface="Arial" pitchFamily="34" charset="0"/>
                <a:ea typeface="Arial" pitchFamily="34" charset="-122"/>
                <a:cs typeface="Arial" pitchFamily="34" charset="-120"/>
              </a:rPr>
              <a:t>Modelo y</a:t>
            </a:r>
            <a:endParaRPr lang="en-US" sz="4000" dirty="0"/>
          </a:p>
          <a:p>
            <a:pPr indent="0" marL="0">
              <a:buNone/>
            </a:pPr>
            <a:r>
              <a:rPr lang="en-US" sz="4000" b="1" i="1" dirty="0">
                <a:solidFill>
                  <a:srgbClr val="FFFFFF"/>
                </a:solidFill>
                <a:latin typeface="Arial" pitchFamily="34" charset="0"/>
                <a:ea typeface="Arial" pitchFamily="34" charset="-122"/>
                <a:cs typeface="Arial" pitchFamily="34" charset="-120"/>
              </a:rPr>
              <a:t>experimentos</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Arquitectura de la MLP</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600200" y="2331720"/>
            <a:ext cx="3108960" cy="2651760"/>
          </a:xfrm>
          <a:prstGeom prst="rect">
            <a:avLst/>
          </a:prstGeom>
          <a:solidFill>
            <a:srgbClr val="1A1A1A"/>
          </a:solidFill>
          <a:ln w="12700">
            <a:solidFill>
              <a:srgbClr val="1A1A1A"/>
            </a:solidFill>
            <a:prstDash val="solid"/>
          </a:ln>
        </p:spPr>
      </p:sp>
      <p:sp>
        <p:nvSpPr>
          <p:cNvPr id="10" name="Text 7"/>
          <p:cNvSpPr txBox="1"/>
          <p:nvPr/>
        </p:nvSpPr>
        <p:spPr>
          <a:xfrm>
            <a:off x="1600200" y="2560320"/>
            <a:ext cx="3108960" cy="502920"/>
          </a:xfrm>
          <a:prstGeom prst="rect">
            <a:avLst/>
          </a:prstGeom>
          <a:noFill/>
          <a:ln/>
        </p:spPr>
        <p:txBody>
          <a:bodyPr wrap="square" lIns="0" tIns="0" rIns="0" bIns="0"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Entrada</a:t>
            </a:r>
            <a:endParaRPr lang="en-US" sz="1800" dirty="0"/>
          </a:p>
        </p:txBody>
      </p:sp>
      <p:sp>
        <p:nvSpPr>
          <p:cNvPr id="11" name="Text 8"/>
          <p:cNvSpPr txBox="1"/>
          <p:nvPr/>
        </p:nvSpPr>
        <p:spPr>
          <a:xfrm>
            <a:off x="1600200" y="3108960"/>
            <a:ext cx="3108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22 variables</a:t>
            </a:r>
            <a:endParaRPr lang="en-US" sz="2600" dirty="0"/>
          </a:p>
        </p:txBody>
      </p:sp>
      <p:sp>
        <p:nvSpPr>
          <p:cNvPr id="12" name="Text 9"/>
          <p:cNvSpPr txBox="1"/>
          <p:nvPr/>
        </p:nvSpPr>
        <p:spPr>
          <a:xfrm>
            <a:off x="1600200" y="4023360"/>
            <a:ext cx="3108960" cy="548640"/>
          </a:xfrm>
          <a:prstGeom prst="rect">
            <a:avLst/>
          </a:prstGeom>
          <a:noFill/>
          <a:ln/>
        </p:spPr>
        <p:txBody>
          <a:bodyPr wrap="square" lIns="0" tIns="0" rIns="0" bIns="0"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estandarizadas</a:t>
            </a:r>
            <a:endParaRPr lang="en-US" sz="1600" dirty="0"/>
          </a:p>
        </p:txBody>
      </p:sp>
      <p:sp>
        <p:nvSpPr>
          <p:cNvPr id="13" name="Shape 10"/>
          <p:cNvSpPr/>
          <p:nvPr/>
        </p:nvSpPr>
        <p:spPr>
          <a:xfrm>
            <a:off x="4800600" y="3429000"/>
            <a:ext cx="685800" cy="457200"/>
          </a:xfrm>
          <a:prstGeom prst="rightArrow">
            <a:avLst/>
          </a:prstGeom>
          <a:solidFill>
            <a:srgbClr val="4E7CDC"/>
          </a:solidFill>
          <a:ln w="12700">
            <a:solidFill>
              <a:srgbClr val="4E7CDC"/>
            </a:solidFill>
            <a:prstDash val="solid"/>
          </a:ln>
        </p:spPr>
      </p:sp>
      <p:sp>
        <p:nvSpPr>
          <p:cNvPr id="14" name="Shape 11"/>
          <p:cNvSpPr/>
          <p:nvPr/>
        </p:nvSpPr>
        <p:spPr>
          <a:xfrm>
            <a:off x="5577840" y="2331720"/>
            <a:ext cx="3108960" cy="2651760"/>
          </a:xfrm>
          <a:prstGeom prst="rect">
            <a:avLst/>
          </a:prstGeom>
          <a:solidFill>
            <a:srgbClr val="2A4BDB"/>
          </a:solidFill>
          <a:ln w="12700">
            <a:solidFill>
              <a:srgbClr val="2A4BDB"/>
            </a:solidFill>
            <a:prstDash val="solid"/>
          </a:ln>
        </p:spPr>
      </p:sp>
      <p:sp>
        <p:nvSpPr>
          <p:cNvPr id="15" name="Text 12"/>
          <p:cNvSpPr txBox="1"/>
          <p:nvPr/>
        </p:nvSpPr>
        <p:spPr>
          <a:xfrm>
            <a:off x="5577840" y="2560320"/>
            <a:ext cx="3108960" cy="502920"/>
          </a:xfrm>
          <a:prstGeom prst="rect">
            <a:avLst/>
          </a:prstGeom>
          <a:noFill/>
          <a:ln/>
        </p:spPr>
        <p:txBody>
          <a:bodyPr wrap="square" lIns="0" tIns="0" rIns="0" bIns="0"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Densa 1</a:t>
            </a:r>
            <a:endParaRPr lang="en-US" sz="1800" dirty="0"/>
          </a:p>
        </p:txBody>
      </p:sp>
      <p:sp>
        <p:nvSpPr>
          <p:cNvPr id="16" name="Text 13"/>
          <p:cNvSpPr txBox="1"/>
          <p:nvPr/>
        </p:nvSpPr>
        <p:spPr>
          <a:xfrm>
            <a:off x="5577840" y="3108960"/>
            <a:ext cx="3108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64 neuronas</a:t>
            </a:r>
            <a:endParaRPr lang="en-US" sz="2600" dirty="0"/>
          </a:p>
        </p:txBody>
      </p:sp>
      <p:sp>
        <p:nvSpPr>
          <p:cNvPr id="17" name="Text 14"/>
          <p:cNvSpPr txBox="1"/>
          <p:nvPr/>
        </p:nvSpPr>
        <p:spPr>
          <a:xfrm>
            <a:off x="5577840" y="4023360"/>
            <a:ext cx="3108960" cy="548640"/>
          </a:xfrm>
          <a:prstGeom prst="rect">
            <a:avLst/>
          </a:prstGeom>
          <a:noFill/>
          <a:ln/>
        </p:spPr>
        <p:txBody>
          <a:bodyPr wrap="square" lIns="0" tIns="0" rIns="0" bIns="0"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ReLU + Dropout 0.2</a:t>
            </a:r>
            <a:endParaRPr lang="en-US" sz="1600" dirty="0"/>
          </a:p>
        </p:txBody>
      </p:sp>
      <p:sp>
        <p:nvSpPr>
          <p:cNvPr id="18" name="Shape 15"/>
          <p:cNvSpPr/>
          <p:nvPr/>
        </p:nvSpPr>
        <p:spPr>
          <a:xfrm>
            <a:off x="8778240" y="3429000"/>
            <a:ext cx="685800" cy="457200"/>
          </a:xfrm>
          <a:prstGeom prst="rightArrow">
            <a:avLst/>
          </a:prstGeom>
          <a:solidFill>
            <a:srgbClr val="4E7CDC"/>
          </a:solidFill>
          <a:ln w="12700">
            <a:solidFill>
              <a:srgbClr val="4E7CDC"/>
            </a:solidFill>
            <a:prstDash val="solid"/>
          </a:ln>
        </p:spPr>
      </p:sp>
      <p:sp>
        <p:nvSpPr>
          <p:cNvPr id="19" name="Shape 16"/>
          <p:cNvSpPr/>
          <p:nvPr/>
        </p:nvSpPr>
        <p:spPr>
          <a:xfrm>
            <a:off x="9555480" y="2331720"/>
            <a:ext cx="3108960" cy="2651760"/>
          </a:xfrm>
          <a:prstGeom prst="rect">
            <a:avLst/>
          </a:prstGeom>
          <a:solidFill>
            <a:srgbClr val="2A4BDB"/>
          </a:solidFill>
          <a:ln w="12700">
            <a:solidFill>
              <a:srgbClr val="2A4BDB"/>
            </a:solidFill>
            <a:prstDash val="solid"/>
          </a:ln>
        </p:spPr>
      </p:sp>
      <p:sp>
        <p:nvSpPr>
          <p:cNvPr id="20" name="Text 17"/>
          <p:cNvSpPr txBox="1"/>
          <p:nvPr/>
        </p:nvSpPr>
        <p:spPr>
          <a:xfrm>
            <a:off x="9555480" y="2560320"/>
            <a:ext cx="3108960" cy="502920"/>
          </a:xfrm>
          <a:prstGeom prst="rect">
            <a:avLst/>
          </a:prstGeom>
          <a:noFill/>
          <a:ln/>
        </p:spPr>
        <p:txBody>
          <a:bodyPr wrap="square" lIns="0" tIns="0" rIns="0" bIns="0"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Densa 2</a:t>
            </a:r>
            <a:endParaRPr lang="en-US" sz="1800" dirty="0"/>
          </a:p>
        </p:txBody>
      </p:sp>
      <p:sp>
        <p:nvSpPr>
          <p:cNvPr id="21" name="Text 18"/>
          <p:cNvSpPr txBox="1"/>
          <p:nvPr/>
        </p:nvSpPr>
        <p:spPr>
          <a:xfrm>
            <a:off x="9555480" y="3108960"/>
            <a:ext cx="3108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32 neuronas</a:t>
            </a:r>
            <a:endParaRPr lang="en-US" sz="2600" dirty="0"/>
          </a:p>
        </p:txBody>
      </p:sp>
      <p:sp>
        <p:nvSpPr>
          <p:cNvPr id="22" name="Text 19"/>
          <p:cNvSpPr txBox="1"/>
          <p:nvPr/>
        </p:nvSpPr>
        <p:spPr>
          <a:xfrm>
            <a:off x="9555480" y="4023360"/>
            <a:ext cx="3108960" cy="548640"/>
          </a:xfrm>
          <a:prstGeom prst="rect">
            <a:avLst/>
          </a:prstGeom>
          <a:noFill/>
          <a:ln/>
        </p:spPr>
        <p:txBody>
          <a:bodyPr wrap="square" lIns="0" tIns="0" rIns="0" bIns="0"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ReLU + Dropout 0.2</a:t>
            </a:r>
            <a:endParaRPr lang="en-US" sz="1600" dirty="0"/>
          </a:p>
        </p:txBody>
      </p:sp>
      <p:sp>
        <p:nvSpPr>
          <p:cNvPr id="23" name="Shape 20"/>
          <p:cNvSpPr/>
          <p:nvPr/>
        </p:nvSpPr>
        <p:spPr>
          <a:xfrm>
            <a:off x="12755880" y="3429000"/>
            <a:ext cx="685800" cy="457200"/>
          </a:xfrm>
          <a:prstGeom prst="rightArrow">
            <a:avLst/>
          </a:prstGeom>
          <a:solidFill>
            <a:srgbClr val="4E7CDC"/>
          </a:solidFill>
          <a:ln w="12700">
            <a:solidFill>
              <a:srgbClr val="4E7CDC"/>
            </a:solidFill>
            <a:prstDash val="solid"/>
          </a:ln>
        </p:spPr>
      </p:sp>
      <p:sp>
        <p:nvSpPr>
          <p:cNvPr id="24" name="Shape 21"/>
          <p:cNvSpPr/>
          <p:nvPr/>
        </p:nvSpPr>
        <p:spPr>
          <a:xfrm>
            <a:off x="13533120" y="2331720"/>
            <a:ext cx="3108960" cy="2651760"/>
          </a:xfrm>
          <a:prstGeom prst="rect">
            <a:avLst/>
          </a:prstGeom>
          <a:solidFill>
            <a:srgbClr val="4E7CDC"/>
          </a:solidFill>
          <a:ln w="12700">
            <a:solidFill>
              <a:srgbClr val="4E7CDC"/>
            </a:solidFill>
            <a:prstDash val="solid"/>
          </a:ln>
        </p:spPr>
      </p:sp>
      <p:sp>
        <p:nvSpPr>
          <p:cNvPr id="25" name="Text 22"/>
          <p:cNvSpPr txBox="1"/>
          <p:nvPr/>
        </p:nvSpPr>
        <p:spPr>
          <a:xfrm>
            <a:off x="13533120" y="2560320"/>
            <a:ext cx="3108960" cy="502920"/>
          </a:xfrm>
          <a:prstGeom prst="rect">
            <a:avLst/>
          </a:prstGeom>
          <a:noFill/>
          <a:ln/>
        </p:spPr>
        <p:txBody>
          <a:bodyPr wrap="square" lIns="0" tIns="0" rIns="0" bIns="0"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Salida</a:t>
            </a:r>
            <a:endParaRPr lang="en-US" sz="1800" dirty="0"/>
          </a:p>
        </p:txBody>
      </p:sp>
      <p:sp>
        <p:nvSpPr>
          <p:cNvPr id="26" name="Text 23"/>
          <p:cNvSpPr txBox="1"/>
          <p:nvPr/>
        </p:nvSpPr>
        <p:spPr>
          <a:xfrm>
            <a:off x="13533120" y="3108960"/>
            <a:ext cx="3108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4 neuronas</a:t>
            </a:r>
            <a:endParaRPr lang="en-US" sz="2600" dirty="0"/>
          </a:p>
        </p:txBody>
      </p:sp>
      <p:sp>
        <p:nvSpPr>
          <p:cNvPr id="27" name="Text 24"/>
          <p:cNvSpPr txBox="1"/>
          <p:nvPr/>
        </p:nvSpPr>
        <p:spPr>
          <a:xfrm>
            <a:off x="13533120" y="4023360"/>
            <a:ext cx="3108960" cy="548640"/>
          </a:xfrm>
          <a:prstGeom prst="rect">
            <a:avLst/>
          </a:prstGeom>
          <a:noFill/>
          <a:ln/>
        </p:spPr>
        <p:txBody>
          <a:bodyPr wrap="square" lIns="0" tIns="0" rIns="0" bIns="0"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Softmax</a:t>
            </a:r>
            <a:endParaRPr lang="en-US" sz="1600" dirty="0"/>
          </a:p>
        </p:txBody>
      </p:sp>
      <p:sp>
        <p:nvSpPr>
          <p:cNvPr id="28" name="Text 25"/>
          <p:cNvSpPr txBox="1"/>
          <p:nvPr/>
        </p:nvSpPr>
        <p:spPr>
          <a:xfrm>
            <a:off x="1600200" y="5166360"/>
            <a:ext cx="15087600" cy="457200"/>
          </a:xfrm>
          <a:prstGeom prst="rect">
            <a:avLst/>
          </a:prstGeom>
          <a:noFill/>
          <a:ln/>
        </p:spPr>
        <p:txBody>
          <a:bodyPr wrap="square" lIns="0" tIns="0" rIns="0" bIns="0" rtlCol="0" anchor="ctr"/>
          <a:lstStyle/>
          <a:p>
            <a:pPr algn="ctr" indent="0" marL="0">
              <a:buNone/>
            </a:pPr>
            <a:r>
              <a:rPr lang="en-US" sz="1600" i="1" dirty="0">
                <a:solidFill>
                  <a:srgbClr val="5A5A5A"/>
                </a:solidFill>
                <a:latin typeface="Arial" pitchFamily="34" charset="0"/>
                <a:ea typeface="Arial" pitchFamily="34" charset="-122"/>
                <a:cs typeface="Arial" pitchFamily="34" charset="-120"/>
              </a:rPr>
              <a:t>3.684 parámetros entrenables</a:t>
            </a:r>
            <a:endParaRPr lang="en-US" sz="1600" dirty="0"/>
          </a:p>
        </p:txBody>
      </p:sp>
      <p:sp>
        <p:nvSpPr>
          <p:cNvPr id="29" name="Shape 26"/>
          <p:cNvSpPr/>
          <p:nvPr/>
        </p:nvSpPr>
        <p:spPr>
          <a:xfrm>
            <a:off x="1508760" y="6035040"/>
            <a:ext cx="3611880" cy="2560320"/>
          </a:xfrm>
          <a:prstGeom prst="rect">
            <a:avLst/>
          </a:prstGeom>
          <a:solidFill>
            <a:srgbClr val="F4F6FA"/>
          </a:solidFill>
          <a:ln w="12700">
            <a:solidFill>
              <a:srgbClr val="D4D4D4"/>
            </a:solidFill>
            <a:prstDash val="solid"/>
          </a:ln>
        </p:spPr>
      </p:sp>
      <p:sp>
        <p:nvSpPr>
          <p:cNvPr id="30" name="Shape 27"/>
          <p:cNvSpPr/>
          <p:nvPr/>
        </p:nvSpPr>
        <p:spPr>
          <a:xfrm>
            <a:off x="1508760" y="6035040"/>
            <a:ext cx="3611880" cy="128016"/>
          </a:xfrm>
          <a:prstGeom prst="rect">
            <a:avLst/>
          </a:prstGeom>
          <a:solidFill>
            <a:srgbClr val="2A4BDB"/>
          </a:solidFill>
          <a:ln w="12700">
            <a:solidFill>
              <a:srgbClr val="2A4BDB"/>
            </a:solidFill>
            <a:prstDash val="solid"/>
          </a:ln>
        </p:spPr>
      </p:sp>
      <p:sp>
        <p:nvSpPr>
          <p:cNvPr id="31" name="Text 28"/>
          <p:cNvSpPr txBox="1"/>
          <p:nvPr/>
        </p:nvSpPr>
        <p:spPr>
          <a:xfrm>
            <a:off x="1783080" y="6355080"/>
            <a:ext cx="3108960" cy="457200"/>
          </a:xfrm>
          <a:prstGeom prst="rect">
            <a:avLst/>
          </a:prstGeom>
          <a:noFill/>
          <a:ln/>
        </p:spPr>
        <p:txBody>
          <a:bodyPr wrap="square" lIns="0" tIns="0" rIns="0" bIns="0" rtlCol="0" anchor="ctr"/>
          <a:lstStyle/>
          <a:p>
            <a:pPr indent="0" marL="0">
              <a:buNone/>
            </a:pPr>
            <a:r>
              <a:rPr lang="en-US" sz="1700" b="1" dirty="0">
                <a:solidFill>
                  <a:srgbClr val="5A5A5A"/>
                </a:solidFill>
                <a:latin typeface="Arial" pitchFamily="34" charset="0"/>
                <a:ea typeface="Arial" pitchFamily="34" charset="-122"/>
                <a:cs typeface="Arial" pitchFamily="34" charset="-120"/>
              </a:rPr>
              <a:t>Pérdida</a:t>
            </a:r>
            <a:endParaRPr lang="en-US" sz="1700" dirty="0"/>
          </a:p>
        </p:txBody>
      </p:sp>
      <p:sp>
        <p:nvSpPr>
          <p:cNvPr id="32" name="Text 29"/>
          <p:cNvSpPr txBox="1"/>
          <p:nvPr/>
        </p:nvSpPr>
        <p:spPr>
          <a:xfrm>
            <a:off x="1783080" y="6858000"/>
            <a:ext cx="3108960" cy="1463040"/>
          </a:xfrm>
          <a:prstGeom prst="rect">
            <a:avLst/>
          </a:prstGeom>
          <a:noFill/>
          <a:ln/>
        </p:spPr>
        <p:txBody>
          <a:bodyPr wrap="square" lIns="0" tIns="0" rIns="0" bIns="0" rtlCol="0" anchor="t"/>
          <a:lstStyle/>
          <a:p>
            <a:pPr indent="0" marL="0">
              <a:buNone/>
            </a:pPr>
            <a:r>
              <a:rPr lang="en-US" sz="2200" b="1" dirty="0">
                <a:solidFill>
                  <a:srgbClr val="222222"/>
                </a:solidFill>
                <a:latin typeface="Arial" pitchFamily="34" charset="0"/>
                <a:ea typeface="Arial" pitchFamily="34" charset="-122"/>
                <a:cs typeface="Arial" pitchFamily="34" charset="-120"/>
              </a:rPr>
              <a:t>Sparse Categorical</a:t>
            </a:r>
            <a:endParaRPr lang="en-US" sz="2200" dirty="0"/>
          </a:p>
          <a:p>
            <a:pPr indent="0" marL="0">
              <a:buNone/>
            </a:pPr>
            <a:r>
              <a:rPr lang="en-US" sz="2200" b="1" dirty="0">
                <a:solidFill>
                  <a:srgbClr val="222222"/>
                </a:solidFill>
                <a:latin typeface="Arial" pitchFamily="34" charset="0"/>
                <a:ea typeface="Arial" pitchFamily="34" charset="-122"/>
                <a:cs typeface="Arial" pitchFamily="34" charset="-120"/>
              </a:rPr>
              <a:t>Cross-Entropy</a:t>
            </a:r>
            <a:endParaRPr lang="en-US" sz="2200" dirty="0"/>
          </a:p>
        </p:txBody>
      </p:sp>
      <p:sp>
        <p:nvSpPr>
          <p:cNvPr id="33" name="Shape 30"/>
          <p:cNvSpPr/>
          <p:nvPr/>
        </p:nvSpPr>
        <p:spPr>
          <a:xfrm>
            <a:off x="5486400" y="6035040"/>
            <a:ext cx="3611880" cy="2560320"/>
          </a:xfrm>
          <a:prstGeom prst="rect">
            <a:avLst/>
          </a:prstGeom>
          <a:solidFill>
            <a:srgbClr val="F4F6FA"/>
          </a:solidFill>
          <a:ln w="12700">
            <a:solidFill>
              <a:srgbClr val="D4D4D4"/>
            </a:solidFill>
            <a:prstDash val="solid"/>
          </a:ln>
        </p:spPr>
      </p:sp>
      <p:sp>
        <p:nvSpPr>
          <p:cNvPr id="34" name="Shape 31"/>
          <p:cNvSpPr/>
          <p:nvPr/>
        </p:nvSpPr>
        <p:spPr>
          <a:xfrm>
            <a:off x="5486400" y="6035040"/>
            <a:ext cx="3611880" cy="128016"/>
          </a:xfrm>
          <a:prstGeom prst="rect">
            <a:avLst/>
          </a:prstGeom>
          <a:solidFill>
            <a:srgbClr val="2A4BDB"/>
          </a:solidFill>
          <a:ln w="12700">
            <a:solidFill>
              <a:srgbClr val="2A4BDB"/>
            </a:solidFill>
            <a:prstDash val="solid"/>
          </a:ln>
        </p:spPr>
      </p:sp>
      <p:sp>
        <p:nvSpPr>
          <p:cNvPr id="35" name="Text 32"/>
          <p:cNvSpPr txBox="1"/>
          <p:nvPr/>
        </p:nvSpPr>
        <p:spPr>
          <a:xfrm>
            <a:off x="5760720" y="6355080"/>
            <a:ext cx="3108960" cy="457200"/>
          </a:xfrm>
          <a:prstGeom prst="rect">
            <a:avLst/>
          </a:prstGeom>
          <a:noFill/>
          <a:ln/>
        </p:spPr>
        <p:txBody>
          <a:bodyPr wrap="square" lIns="0" tIns="0" rIns="0" bIns="0" rtlCol="0" anchor="ctr"/>
          <a:lstStyle/>
          <a:p>
            <a:pPr indent="0" marL="0">
              <a:buNone/>
            </a:pPr>
            <a:r>
              <a:rPr lang="en-US" sz="1700" b="1" dirty="0">
                <a:solidFill>
                  <a:srgbClr val="5A5A5A"/>
                </a:solidFill>
                <a:latin typeface="Arial" pitchFamily="34" charset="0"/>
                <a:ea typeface="Arial" pitchFamily="34" charset="-122"/>
                <a:cs typeface="Arial" pitchFamily="34" charset="-120"/>
              </a:rPr>
              <a:t>Optimizador</a:t>
            </a:r>
            <a:endParaRPr lang="en-US" sz="1700" dirty="0"/>
          </a:p>
        </p:txBody>
      </p:sp>
      <p:sp>
        <p:nvSpPr>
          <p:cNvPr id="36" name="Text 33"/>
          <p:cNvSpPr txBox="1"/>
          <p:nvPr/>
        </p:nvSpPr>
        <p:spPr>
          <a:xfrm>
            <a:off x="5760720" y="6858000"/>
            <a:ext cx="3108960" cy="1463040"/>
          </a:xfrm>
          <a:prstGeom prst="rect">
            <a:avLst/>
          </a:prstGeom>
          <a:noFill/>
          <a:ln/>
        </p:spPr>
        <p:txBody>
          <a:bodyPr wrap="square" lIns="0" tIns="0" rIns="0" bIns="0" rtlCol="0" anchor="t"/>
          <a:lstStyle/>
          <a:p>
            <a:pPr indent="0" marL="0">
              <a:buNone/>
            </a:pPr>
            <a:r>
              <a:rPr lang="en-US" sz="2200" b="1" dirty="0">
                <a:solidFill>
                  <a:srgbClr val="222222"/>
                </a:solidFill>
                <a:latin typeface="Arial" pitchFamily="34" charset="0"/>
                <a:ea typeface="Arial" pitchFamily="34" charset="-122"/>
                <a:cs typeface="Arial" pitchFamily="34" charset="-120"/>
              </a:rPr>
              <a:t>Adam</a:t>
            </a:r>
            <a:endParaRPr lang="en-US" sz="2200" dirty="0"/>
          </a:p>
          <a:p>
            <a:pPr indent="0" marL="0">
              <a:buNone/>
            </a:pPr>
            <a:r>
              <a:rPr lang="en-US" sz="2200" b="1" dirty="0">
                <a:solidFill>
                  <a:srgbClr val="222222"/>
                </a:solidFill>
                <a:latin typeface="Arial" pitchFamily="34" charset="0"/>
                <a:ea typeface="Arial" pitchFamily="34" charset="-122"/>
                <a:cs typeface="Arial" pitchFamily="34" charset="-120"/>
              </a:rPr>
              <a:t>lr = 0.0005</a:t>
            </a:r>
            <a:endParaRPr lang="en-US" sz="2200" dirty="0"/>
          </a:p>
        </p:txBody>
      </p:sp>
      <p:sp>
        <p:nvSpPr>
          <p:cNvPr id="37" name="Shape 34"/>
          <p:cNvSpPr/>
          <p:nvPr/>
        </p:nvSpPr>
        <p:spPr>
          <a:xfrm>
            <a:off x="9464040" y="6035040"/>
            <a:ext cx="3611880" cy="2560320"/>
          </a:xfrm>
          <a:prstGeom prst="rect">
            <a:avLst/>
          </a:prstGeom>
          <a:solidFill>
            <a:srgbClr val="F4F6FA"/>
          </a:solidFill>
          <a:ln w="12700">
            <a:solidFill>
              <a:srgbClr val="D4D4D4"/>
            </a:solidFill>
            <a:prstDash val="solid"/>
          </a:ln>
        </p:spPr>
      </p:sp>
      <p:sp>
        <p:nvSpPr>
          <p:cNvPr id="38" name="Shape 35"/>
          <p:cNvSpPr/>
          <p:nvPr/>
        </p:nvSpPr>
        <p:spPr>
          <a:xfrm>
            <a:off x="9464040" y="6035040"/>
            <a:ext cx="3611880" cy="128016"/>
          </a:xfrm>
          <a:prstGeom prst="rect">
            <a:avLst/>
          </a:prstGeom>
          <a:solidFill>
            <a:srgbClr val="2A4BDB"/>
          </a:solidFill>
          <a:ln w="12700">
            <a:solidFill>
              <a:srgbClr val="2A4BDB"/>
            </a:solidFill>
            <a:prstDash val="solid"/>
          </a:ln>
        </p:spPr>
      </p:sp>
      <p:sp>
        <p:nvSpPr>
          <p:cNvPr id="39" name="Text 36"/>
          <p:cNvSpPr txBox="1"/>
          <p:nvPr/>
        </p:nvSpPr>
        <p:spPr>
          <a:xfrm>
            <a:off x="9738360" y="6355080"/>
            <a:ext cx="3108960" cy="457200"/>
          </a:xfrm>
          <a:prstGeom prst="rect">
            <a:avLst/>
          </a:prstGeom>
          <a:noFill/>
          <a:ln/>
        </p:spPr>
        <p:txBody>
          <a:bodyPr wrap="square" lIns="0" tIns="0" rIns="0" bIns="0" rtlCol="0" anchor="ctr"/>
          <a:lstStyle/>
          <a:p>
            <a:pPr indent="0" marL="0">
              <a:buNone/>
            </a:pPr>
            <a:r>
              <a:rPr lang="en-US" sz="1700" b="1" dirty="0">
                <a:solidFill>
                  <a:srgbClr val="5A5A5A"/>
                </a:solidFill>
                <a:latin typeface="Arial" pitchFamily="34" charset="0"/>
                <a:ea typeface="Arial" pitchFamily="34" charset="-122"/>
                <a:cs typeface="Arial" pitchFamily="34" charset="-120"/>
              </a:rPr>
              <a:t>Batch size</a:t>
            </a:r>
            <a:endParaRPr lang="en-US" sz="1700" dirty="0"/>
          </a:p>
        </p:txBody>
      </p:sp>
      <p:sp>
        <p:nvSpPr>
          <p:cNvPr id="40" name="Text 37"/>
          <p:cNvSpPr txBox="1"/>
          <p:nvPr/>
        </p:nvSpPr>
        <p:spPr>
          <a:xfrm>
            <a:off x="9738360" y="6858000"/>
            <a:ext cx="3108960" cy="1463040"/>
          </a:xfrm>
          <a:prstGeom prst="rect">
            <a:avLst/>
          </a:prstGeom>
          <a:noFill/>
          <a:ln/>
        </p:spPr>
        <p:txBody>
          <a:bodyPr wrap="square" lIns="0" tIns="0" rIns="0" bIns="0" rtlCol="0" anchor="t"/>
          <a:lstStyle/>
          <a:p>
            <a:pPr indent="0" marL="0">
              <a:buNone/>
            </a:pPr>
            <a:r>
              <a:rPr lang="en-US" sz="2200" b="1" dirty="0">
                <a:solidFill>
                  <a:srgbClr val="222222"/>
                </a:solidFill>
                <a:latin typeface="Arial" pitchFamily="34" charset="0"/>
                <a:ea typeface="Arial" pitchFamily="34" charset="-122"/>
                <a:cs typeface="Arial" pitchFamily="34" charset="-120"/>
              </a:rPr>
              <a:t>256</a:t>
            </a:r>
            <a:endParaRPr lang="en-US" sz="2200" dirty="0"/>
          </a:p>
        </p:txBody>
      </p:sp>
      <p:sp>
        <p:nvSpPr>
          <p:cNvPr id="41" name="Shape 38"/>
          <p:cNvSpPr/>
          <p:nvPr/>
        </p:nvSpPr>
        <p:spPr>
          <a:xfrm>
            <a:off x="13441680" y="6035040"/>
            <a:ext cx="3611880" cy="2560320"/>
          </a:xfrm>
          <a:prstGeom prst="rect">
            <a:avLst/>
          </a:prstGeom>
          <a:solidFill>
            <a:srgbClr val="F4F6FA"/>
          </a:solidFill>
          <a:ln w="12700">
            <a:solidFill>
              <a:srgbClr val="D4D4D4"/>
            </a:solidFill>
            <a:prstDash val="solid"/>
          </a:ln>
        </p:spPr>
      </p:sp>
      <p:sp>
        <p:nvSpPr>
          <p:cNvPr id="42" name="Shape 39"/>
          <p:cNvSpPr/>
          <p:nvPr/>
        </p:nvSpPr>
        <p:spPr>
          <a:xfrm>
            <a:off x="13441680" y="6035040"/>
            <a:ext cx="3611880" cy="128016"/>
          </a:xfrm>
          <a:prstGeom prst="rect">
            <a:avLst/>
          </a:prstGeom>
          <a:solidFill>
            <a:srgbClr val="2A4BDB"/>
          </a:solidFill>
          <a:ln w="12700">
            <a:solidFill>
              <a:srgbClr val="2A4BDB"/>
            </a:solidFill>
            <a:prstDash val="solid"/>
          </a:ln>
        </p:spPr>
      </p:sp>
      <p:sp>
        <p:nvSpPr>
          <p:cNvPr id="43" name="Text 40"/>
          <p:cNvSpPr txBox="1"/>
          <p:nvPr/>
        </p:nvSpPr>
        <p:spPr>
          <a:xfrm>
            <a:off x="13716000" y="6355080"/>
            <a:ext cx="3108960" cy="457200"/>
          </a:xfrm>
          <a:prstGeom prst="rect">
            <a:avLst/>
          </a:prstGeom>
          <a:noFill/>
          <a:ln/>
        </p:spPr>
        <p:txBody>
          <a:bodyPr wrap="square" lIns="0" tIns="0" rIns="0" bIns="0" rtlCol="0" anchor="ctr"/>
          <a:lstStyle/>
          <a:p>
            <a:pPr indent="0" marL="0">
              <a:buNone/>
            </a:pPr>
            <a:r>
              <a:rPr lang="en-US" sz="1700" b="1" dirty="0">
                <a:solidFill>
                  <a:srgbClr val="5A5A5A"/>
                </a:solidFill>
                <a:latin typeface="Arial" pitchFamily="34" charset="0"/>
                <a:ea typeface="Arial" pitchFamily="34" charset="-122"/>
                <a:cs typeface="Arial" pitchFamily="34" charset="-120"/>
              </a:rPr>
              <a:t>Épocas</a:t>
            </a:r>
            <a:endParaRPr lang="en-US" sz="1700" dirty="0"/>
          </a:p>
        </p:txBody>
      </p:sp>
      <p:sp>
        <p:nvSpPr>
          <p:cNvPr id="44" name="Text 41"/>
          <p:cNvSpPr txBox="1"/>
          <p:nvPr/>
        </p:nvSpPr>
        <p:spPr>
          <a:xfrm>
            <a:off x="13716000" y="6858000"/>
            <a:ext cx="3108960" cy="1463040"/>
          </a:xfrm>
          <a:prstGeom prst="rect">
            <a:avLst/>
          </a:prstGeom>
          <a:noFill/>
          <a:ln/>
        </p:spPr>
        <p:txBody>
          <a:bodyPr wrap="square" lIns="0" tIns="0" rIns="0" bIns="0" rtlCol="0" anchor="t"/>
          <a:lstStyle/>
          <a:p>
            <a:pPr indent="0" marL="0">
              <a:buNone/>
            </a:pPr>
            <a:r>
              <a:rPr lang="en-US" sz="2200" b="1" dirty="0">
                <a:solidFill>
                  <a:srgbClr val="222222"/>
                </a:solidFill>
                <a:latin typeface="Arial" pitchFamily="34" charset="0"/>
                <a:ea typeface="Arial" pitchFamily="34" charset="-122"/>
                <a:cs typeface="Arial" pitchFamily="34" charset="-120"/>
              </a:rPr>
              <a:t>Early Stopping</a:t>
            </a:r>
            <a:endParaRPr lang="en-US" sz="2200" dirty="0"/>
          </a:p>
          <a:p>
            <a:pPr indent="0" marL="0">
              <a:buNone/>
            </a:pPr>
            <a:r>
              <a:rPr lang="en-US" sz="2200" b="1" dirty="0">
                <a:solidFill>
                  <a:srgbClr val="222222"/>
                </a:solidFill>
                <a:latin typeface="Arial" pitchFamily="34" charset="0"/>
                <a:ea typeface="Arial" pitchFamily="34" charset="-122"/>
                <a:cs typeface="Arial" pitchFamily="34" charset="-120"/>
              </a:rPr>
              <a:t>patience = 10</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Funciones de activación</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94560"/>
            <a:ext cx="8778240" cy="4744329"/>
          </a:xfrm>
          <a:prstGeom prst="rect">
            <a:avLst/>
          </a:prstGeom>
          <a:solidFill>
            <a:srgbClr val="FFFFFF"/>
          </a:solidFill>
          <a:ln w="12700">
            <a:solidFill>
              <a:srgbClr val="D4D4D4"/>
            </a:solidFill>
            <a:prstDash val="solid"/>
          </a:ln>
        </p:spPr>
      </p:sp>
      <p:pic>
        <p:nvPicPr>
          <p:cNvPr id="10" name="Image 1" descr="/home/claude/ppt/assets/A_23_0.png">    </p:cNvPr>
          <p:cNvPicPr>
            <a:picLocks noChangeAspect="1"/>
          </p:cNvPicPr>
          <p:nvPr/>
        </p:nvPicPr>
        <p:blipFill>
          <a:blip r:embed="rId2"/>
          <a:stretch>
            <a:fillRect/>
          </a:stretch>
        </p:blipFill>
        <p:spPr>
          <a:xfrm>
            <a:off x="1645920" y="2331720"/>
            <a:ext cx="8503920" cy="4470009"/>
          </a:xfrm>
          <a:prstGeom prst="rect">
            <a:avLst/>
          </a:prstGeom>
        </p:spPr>
      </p:pic>
      <p:sp>
        <p:nvSpPr>
          <p:cNvPr id="11" name="Text 7"/>
          <p:cNvSpPr txBox="1"/>
          <p:nvPr/>
        </p:nvSpPr>
        <p:spPr>
          <a:xfrm>
            <a:off x="1508760" y="6995160"/>
            <a:ext cx="8778240" cy="411480"/>
          </a:xfrm>
          <a:prstGeom prst="rect">
            <a:avLst/>
          </a:prstGeom>
          <a:noFill/>
          <a:ln/>
        </p:spPr>
        <p:txBody>
          <a:bodyPr wrap="square" lIns="0" tIns="0" rIns="0" bIns="0" rtlCol="0" anchor="ctr"/>
          <a:lstStyle/>
          <a:p>
            <a:pPr indent="0" marL="0">
              <a:buNone/>
            </a:pPr>
            <a:r>
              <a:rPr lang="en-US" sz="1400" i="1" dirty="0">
                <a:solidFill>
                  <a:srgbClr val="5A5A5A"/>
                </a:solidFill>
                <a:latin typeface="Arial" pitchFamily="34" charset="0"/>
                <a:ea typeface="Arial" pitchFamily="34" charset="-122"/>
                <a:cs typeface="Arial" pitchFamily="34" charset="-120"/>
              </a:rPr>
              <a:t>Gradiente medio por capa en una red de 5 capas, antes de entrenar</a:t>
            </a:r>
            <a:endParaRPr lang="en-US" sz="1400" dirty="0"/>
          </a:p>
        </p:txBody>
      </p:sp>
      <p:sp>
        <p:nvSpPr>
          <p:cNvPr id="12" name="Shape 8"/>
          <p:cNvSpPr/>
          <p:nvPr/>
        </p:nvSpPr>
        <p:spPr>
          <a:xfrm>
            <a:off x="10744200" y="2194560"/>
            <a:ext cx="3246120" cy="2286000"/>
          </a:xfrm>
          <a:prstGeom prst="rect">
            <a:avLst/>
          </a:prstGeom>
          <a:solidFill>
            <a:srgbClr val="F4F6FA"/>
          </a:solidFill>
          <a:ln w="12700">
            <a:solidFill>
              <a:srgbClr val="D4D4D4"/>
            </a:solidFill>
            <a:prstDash val="solid"/>
          </a:ln>
        </p:spPr>
      </p:sp>
      <p:sp>
        <p:nvSpPr>
          <p:cNvPr id="13" name="Shape 9"/>
          <p:cNvSpPr/>
          <p:nvPr/>
        </p:nvSpPr>
        <p:spPr>
          <a:xfrm>
            <a:off x="10744200" y="2194560"/>
            <a:ext cx="3246120" cy="128016"/>
          </a:xfrm>
          <a:prstGeom prst="rect">
            <a:avLst/>
          </a:prstGeom>
          <a:solidFill>
            <a:srgbClr val="E0463A"/>
          </a:solidFill>
          <a:ln w="12700">
            <a:solidFill>
              <a:srgbClr val="E0463A"/>
            </a:solidFill>
            <a:prstDash val="solid"/>
          </a:ln>
        </p:spPr>
      </p:sp>
      <p:sp>
        <p:nvSpPr>
          <p:cNvPr id="14" name="Text 10"/>
          <p:cNvSpPr txBox="1"/>
          <p:nvPr/>
        </p:nvSpPr>
        <p:spPr>
          <a:xfrm>
            <a:off x="11064240" y="2514600"/>
            <a:ext cx="2697480" cy="868680"/>
          </a:xfrm>
          <a:prstGeom prst="rect">
            <a:avLst/>
          </a:prstGeom>
          <a:noFill/>
          <a:ln/>
        </p:spPr>
        <p:txBody>
          <a:bodyPr wrap="square" lIns="0" tIns="0" rIns="0" bIns="0" rtlCol="0" anchor="ctr"/>
          <a:lstStyle/>
          <a:p>
            <a:pPr indent="0" marL="0">
              <a:buNone/>
            </a:pPr>
            <a:r>
              <a:rPr lang="en-US" sz="4000" b="1" dirty="0">
                <a:solidFill>
                  <a:srgbClr val="E0463A"/>
                </a:solidFill>
                <a:latin typeface="Arial" pitchFamily="34" charset="0"/>
                <a:ea typeface="Arial" pitchFamily="34" charset="-122"/>
                <a:cs typeface="Arial" pitchFamily="34" charset="-120"/>
              </a:rPr>
              <a:t>1.959×</a:t>
            </a:r>
            <a:endParaRPr lang="en-US" sz="4000" dirty="0"/>
          </a:p>
        </p:txBody>
      </p:sp>
      <p:sp>
        <p:nvSpPr>
          <p:cNvPr id="15" name="Text 11"/>
          <p:cNvSpPr txBox="1"/>
          <p:nvPr/>
        </p:nvSpPr>
        <p:spPr>
          <a:xfrm>
            <a:off x="11064240" y="3383280"/>
            <a:ext cx="269748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Sigmoide</a:t>
            </a:r>
            <a:endParaRPr lang="en-US" sz="1900" dirty="0"/>
          </a:p>
        </p:txBody>
      </p:sp>
      <p:sp>
        <p:nvSpPr>
          <p:cNvPr id="16" name="Text 12"/>
          <p:cNvSpPr txBox="1"/>
          <p:nvPr/>
        </p:nvSpPr>
        <p:spPr>
          <a:xfrm>
            <a:off x="11064240" y="3840480"/>
            <a:ext cx="2697480" cy="457200"/>
          </a:xfrm>
          <a:prstGeom prst="rect">
            <a:avLst/>
          </a:prstGeom>
          <a:noFill/>
          <a:ln/>
        </p:spPr>
        <p:txBody>
          <a:bodyPr wrap="square" lIns="0" tIns="0" rIns="0" bIns="0" rtlCol="0" anchor="t"/>
          <a:lstStyle/>
          <a:p>
            <a:pPr indent="0" marL="0">
              <a:buNone/>
            </a:pPr>
            <a:r>
              <a:rPr lang="en-US" sz="1500" dirty="0">
                <a:solidFill>
                  <a:srgbClr val="5A5A5A"/>
                </a:solidFill>
                <a:latin typeface="Arial" pitchFamily="34" charset="0"/>
                <a:ea typeface="Arial" pitchFamily="34" charset="-122"/>
                <a:cs typeface="Arial" pitchFamily="34" charset="-120"/>
              </a:rPr>
              <a:t>Atenuación del gradiente entre la salida y la primera capa</a:t>
            </a:r>
            <a:endParaRPr lang="en-US" sz="1500" dirty="0"/>
          </a:p>
        </p:txBody>
      </p:sp>
      <p:sp>
        <p:nvSpPr>
          <p:cNvPr id="17" name="Shape 13"/>
          <p:cNvSpPr/>
          <p:nvPr/>
        </p:nvSpPr>
        <p:spPr>
          <a:xfrm>
            <a:off x="14173200" y="2194560"/>
            <a:ext cx="3246120" cy="2286000"/>
          </a:xfrm>
          <a:prstGeom prst="rect">
            <a:avLst/>
          </a:prstGeom>
          <a:solidFill>
            <a:srgbClr val="F4F6FA"/>
          </a:solidFill>
          <a:ln w="12700">
            <a:solidFill>
              <a:srgbClr val="D4D4D4"/>
            </a:solidFill>
            <a:prstDash val="solid"/>
          </a:ln>
        </p:spPr>
      </p:sp>
      <p:sp>
        <p:nvSpPr>
          <p:cNvPr id="18" name="Shape 14"/>
          <p:cNvSpPr/>
          <p:nvPr/>
        </p:nvSpPr>
        <p:spPr>
          <a:xfrm>
            <a:off x="14173200" y="2194560"/>
            <a:ext cx="3246120" cy="128016"/>
          </a:xfrm>
          <a:prstGeom prst="rect">
            <a:avLst/>
          </a:prstGeom>
          <a:solidFill>
            <a:srgbClr val="2A4BDB"/>
          </a:solidFill>
          <a:ln w="12700">
            <a:solidFill>
              <a:srgbClr val="2A4BDB"/>
            </a:solidFill>
            <a:prstDash val="solid"/>
          </a:ln>
        </p:spPr>
      </p:sp>
      <p:sp>
        <p:nvSpPr>
          <p:cNvPr id="19" name="Text 15"/>
          <p:cNvSpPr txBox="1"/>
          <p:nvPr/>
        </p:nvSpPr>
        <p:spPr>
          <a:xfrm>
            <a:off x="14493240" y="2514600"/>
            <a:ext cx="2697480" cy="868680"/>
          </a:xfrm>
          <a:prstGeom prst="rect">
            <a:avLst/>
          </a:prstGeom>
          <a:noFill/>
          <a:ln/>
        </p:spPr>
        <p:txBody>
          <a:bodyPr wrap="square" lIns="0" tIns="0" rIns="0" bIns="0" rtlCol="0" anchor="ctr"/>
          <a:lstStyle/>
          <a:p>
            <a:pPr indent="0" marL="0">
              <a:buNone/>
            </a:pPr>
            <a:r>
              <a:rPr lang="en-US" sz="4000" b="1" dirty="0">
                <a:solidFill>
                  <a:srgbClr val="2A4BDB"/>
                </a:solidFill>
                <a:latin typeface="Arial" pitchFamily="34" charset="0"/>
                <a:ea typeface="Arial" pitchFamily="34" charset="-122"/>
                <a:cs typeface="Arial" pitchFamily="34" charset="-120"/>
              </a:rPr>
              <a:t>2,9×</a:t>
            </a:r>
            <a:endParaRPr lang="en-US" sz="4000" dirty="0"/>
          </a:p>
        </p:txBody>
      </p:sp>
      <p:sp>
        <p:nvSpPr>
          <p:cNvPr id="20" name="Text 16"/>
          <p:cNvSpPr txBox="1"/>
          <p:nvPr/>
        </p:nvSpPr>
        <p:spPr>
          <a:xfrm>
            <a:off x="14493240" y="3383280"/>
            <a:ext cx="269748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ReLU</a:t>
            </a:r>
            <a:endParaRPr lang="en-US" sz="1900" dirty="0"/>
          </a:p>
        </p:txBody>
      </p:sp>
      <p:sp>
        <p:nvSpPr>
          <p:cNvPr id="21" name="Text 17"/>
          <p:cNvSpPr txBox="1"/>
          <p:nvPr/>
        </p:nvSpPr>
        <p:spPr>
          <a:xfrm>
            <a:off x="14493240" y="3840480"/>
            <a:ext cx="2697480" cy="457200"/>
          </a:xfrm>
          <a:prstGeom prst="rect">
            <a:avLst/>
          </a:prstGeom>
          <a:noFill/>
          <a:ln/>
        </p:spPr>
        <p:txBody>
          <a:bodyPr wrap="square" lIns="0" tIns="0" rIns="0" bIns="0" rtlCol="0" anchor="t"/>
          <a:lstStyle/>
          <a:p>
            <a:pPr indent="0" marL="0">
              <a:buNone/>
            </a:pPr>
            <a:r>
              <a:rPr lang="en-US" sz="1500" dirty="0">
                <a:solidFill>
                  <a:srgbClr val="5A5A5A"/>
                </a:solidFill>
                <a:latin typeface="Arial" pitchFamily="34" charset="0"/>
                <a:ea typeface="Arial" pitchFamily="34" charset="-122"/>
                <a:cs typeface="Arial" pitchFamily="34" charset="-120"/>
              </a:rPr>
              <a:t>Atenuación entre la salida y la primera capa</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0744200" y="4800600"/>
          <a:ext cx="6675120" cy="914400"/>
        </p:xfrm>
        <a:graphic>
          <a:graphicData uri="http://schemas.openxmlformats.org/drawingml/2006/table">
            <a:tbl>
              <a:tblPr/>
              <a:tblGrid>
                <a:gridCol w="2103120"/>
                <a:gridCol w="2011680"/>
                <a:gridCol w="2560320"/>
              </a:tblGrid>
              <a:tr h="438912">
                <a:tc>
                  <a:txBody>
                    <a:bodyPr/>
                    <a:lstStyle/>
                    <a:p>
                      <a:pPr algn="l" indent="0" marL="0">
                        <a:buNone/>
                      </a:pPr>
                      <a:r>
                        <a:rPr lang="en-US" sz="1500" b="1" dirty="0">
                          <a:solidFill>
                            <a:srgbClr val="FFFFFF"/>
                          </a:solidFill>
                          <a:latin typeface="Arial" pitchFamily="34" charset="0"/>
                          <a:ea typeface="Arial" pitchFamily="34" charset="-122"/>
                          <a:cs typeface="Arial" pitchFamily="34" charset="-120"/>
                        </a:rPr>
                        <a:t>Activación</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F1 (64-32)</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Épocas red profunda</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r>
              <a:tr h="438912">
                <a:tc>
                  <a:txBody>
                    <a:bodyPr/>
                    <a:lstStyle/>
                    <a:p>
                      <a:pPr algn="l" indent="0" marL="0">
                        <a:buNone/>
                      </a:pPr>
                      <a:r>
                        <a:rPr lang="en-US" sz="1500" b="1" dirty="0">
                          <a:solidFill>
                            <a:srgbClr val="2A4BDB"/>
                          </a:solidFill>
                          <a:latin typeface="Arial" pitchFamily="34" charset="0"/>
                          <a:ea typeface="Arial" pitchFamily="34" charset="-122"/>
                          <a:cs typeface="Arial" pitchFamily="34" charset="-120"/>
                        </a:rPr>
                        <a:t>ReLU</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c>
                  <a:txBody>
                    <a:bodyPr/>
                    <a:lstStyle/>
                    <a:p>
                      <a:pPr algn="ctr" indent="0" marL="0">
                        <a:buNone/>
                      </a:pPr>
                      <a:r>
                        <a:rPr lang="en-US" sz="1500" b="1" dirty="0">
                          <a:solidFill>
                            <a:srgbClr val="2A4BDB"/>
                          </a:solidFill>
                          <a:latin typeface="Arial" pitchFamily="34" charset="0"/>
                          <a:ea typeface="Arial" pitchFamily="34" charset="-122"/>
                          <a:cs typeface="Arial" pitchFamily="34" charset="-120"/>
                        </a:rPr>
                        <a:t>0,9128</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c>
                  <a:txBody>
                    <a:bodyPr/>
                    <a:lstStyle/>
                    <a:p>
                      <a:pPr algn="ctr" indent="0" marL="0">
                        <a:buNone/>
                      </a:pPr>
                      <a:r>
                        <a:rPr lang="en-US" sz="1500" b="1" dirty="0">
                          <a:solidFill>
                            <a:srgbClr val="2A4BDB"/>
                          </a:solidFill>
                          <a:latin typeface="Arial" pitchFamily="34" charset="0"/>
                          <a:ea typeface="Arial" pitchFamily="34" charset="-122"/>
                          <a:cs typeface="Arial" pitchFamily="34" charset="-120"/>
                        </a:rPr>
                        <a:t>36</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r>
              <a:tr h="438912">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LeakyReLU</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0,9130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r h="438912">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Tanh</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0,9146</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88</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38912">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Sigmoide</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0,9152</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56</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bl>
          </a:graphicData>
        </a:graphic>
      </p:graphicFrame>
      <p:sp>
        <p:nvSpPr>
          <p:cNvPr id="23" name="Text 18"/>
          <p:cNvSpPr txBox="1"/>
          <p:nvPr/>
        </p:nvSpPr>
        <p:spPr>
          <a:xfrm>
            <a:off x="10744200" y="7178040"/>
            <a:ext cx="6675120" cy="1371600"/>
          </a:xfrm>
          <a:prstGeom prst="rect">
            <a:avLst/>
          </a:prstGeom>
          <a:noFill/>
          <a:ln/>
        </p:spPr>
        <p:txBody>
          <a:bodyPr wrap="square" lIns="0" tIns="0" rIns="0" bIns="0" rtlCol="0" anchor="t"/>
          <a:lstStyle/>
          <a:p>
            <a:pPr indent="0" marL="0">
              <a:buNone/>
            </a:pPr>
            <a:r>
              <a:rPr lang="en-US" sz="1600" b="1" dirty="0">
                <a:solidFill>
                  <a:srgbClr val="222222"/>
                </a:solidFill>
                <a:latin typeface="Arial" pitchFamily="34" charset="0"/>
                <a:ea typeface="Arial" pitchFamily="34" charset="-122"/>
                <a:cs typeface="Arial" pitchFamily="34" charset="-120"/>
              </a:rPr>
              <a:t>Selección: ReLU. En 2 capas todas rinden igual (Δ F1 = 0,0024), pero ReLU no desvanece el gradiente y converge antes al profundizar.</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Función de salida y función de pérdida</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94560"/>
            <a:ext cx="8778240" cy="4929823"/>
          </a:xfrm>
          <a:prstGeom prst="rect">
            <a:avLst/>
          </a:prstGeom>
          <a:solidFill>
            <a:srgbClr val="FFFFFF"/>
          </a:solidFill>
          <a:ln w="12700">
            <a:solidFill>
              <a:srgbClr val="D4D4D4"/>
            </a:solidFill>
            <a:prstDash val="solid"/>
          </a:ln>
        </p:spPr>
      </p:sp>
      <p:pic>
        <p:nvPicPr>
          <p:cNvPr id="10" name="Image 1" descr="/home/claude/ppt/assets/A_15_0.png">    </p:cNvPr>
          <p:cNvPicPr>
            <a:picLocks noChangeAspect="1"/>
          </p:cNvPicPr>
          <p:nvPr/>
        </p:nvPicPr>
        <p:blipFill>
          <a:blip r:embed="rId2"/>
          <a:stretch>
            <a:fillRect/>
          </a:stretch>
        </p:blipFill>
        <p:spPr>
          <a:xfrm>
            <a:off x="1645920" y="2331720"/>
            <a:ext cx="8503920" cy="4655503"/>
          </a:xfrm>
          <a:prstGeom prst="rect">
            <a:avLst/>
          </a:prstGeom>
        </p:spPr>
      </p:pic>
      <p:sp>
        <p:nvSpPr>
          <p:cNvPr id="11" name="Text 7"/>
          <p:cNvSpPr txBox="1"/>
          <p:nvPr/>
        </p:nvSpPr>
        <p:spPr>
          <a:xfrm>
            <a:off x="1508760" y="7178040"/>
            <a:ext cx="8778240" cy="411480"/>
          </a:xfrm>
          <a:prstGeom prst="rect">
            <a:avLst/>
          </a:prstGeom>
          <a:noFill/>
          <a:ln/>
        </p:spPr>
        <p:txBody>
          <a:bodyPr wrap="square" lIns="0" tIns="0" rIns="0" bIns="0" rtlCol="0" anchor="ctr"/>
          <a:lstStyle/>
          <a:p>
            <a:pPr indent="0" marL="0">
              <a:buNone/>
            </a:pPr>
            <a:r>
              <a:rPr lang="en-US" sz="1400" i="1" dirty="0">
                <a:solidFill>
                  <a:srgbClr val="5A5A5A"/>
                </a:solidFill>
                <a:latin typeface="Arial" pitchFamily="34" charset="0"/>
                <a:ea typeface="Arial" pitchFamily="34" charset="-122"/>
                <a:cs typeface="Arial" pitchFamily="34" charset="-120"/>
              </a:rPr>
              <a:t>Se compara val_accuracy: las pérdidas CE y MSE tienen escalas distintas</a:t>
            </a:r>
            <a:endParaRPr lang="en-US" sz="1400" dirty="0"/>
          </a:p>
        </p:txBody>
      </p:sp>
      <p:sp>
        <p:nvSpPr>
          <p:cNvPr id="12" name="Shape 8"/>
          <p:cNvSpPr/>
          <p:nvPr/>
        </p:nvSpPr>
        <p:spPr>
          <a:xfrm>
            <a:off x="10744200" y="2194560"/>
            <a:ext cx="6675120" cy="2514600"/>
          </a:xfrm>
          <a:prstGeom prst="rect">
            <a:avLst/>
          </a:prstGeom>
          <a:solidFill>
            <a:srgbClr val="F4F6FA"/>
          </a:solidFill>
          <a:ln w="12700">
            <a:solidFill>
              <a:srgbClr val="D4D4D4"/>
            </a:solidFill>
            <a:prstDash val="solid"/>
          </a:ln>
        </p:spPr>
      </p:sp>
      <p:sp>
        <p:nvSpPr>
          <p:cNvPr id="13" name="Shape 9"/>
          <p:cNvSpPr/>
          <p:nvPr/>
        </p:nvSpPr>
        <p:spPr>
          <a:xfrm>
            <a:off x="10744200" y="2194560"/>
            <a:ext cx="6675120" cy="128016"/>
          </a:xfrm>
          <a:prstGeom prst="rect">
            <a:avLst/>
          </a:prstGeom>
          <a:solidFill>
            <a:srgbClr val="2A4BDB"/>
          </a:solidFill>
          <a:ln w="12700">
            <a:solidFill>
              <a:srgbClr val="2A4BDB"/>
            </a:solidFill>
            <a:prstDash val="solid"/>
          </a:ln>
        </p:spPr>
      </p:sp>
      <p:sp>
        <p:nvSpPr>
          <p:cNvPr id="14" name="Text 10"/>
          <p:cNvSpPr txBox="1"/>
          <p:nvPr/>
        </p:nvSpPr>
        <p:spPr>
          <a:xfrm>
            <a:off x="11064240" y="2514600"/>
            <a:ext cx="612648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Softmax + Cross-Entropy</a:t>
            </a:r>
            <a:endParaRPr lang="en-US" sz="2000" dirty="0"/>
          </a:p>
        </p:txBody>
      </p:sp>
      <p:sp>
        <p:nvSpPr>
          <p:cNvPr id="15" name="Text 11"/>
          <p:cNvSpPr txBox="1"/>
          <p:nvPr/>
        </p:nvSpPr>
        <p:spPr>
          <a:xfrm>
            <a:off x="11064240" y="3063240"/>
            <a:ext cx="6126480" cy="1463040"/>
          </a:xfrm>
          <a:prstGeom prst="rect">
            <a:avLst/>
          </a:prstGeom>
          <a:noFill/>
          <a:ln/>
        </p:spPr>
        <p:txBody>
          <a:bodyPr wrap="square" lIns="0" tIns="0" rIns="0" bIns="0" rtlCol="0" anchor="t"/>
          <a:lstStyle/>
          <a:p>
            <a:pPr indent="0" marL="0">
              <a:spcAft>
                <a:spcPts val="600"/>
              </a:spcAft>
              <a:buNone/>
            </a:pPr>
            <a:r>
              <a:rPr lang="en-US" sz="1700" dirty="0">
                <a:solidFill>
                  <a:srgbClr val="5A5A5A"/>
                </a:solidFill>
                <a:latin typeface="Arial" pitchFamily="34" charset="0"/>
                <a:ea typeface="Arial" pitchFamily="34" charset="-122"/>
                <a:cs typeface="Arial" pitchFamily="34" charset="-120"/>
              </a:rPr>
              <a:t>F1 = 0,9128</a:t>
            </a:r>
            <a:endParaRPr lang="en-US" sz="1700" dirty="0"/>
          </a:p>
          <a:p>
            <a:pPr indent="0" marL="0">
              <a:spcAft>
                <a:spcPts val="600"/>
              </a:spcAft>
              <a:buNone/>
            </a:pPr>
            <a:r>
              <a:rPr lang="en-US" sz="1700" dirty="0">
                <a:solidFill>
                  <a:srgbClr val="5A5A5A"/>
                </a:solidFill>
                <a:latin typeface="Arial" pitchFamily="34" charset="0"/>
                <a:ea typeface="Arial" pitchFamily="34" charset="-122"/>
                <a:cs typeface="Arial" pitchFamily="34" charset="-120"/>
              </a:rPr>
              <a:t>Las 4 salidas suman exactamente 1,000 en todas las muestras: distribución de probabilidad válida.</a:t>
            </a:r>
            <a:endParaRPr lang="en-US" sz="1700" dirty="0"/>
          </a:p>
        </p:txBody>
      </p:sp>
      <p:sp>
        <p:nvSpPr>
          <p:cNvPr id="16" name="Shape 12"/>
          <p:cNvSpPr/>
          <p:nvPr/>
        </p:nvSpPr>
        <p:spPr>
          <a:xfrm>
            <a:off x="10744200" y="4983480"/>
            <a:ext cx="6675120" cy="2514600"/>
          </a:xfrm>
          <a:prstGeom prst="rect">
            <a:avLst/>
          </a:prstGeom>
          <a:solidFill>
            <a:srgbClr val="F4F6FA"/>
          </a:solidFill>
          <a:ln w="12700">
            <a:solidFill>
              <a:srgbClr val="D4D4D4"/>
            </a:solidFill>
            <a:prstDash val="solid"/>
          </a:ln>
        </p:spPr>
      </p:sp>
      <p:sp>
        <p:nvSpPr>
          <p:cNvPr id="17" name="Shape 13"/>
          <p:cNvSpPr/>
          <p:nvPr/>
        </p:nvSpPr>
        <p:spPr>
          <a:xfrm>
            <a:off x="10744200" y="4983480"/>
            <a:ext cx="6675120" cy="128016"/>
          </a:xfrm>
          <a:prstGeom prst="rect">
            <a:avLst/>
          </a:prstGeom>
          <a:solidFill>
            <a:srgbClr val="E0463A"/>
          </a:solidFill>
          <a:ln w="12700">
            <a:solidFill>
              <a:srgbClr val="E0463A"/>
            </a:solidFill>
            <a:prstDash val="solid"/>
          </a:ln>
        </p:spPr>
      </p:sp>
      <p:sp>
        <p:nvSpPr>
          <p:cNvPr id="18" name="Text 14"/>
          <p:cNvSpPr txBox="1"/>
          <p:nvPr/>
        </p:nvSpPr>
        <p:spPr>
          <a:xfrm>
            <a:off x="11064240" y="5303520"/>
            <a:ext cx="612648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Sigmoide + MSE</a:t>
            </a:r>
            <a:endParaRPr lang="en-US" sz="2000" dirty="0"/>
          </a:p>
        </p:txBody>
      </p:sp>
      <p:sp>
        <p:nvSpPr>
          <p:cNvPr id="19" name="Text 15"/>
          <p:cNvSpPr txBox="1"/>
          <p:nvPr/>
        </p:nvSpPr>
        <p:spPr>
          <a:xfrm>
            <a:off x="11064240" y="5852160"/>
            <a:ext cx="6126480" cy="1463040"/>
          </a:xfrm>
          <a:prstGeom prst="rect">
            <a:avLst/>
          </a:prstGeom>
          <a:noFill/>
          <a:ln/>
        </p:spPr>
        <p:txBody>
          <a:bodyPr wrap="square" lIns="0" tIns="0" rIns="0" bIns="0" rtlCol="0" anchor="t"/>
          <a:lstStyle/>
          <a:p>
            <a:pPr indent="0" marL="0">
              <a:spcAft>
                <a:spcPts val="600"/>
              </a:spcAft>
              <a:buNone/>
            </a:pPr>
            <a:r>
              <a:rPr lang="en-US" sz="1700" dirty="0">
                <a:solidFill>
                  <a:srgbClr val="5A5A5A"/>
                </a:solidFill>
                <a:latin typeface="Arial" pitchFamily="34" charset="0"/>
                <a:ea typeface="Arial" pitchFamily="34" charset="-122"/>
                <a:cs typeface="Arial" pitchFamily="34" charset="-120"/>
              </a:rPr>
              <a:t>F1 = 0,9132</a:t>
            </a:r>
            <a:endParaRPr lang="en-US" sz="1700" dirty="0"/>
          </a:p>
          <a:p>
            <a:pPr indent="0" marL="0">
              <a:spcAft>
                <a:spcPts val="600"/>
              </a:spcAft>
              <a:buNone/>
            </a:pPr>
            <a:r>
              <a:rPr lang="en-US" sz="1700" dirty="0">
                <a:solidFill>
                  <a:srgbClr val="5A5A5A"/>
                </a:solidFill>
                <a:latin typeface="Arial" pitchFamily="34" charset="0"/>
                <a:ea typeface="Arial" pitchFamily="34" charset="-122"/>
                <a:cs typeface="Arial" pitchFamily="34" charset="-120"/>
              </a:rPr>
              <a:t>La suma de las salidas varía entre 0,82 y 1,49: no son probabilidades interpretables.</a:t>
            </a:r>
            <a:endParaRPr lang="en-US" sz="1700" dirty="0"/>
          </a:p>
        </p:txBody>
      </p:sp>
      <p:sp>
        <p:nvSpPr>
          <p:cNvPr id="20" name="Text 16"/>
          <p:cNvSpPr txBox="1"/>
          <p:nvPr/>
        </p:nvSpPr>
        <p:spPr>
          <a:xfrm>
            <a:off x="10744200" y="7726680"/>
            <a:ext cx="6675120" cy="1188720"/>
          </a:xfrm>
          <a:prstGeom prst="rect">
            <a:avLst/>
          </a:prstGeom>
          <a:noFill/>
          <a:ln/>
        </p:spPr>
        <p:txBody>
          <a:bodyPr wrap="square" lIns="0" tIns="0" rIns="0" bIns="0" rtlCol="0" anchor="t"/>
          <a:lstStyle/>
          <a:p>
            <a:pPr indent="0" marL="0">
              <a:buNone/>
            </a:pPr>
            <a:r>
              <a:rPr lang="en-US" sz="1600" b="1" dirty="0">
                <a:solidFill>
                  <a:srgbClr val="222222"/>
                </a:solidFill>
                <a:latin typeface="Arial" pitchFamily="34" charset="0"/>
                <a:ea typeface="Arial" pitchFamily="34" charset="-122"/>
                <a:cs typeface="Arial" pitchFamily="34" charset="-120"/>
              </a:rPr>
              <a:t>Selección: Softmax + Sparse Categorical Cross-Entropy, por coherencia con 4 clases mutuamente excluyentes, no por accuracy.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Learning rate</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2240280" y="2148840"/>
            <a:ext cx="14447520" cy="5274225"/>
          </a:xfrm>
          <a:prstGeom prst="rect">
            <a:avLst/>
          </a:prstGeom>
          <a:solidFill>
            <a:srgbClr val="FFFFFF"/>
          </a:solidFill>
          <a:ln w="12700">
            <a:solidFill>
              <a:srgbClr val="D4D4D4"/>
            </a:solidFill>
            <a:prstDash val="solid"/>
          </a:ln>
        </p:spPr>
      </p:sp>
      <p:pic>
        <p:nvPicPr>
          <p:cNvPr id="10" name="Image 1" descr="/home/claude/ppt/assets/B_20_0.png">    </p:cNvPr>
          <p:cNvPicPr>
            <a:picLocks noChangeAspect="1"/>
          </p:cNvPicPr>
          <p:nvPr/>
        </p:nvPicPr>
        <p:blipFill>
          <a:blip r:embed="rId2"/>
          <a:stretch>
            <a:fillRect/>
          </a:stretch>
        </p:blipFill>
        <p:spPr>
          <a:xfrm>
            <a:off x="2377440" y="2286000"/>
            <a:ext cx="14173200" cy="4999905"/>
          </a:xfrm>
          <a:prstGeom prst="rect">
            <a:avLst/>
          </a:prstGeom>
        </p:spPr>
      </p:pic>
      <p:sp>
        <p:nvSpPr>
          <p:cNvPr id="11" name="Shape 7"/>
          <p:cNvSpPr/>
          <p:nvPr/>
        </p:nvSpPr>
        <p:spPr>
          <a:xfrm>
            <a:off x="1508760" y="7589520"/>
            <a:ext cx="4983480" cy="1417320"/>
          </a:xfrm>
          <a:prstGeom prst="rect">
            <a:avLst/>
          </a:prstGeom>
          <a:solidFill>
            <a:srgbClr val="F4F6FA"/>
          </a:solidFill>
          <a:ln w="12700">
            <a:solidFill>
              <a:srgbClr val="D4D4D4"/>
            </a:solidFill>
            <a:prstDash val="solid"/>
          </a:ln>
        </p:spPr>
      </p:sp>
      <p:sp>
        <p:nvSpPr>
          <p:cNvPr id="12" name="Shape 8"/>
          <p:cNvSpPr/>
          <p:nvPr/>
        </p:nvSpPr>
        <p:spPr>
          <a:xfrm>
            <a:off x="1508760" y="7589520"/>
            <a:ext cx="4983480" cy="128016"/>
          </a:xfrm>
          <a:prstGeom prst="rect">
            <a:avLst/>
          </a:prstGeom>
          <a:solidFill>
            <a:srgbClr val="E0463A"/>
          </a:solidFill>
          <a:ln w="12700">
            <a:solidFill>
              <a:srgbClr val="E0463A"/>
            </a:solidFill>
            <a:prstDash val="solid"/>
          </a:ln>
        </p:spPr>
      </p:sp>
      <p:sp>
        <p:nvSpPr>
          <p:cNvPr id="13" name="Text 9"/>
          <p:cNvSpPr txBox="1"/>
          <p:nvPr/>
        </p:nvSpPr>
        <p:spPr>
          <a:xfrm>
            <a:off x="1783080" y="7818120"/>
            <a:ext cx="4526280" cy="1097280"/>
          </a:xfrm>
          <a:prstGeom prst="rect">
            <a:avLst/>
          </a:prstGeom>
          <a:noFill/>
          <a:ln/>
        </p:spPr>
        <p:txBody>
          <a:bodyPr wrap="square" lIns="0" tIns="0" rIns="0" bIns="0" rtlCol="0" anchor="t"/>
          <a:lstStyle/>
          <a:p>
            <a:pPr indent="0" marL="0">
              <a:buNone/>
            </a:pPr>
            <a:r>
              <a:rPr lang="en-US" sz="1500" b="1" dirty="0">
                <a:solidFill>
                  <a:srgbClr val="E0463A"/>
                </a:solidFill>
                <a:latin typeface="Arial" pitchFamily="34" charset="0"/>
                <a:ea typeface="Arial" pitchFamily="34" charset="-122"/>
                <a:cs typeface="Arial" pitchFamily="34" charset="-120"/>
              </a:rPr>
              <a:t>α = 0.1  colapsa. </a:t>
            </a:r>
            <a:pPr indent="0" marL="0">
              <a:buNone/>
            </a:pPr>
            <a:r>
              <a:rPr lang="en-US" sz="1500" dirty="0">
                <a:solidFill>
                  <a:srgbClr val="222222"/>
                </a:solidFill>
                <a:latin typeface="Arial" pitchFamily="34" charset="0"/>
                <a:ea typeface="Arial" pitchFamily="34" charset="-122"/>
                <a:cs typeface="Arial" pitchFamily="34" charset="-120"/>
              </a:rPr>
              <a:t>Accuracy 30,22% (clase mayoritaria), val_loss ≈ ln 4.</a:t>
            </a:r>
            <a:endParaRPr lang="en-US" sz="1500" dirty="0"/>
          </a:p>
        </p:txBody>
      </p:sp>
      <p:sp>
        <p:nvSpPr>
          <p:cNvPr id="14" name="Shape 10"/>
          <p:cNvSpPr/>
          <p:nvPr/>
        </p:nvSpPr>
        <p:spPr>
          <a:xfrm>
            <a:off x="6720840" y="7589520"/>
            <a:ext cx="4983480" cy="1417320"/>
          </a:xfrm>
          <a:prstGeom prst="rect">
            <a:avLst/>
          </a:prstGeom>
          <a:solidFill>
            <a:srgbClr val="F4F6FA"/>
          </a:solidFill>
          <a:ln w="12700">
            <a:solidFill>
              <a:srgbClr val="D4D4D4"/>
            </a:solidFill>
            <a:prstDash val="solid"/>
          </a:ln>
        </p:spPr>
      </p:sp>
      <p:sp>
        <p:nvSpPr>
          <p:cNvPr id="15" name="Shape 11"/>
          <p:cNvSpPr/>
          <p:nvPr/>
        </p:nvSpPr>
        <p:spPr>
          <a:xfrm>
            <a:off x="6720840" y="7589520"/>
            <a:ext cx="4983480" cy="128016"/>
          </a:xfrm>
          <a:prstGeom prst="rect">
            <a:avLst/>
          </a:prstGeom>
          <a:solidFill>
            <a:srgbClr val="4E7CDC"/>
          </a:solidFill>
          <a:ln w="12700">
            <a:solidFill>
              <a:srgbClr val="4E7CDC"/>
            </a:solidFill>
            <a:prstDash val="solid"/>
          </a:ln>
        </p:spPr>
      </p:sp>
      <p:sp>
        <p:nvSpPr>
          <p:cNvPr id="16" name="Text 12"/>
          <p:cNvSpPr txBox="1"/>
          <p:nvPr/>
        </p:nvSpPr>
        <p:spPr>
          <a:xfrm>
            <a:off x="6995160" y="7818120"/>
            <a:ext cx="4526280" cy="1097280"/>
          </a:xfrm>
          <a:prstGeom prst="rect">
            <a:avLst/>
          </a:prstGeom>
          <a:noFill/>
          <a:ln/>
        </p:spPr>
        <p:txBody>
          <a:bodyPr wrap="square" lIns="0" tIns="0" rIns="0" bIns="0" rtlCol="0" anchor="t"/>
          <a:lstStyle/>
          <a:p>
            <a:pPr indent="0" marL="0">
              <a:buNone/>
            </a:pPr>
            <a:r>
              <a:rPr lang="en-US" sz="1500" b="1" dirty="0">
                <a:solidFill>
                  <a:srgbClr val="4E7CDC"/>
                </a:solidFill>
                <a:latin typeface="Arial" pitchFamily="34" charset="0"/>
                <a:ea typeface="Arial" pitchFamily="34" charset="-122"/>
                <a:cs typeface="Arial" pitchFamily="34" charset="-120"/>
              </a:rPr>
              <a:t>0.01 a 0.0005: </a:t>
            </a:r>
            <a:pPr indent="0" marL="0">
              <a:buNone/>
            </a:pPr>
            <a:r>
              <a:rPr lang="en-US" sz="1500" dirty="0">
                <a:solidFill>
                  <a:srgbClr val="222222"/>
                </a:solidFill>
                <a:latin typeface="Arial" pitchFamily="34" charset="0"/>
                <a:ea typeface="Arial" pitchFamily="34" charset="-122"/>
                <a:cs typeface="Arial" pitchFamily="34" charset="-120"/>
              </a:rPr>
              <a:t>Δ F1 de solo 0,0024. Adam amortigua la sensibilidad a la tasa.</a:t>
            </a:r>
            <a:endParaRPr lang="en-US" sz="1500" dirty="0"/>
          </a:p>
        </p:txBody>
      </p:sp>
      <p:sp>
        <p:nvSpPr>
          <p:cNvPr id="17" name="Shape 13"/>
          <p:cNvSpPr/>
          <p:nvPr/>
        </p:nvSpPr>
        <p:spPr>
          <a:xfrm>
            <a:off x="11932920" y="7589520"/>
            <a:ext cx="3063240" cy="1417320"/>
          </a:xfrm>
          <a:prstGeom prst="rect">
            <a:avLst/>
          </a:prstGeom>
          <a:solidFill>
            <a:srgbClr val="F4F6FA"/>
          </a:solidFill>
          <a:ln w="12700">
            <a:solidFill>
              <a:srgbClr val="D4D4D4"/>
            </a:solidFill>
            <a:prstDash val="solid"/>
          </a:ln>
        </p:spPr>
      </p:sp>
      <p:sp>
        <p:nvSpPr>
          <p:cNvPr id="18" name="Shape 14"/>
          <p:cNvSpPr/>
          <p:nvPr/>
        </p:nvSpPr>
        <p:spPr>
          <a:xfrm>
            <a:off x="11932920" y="7589520"/>
            <a:ext cx="3063240" cy="128016"/>
          </a:xfrm>
          <a:prstGeom prst="rect">
            <a:avLst/>
          </a:prstGeom>
          <a:solidFill>
            <a:srgbClr val="2A4BDB"/>
          </a:solidFill>
          <a:ln w="12700">
            <a:solidFill>
              <a:srgbClr val="2A4BDB"/>
            </a:solidFill>
            <a:prstDash val="solid"/>
          </a:ln>
        </p:spPr>
      </p:sp>
      <p:sp>
        <p:nvSpPr>
          <p:cNvPr id="19" name="Text 15"/>
          <p:cNvSpPr txBox="1"/>
          <p:nvPr/>
        </p:nvSpPr>
        <p:spPr>
          <a:xfrm>
            <a:off x="12207240" y="7818120"/>
            <a:ext cx="2651760" cy="1097280"/>
          </a:xfrm>
          <a:prstGeom prst="rect">
            <a:avLst/>
          </a:prstGeom>
          <a:noFill/>
          <a:ln/>
        </p:spPr>
        <p:txBody>
          <a:bodyPr wrap="square" lIns="0" tIns="0" rIns="0" bIns="0" rtlCol="0" anchor="t"/>
          <a:lstStyle/>
          <a:p>
            <a:pPr indent="0" marL="0">
              <a:buNone/>
            </a:pPr>
            <a:r>
              <a:rPr lang="en-US" sz="1400" b="1" dirty="0">
                <a:solidFill>
                  <a:srgbClr val="2A4BDB"/>
                </a:solidFill>
                <a:latin typeface="Arial" pitchFamily="34" charset="0"/>
                <a:ea typeface="Arial" pitchFamily="34" charset="-122"/>
                <a:cs typeface="Arial" pitchFamily="34" charset="-120"/>
              </a:rPr>
              <a:t>Elegido 0.0005: </a:t>
            </a:r>
            <a:pPr indent="0" marL="0">
              <a:buNone/>
            </a:pPr>
            <a:r>
              <a:rPr lang="en-US" sz="1400" dirty="0">
                <a:solidFill>
                  <a:srgbClr val="222222"/>
                </a:solidFill>
                <a:latin typeface="Arial" pitchFamily="34" charset="0"/>
                <a:ea typeface="Arial" pitchFamily="34" charset="-122"/>
                <a:cs typeface="Arial" pitchFamily="34" charset="-120"/>
              </a:rPr>
              <a:t>F1 0,9100 y menor val_loss (0,2394).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Batch size y épocas</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48840"/>
            <a:ext cx="7772400" cy="4524685"/>
          </a:xfrm>
          <a:prstGeom prst="rect">
            <a:avLst/>
          </a:prstGeom>
          <a:solidFill>
            <a:srgbClr val="FFFFFF"/>
          </a:solidFill>
          <a:ln w="12700">
            <a:solidFill>
              <a:srgbClr val="D4D4D4"/>
            </a:solidFill>
            <a:prstDash val="solid"/>
          </a:ln>
        </p:spPr>
      </p:sp>
      <p:pic>
        <p:nvPicPr>
          <p:cNvPr id="10" name="Image 1" descr="/home/claude/ppt/assets/B_25_1.png">    </p:cNvPr>
          <p:cNvPicPr>
            <a:picLocks noChangeAspect="1"/>
          </p:cNvPicPr>
          <p:nvPr/>
        </p:nvPicPr>
        <p:blipFill>
          <a:blip r:embed="rId2"/>
          <a:stretch>
            <a:fillRect/>
          </a:stretch>
        </p:blipFill>
        <p:spPr>
          <a:xfrm>
            <a:off x="1645920" y="2286000"/>
            <a:ext cx="7498080" cy="4250365"/>
          </a:xfrm>
          <a:prstGeom prst="rect">
            <a:avLst/>
          </a:prstGeom>
        </p:spPr>
      </p:pic>
      <p:sp>
        <p:nvSpPr>
          <p:cNvPr id="11" name="Shape 7"/>
          <p:cNvSpPr/>
          <p:nvPr/>
        </p:nvSpPr>
        <p:spPr>
          <a:xfrm>
            <a:off x="9738360" y="2148840"/>
            <a:ext cx="7772400" cy="4407120"/>
          </a:xfrm>
          <a:prstGeom prst="rect">
            <a:avLst/>
          </a:prstGeom>
          <a:solidFill>
            <a:srgbClr val="FFFFFF"/>
          </a:solidFill>
          <a:ln w="12700">
            <a:solidFill>
              <a:srgbClr val="D4D4D4"/>
            </a:solidFill>
            <a:prstDash val="solid"/>
          </a:ln>
        </p:spPr>
      </p:sp>
      <p:pic>
        <p:nvPicPr>
          <p:cNvPr id="12" name="Image 2" descr="/home/claude/ppt/assets/B_30_0.png">    </p:cNvPr>
          <p:cNvPicPr>
            <a:picLocks noChangeAspect="1"/>
          </p:cNvPicPr>
          <p:nvPr/>
        </p:nvPicPr>
        <p:blipFill>
          <a:blip r:embed="rId3"/>
          <a:stretch>
            <a:fillRect/>
          </a:stretch>
        </p:blipFill>
        <p:spPr>
          <a:xfrm>
            <a:off x="9875520" y="2286000"/>
            <a:ext cx="7498080" cy="4132800"/>
          </a:xfrm>
          <a:prstGeom prst="rect">
            <a:avLst/>
          </a:prstGeom>
        </p:spPr>
      </p:pic>
      <p:sp>
        <p:nvSpPr>
          <p:cNvPr id="13" name="Shape 8"/>
          <p:cNvSpPr/>
          <p:nvPr/>
        </p:nvSpPr>
        <p:spPr>
          <a:xfrm>
            <a:off x="1508760" y="6903720"/>
            <a:ext cx="7772400" cy="1965960"/>
          </a:xfrm>
          <a:prstGeom prst="rect">
            <a:avLst/>
          </a:prstGeom>
          <a:solidFill>
            <a:srgbClr val="F4F6FA"/>
          </a:solidFill>
          <a:ln w="12700">
            <a:solidFill>
              <a:srgbClr val="D4D4D4"/>
            </a:solidFill>
            <a:prstDash val="solid"/>
          </a:ln>
        </p:spPr>
      </p:sp>
      <p:sp>
        <p:nvSpPr>
          <p:cNvPr id="14" name="Shape 9"/>
          <p:cNvSpPr/>
          <p:nvPr/>
        </p:nvSpPr>
        <p:spPr>
          <a:xfrm>
            <a:off x="1508760" y="6903720"/>
            <a:ext cx="7772400" cy="128016"/>
          </a:xfrm>
          <a:prstGeom prst="rect">
            <a:avLst/>
          </a:prstGeom>
          <a:solidFill>
            <a:srgbClr val="2A4BDB"/>
          </a:solidFill>
          <a:ln w="12700">
            <a:solidFill>
              <a:srgbClr val="2A4BDB"/>
            </a:solidFill>
            <a:prstDash val="solid"/>
          </a:ln>
        </p:spPr>
      </p:sp>
      <p:sp>
        <p:nvSpPr>
          <p:cNvPr id="15" name="Text 10"/>
          <p:cNvSpPr txBox="1"/>
          <p:nvPr/>
        </p:nvSpPr>
        <p:spPr>
          <a:xfrm>
            <a:off x="1828800" y="7223760"/>
            <a:ext cx="722376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Batch 256</a:t>
            </a:r>
            <a:endParaRPr lang="en-US" sz="2000" dirty="0"/>
          </a:p>
        </p:txBody>
      </p:sp>
      <p:sp>
        <p:nvSpPr>
          <p:cNvPr id="16" name="Text 11"/>
          <p:cNvSpPr txBox="1"/>
          <p:nvPr/>
        </p:nvSpPr>
        <p:spPr>
          <a:xfrm>
            <a:off x="1828800" y="7772400"/>
            <a:ext cx="7223760" cy="914400"/>
          </a:xfrm>
          <a:prstGeom prst="rect">
            <a:avLst/>
          </a:prstGeom>
          <a:noFill/>
          <a:ln/>
        </p:spPr>
        <p:txBody>
          <a:bodyPr wrap="square" lIns="0" tIns="0" rIns="0" bIns="0" rtlCol="0" anchor="t"/>
          <a:lstStyle/>
          <a:p>
            <a:pPr indent="0" marL="0">
              <a:spcAft>
                <a:spcPts val="600"/>
              </a:spcAft>
              <a:buNone/>
            </a:pPr>
            <a:r>
              <a:rPr lang="en-US" sz="1600" dirty="0">
                <a:solidFill>
                  <a:srgbClr val="5A5A5A"/>
                </a:solidFill>
                <a:latin typeface="Arial" pitchFamily="34" charset="0"/>
                <a:ea typeface="Arial" pitchFamily="34" charset="-122"/>
                <a:cs typeface="Arial" pitchFamily="34" charset="-120"/>
              </a:rPr>
              <a:t>F1 0,9129 en 25 s, frente a 0,9100 en 150 s con batch 32: cerca de 6 veces más rápido y con mejor desempeño.</a:t>
            </a:r>
            <a:endParaRPr lang="en-US" sz="1600" dirty="0"/>
          </a:p>
        </p:txBody>
      </p:sp>
      <p:sp>
        <p:nvSpPr>
          <p:cNvPr id="17" name="Shape 12"/>
          <p:cNvSpPr/>
          <p:nvPr/>
        </p:nvSpPr>
        <p:spPr>
          <a:xfrm>
            <a:off x="9738360" y="6903720"/>
            <a:ext cx="7772400" cy="1965960"/>
          </a:xfrm>
          <a:prstGeom prst="rect">
            <a:avLst/>
          </a:prstGeom>
          <a:solidFill>
            <a:srgbClr val="F4F6FA"/>
          </a:solidFill>
          <a:ln w="12700">
            <a:solidFill>
              <a:srgbClr val="D4D4D4"/>
            </a:solidFill>
            <a:prstDash val="solid"/>
          </a:ln>
        </p:spPr>
      </p:sp>
      <p:sp>
        <p:nvSpPr>
          <p:cNvPr id="18" name="Shape 13"/>
          <p:cNvSpPr/>
          <p:nvPr/>
        </p:nvSpPr>
        <p:spPr>
          <a:xfrm>
            <a:off x="9738360" y="6903720"/>
            <a:ext cx="7772400" cy="128016"/>
          </a:xfrm>
          <a:prstGeom prst="rect">
            <a:avLst/>
          </a:prstGeom>
          <a:solidFill>
            <a:srgbClr val="2A4BDB"/>
          </a:solidFill>
          <a:ln w="12700">
            <a:solidFill>
              <a:srgbClr val="2A4BDB"/>
            </a:solidFill>
            <a:prstDash val="solid"/>
          </a:ln>
        </p:spPr>
      </p:sp>
      <p:sp>
        <p:nvSpPr>
          <p:cNvPr id="19" name="Text 14"/>
          <p:cNvSpPr txBox="1"/>
          <p:nvPr/>
        </p:nvSpPr>
        <p:spPr>
          <a:xfrm>
            <a:off x="10058400" y="7223760"/>
            <a:ext cx="722376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Early Stopping</a:t>
            </a:r>
            <a:endParaRPr lang="en-US" sz="2000" dirty="0"/>
          </a:p>
        </p:txBody>
      </p:sp>
      <p:sp>
        <p:nvSpPr>
          <p:cNvPr id="20" name="Text 15"/>
          <p:cNvSpPr txBox="1"/>
          <p:nvPr/>
        </p:nvSpPr>
        <p:spPr>
          <a:xfrm>
            <a:off x="10058400" y="7772400"/>
            <a:ext cx="7223760" cy="914400"/>
          </a:xfrm>
          <a:prstGeom prst="rect">
            <a:avLst/>
          </a:prstGeom>
          <a:noFill/>
          <a:ln/>
        </p:spPr>
        <p:txBody>
          <a:bodyPr wrap="square" lIns="0" tIns="0" rIns="0" bIns="0" rtlCol="0" anchor="t"/>
          <a:lstStyle/>
          <a:p>
            <a:pPr indent="0" marL="0">
              <a:spcAft>
                <a:spcPts val="600"/>
              </a:spcAft>
              <a:buNone/>
            </a:pPr>
            <a:r>
              <a:rPr lang="en-US" sz="1600" dirty="0">
                <a:solidFill>
                  <a:srgbClr val="5A5A5A"/>
                </a:solidFill>
                <a:latin typeface="Arial" pitchFamily="34" charset="0"/>
                <a:ea typeface="Arial" pitchFamily="34" charset="-122"/>
                <a:cs typeface="Arial" pitchFamily="34" charset="-120"/>
              </a:rPr>
              <a:t>val_loss toca su mínimo en la época 16; las 84 restantes no mejoran. Se usa patience = 10 con restore_best_weights.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Efecto de la regularización</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48840"/>
            <a:ext cx="9052560" cy="3821084"/>
          </a:xfrm>
          <a:prstGeom prst="rect">
            <a:avLst/>
          </a:prstGeom>
          <a:solidFill>
            <a:srgbClr val="FFFFFF"/>
          </a:solidFill>
          <a:ln w="12700">
            <a:solidFill>
              <a:srgbClr val="D4D4D4"/>
            </a:solidFill>
            <a:prstDash val="solid"/>
          </a:ln>
        </p:spPr>
      </p:sp>
      <p:pic>
        <p:nvPicPr>
          <p:cNvPr id="10" name="Image 1" descr="/home/claude/ppt/assets/B_36_1.png">    </p:cNvPr>
          <p:cNvPicPr>
            <a:picLocks noChangeAspect="1"/>
          </p:cNvPicPr>
          <p:nvPr/>
        </p:nvPicPr>
        <p:blipFill>
          <a:blip r:embed="rId2"/>
          <a:stretch>
            <a:fillRect/>
          </a:stretch>
        </p:blipFill>
        <p:spPr>
          <a:xfrm>
            <a:off x="1645920" y="2286000"/>
            <a:ext cx="8778240" cy="3546764"/>
          </a:xfrm>
          <a:prstGeom prst="rect">
            <a:avLst/>
          </a:prstGeom>
        </p:spPr>
      </p:pic>
      <p:sp>
        <p:nvSpPr>
          <p:cNvPr id="11" name="Text 7"/>
          <p:cNvSpPr txBox="1"/>
          <p:nvPr/>
        </p:nvSpPr>
        <p:spPr>
          <a:xfrm>
            <a:off x="1508760" y="6035040"/>
            <a:ext cx="9052560" cy="411480"/>
          </a:xfrm>
          <a:prstGeom prst="rect">
            <a:avLst/>
          </a:prstGeom>
          <a:noFill/>
          <a:ln/>
        </p:spPr>
        <p:txBody>
          <a:bodyPr wrap="square" lIns="0" tIns="0" rIns="0" bIns="0" rtlCol="0" anchor="ctr"/>
          <a:lstStyle/>
          <a:p>
            <a:pPr indent="0" marL="0">
              <a:buNone/>
            </a:pPr>
            <a:r>
              <a:rPr lang="en-US" sz="1400" i="1" dirty="0">
                <a:solidFill>
                  <a:srgbClr val="5A5A5A"/>
                </a:solidFill>
                <a:latin typeface="Arial" pitchFamily="34" charset="0"/>
                <a:ea typeface="Arial" pitchFamily="34" charset="-122"/>
                <a:cs typeface="Arial" pitchFamily="34" charset="-120"/>
              </a:rPr>
              <a:t>F1 (barras azules) frente a brecha train-val (barras naranjas)</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11018520" y="2194560"/>
          <a:ext cx="6400800" cy="914400"/>
        </p:xfrm>
        <a:graphic>
          <a:graphicData uri="http://schemas.openxmlformats.org/drawingml/2006/table">
            <a:tbl>
              <a:tblPr/>
              <a:tblGrid>
                <a:gridCol w="2103120"/>
                <a:gridCol w="1280160"/>
                <a:gridCol w="1600200"/>
                <a:gridCol w="1417320"/>
              </a:tblGrid>
              <a:tr h="457200">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Técnica</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F1</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val_loss mín.</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Brecha</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r>
              <a:tr h="457200">
                <a:tc>
                  <a:txBody>
                    <a:bodyPr/>
                    <a:lstStyle/>
                    <a:p>
                      <a:pPr algn="l" indent="0" marL="0">
                        <a:buNone/>
                      </a:pPr>
                      <a:r>
                        <a:rPr lang="en-US" sz="1400" dirty="0">
                          <a:solidFill>
                            <a:srgbClr val="222222"/>
                          </a:solidFill>
                          <a:latin typeface="Arial" pitchFamily="34" charset="0"/>
                          <a:ea typeface="Arial" pitchFamily="34" charset="-122"/>
                          <a:cs typeface="Arial" pitchFamily="34" charset="-120"/>
                        </a:rPr>
                        <a:t>Ninguna</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0,9133</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0,2381</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+0,0021</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2A4BDB"/>
                          </a:solidFill>
                          <a:latin typeface="Arial" pitchFamily="34" charset="0"/>
                          <a:ea typeface="Arial" pitchFamily="34" charset="-122"/>
                          <a:cs typeface="Arial" pitchFamily="34" charset="-120"/>
                        </a:rPr>
                        <a:t>Dropout 0.2</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c>
                  <a:txBody>
                    <a:bodyPr/>
                    <a:lstStyle/>
                    <a:p>
                      <a:pPr algn="ctr" indent="0" marL="0">
                        <a:buNone/>
                      </a:pPr>
                      <a:r>
                        <a:rPr lang="en-US" sz="1400" b="1" dirty="0">
                          <a:solidFill>
                            <a:srgbClr val="2A4BDB"/>
                          </a:solidFill>
                          <a:latin typeface="Arial" pitchFamily="34" charset="0"/>
                          <a:ea typeface="Arial" pitchFamily="34" charset="-122"/>
                          <a:cs typeface="Arial" pitchFamily="34" charset="-120"/>
                        </a:rPr>
                        <a:t>0,9132</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c>
                  <a:txBody>
                    <a:bodyPr/>
                    <a:lstStyle/>
                    <a:p>
                      <a:pPr algn="ctr" indent="0" marL="0">
                        <a:buNone/>
                      </a:pPr>
                      <a:r>
                        <a:rPr lang="en-US" sz="1400" b="1" dirty="0">
                          <a:solidFill>
                            <a:srgbClr val="2A4BDB"/>
                          </a:solidFill>
                          <a:latin typeface="Arial" pitchFamily="34" charset="0"/>
                          <a:ea typeface="Arial" pitchFamily="34" charset="-122"/>
                          <a:cs typeface="Arial" pitchFamily="34" charset="-120"/>
                        </a:rPr>
                        <a:t>0,2341</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c>
                  <a:txBody>
                    <a:bodyPr/>
                    <a:lstStyle/>
                    <a:p>
                      <a:pPr algn="ctr" indent="0" marL="0">
                        <a:buNone/>
                      </a:pPr>
                      <a:r>
                        <a:rPr lang="en-US" sz="1400" b="1" dirty="0">
                          <a:solidFill>
                            <a:srgbClr val="2A4BDB"/>
                          </a:solidFill>
                          <a:latin typeface="Arial" pitchFamily="34" charset="0"/>
                          <a:ea typeface="Arial" pitchFamily="34" charset="-122"/>
                          <a:cs typeface="Arial" pitchFamily="34" charset="-120"/>
                        </a:rPr>
                        <a:t>−0,0013</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r>
              <a:tr h="457200">
                <a:tc>
                  <a:txBody>
                    <a:bodyPr/>
                    <a:lstStyle/>
                    <a:p>
                      <a:pPr algn="l" indent="0" marL="0">
                        <a:buNone/>
                      </a:pPr>
                      <a:r>
                        <a:rPr lang="en-US" sz="1400" dirty="0">
                          <a:solidFill>
                            <a:srgbClr val="222222"/>
                          </a:solidFill>
                          <a:latin typeface="Arial" pitchFamily="34" charset="0"/>
                          <a:ea typeface="Arial" pitchFamily="34" charset="-122"/>
                          <a:cs typeface="Arial" pitchFamily="34" charset="-120"/>
                        </a:rPr>
                        <a:t>Dropout 0.4</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0,9138</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0,2353</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−0,0069</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222222"/>
                          </a:solidFill>
                          <a:latin typeface="Arial" pitchFamily="34" charset="0"/>
                          <a:ea typeface="Arial" pitchFamily="34" charset="-122"/>
                          <a:cs typeface="Arial" pitchFamily="34" charset="-120"/>
                        </a:rPr>
                        <a:t>L2 0.001</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0,9130</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0,2459</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+0,0023</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r h="457200">
                <a:tc>
                  <a:txBody>
                    <a:bodyPr/>
                    <a:lstStyle/>
                    <a:p>
                      <a:pPr algn="l" indent="0" marL="0">
                        <a:buNone/>
                      </a:pPr>
                      <a:r>
                        <a:rPr lang="en-US" sz="1400" dirty="0">
                          <a:solidFill>
                            <a:srgbClr val="222222"/>
                          </a:solidFill>
                          <a:latin typeface="Arial" pitchFamily="34" charset="0"/>
                          <a:ea typeface="Arial" pitchFamily="34" charset="-122"/>
                          <a:cs typeface="Arial" pitchFamily="34" charset="-120"/>
                        </a:rPr>
                        <a:t>BatchNorm</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0,9120</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0,2423</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+0,0028</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222222"/>
                          </a:solidFill>
                          <a:latin typeface="Arial" pitchFamily="34" charset="0"/>
                          <a:ea typeface="Arial" pitchFamily="34" charset="-122"/>
                          <a:cs typeface="Arial" pitchFamily="34" charset="-120"/>
                        </a:rPr>
                        <a:t>Dropout + BN</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0,9131</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0,2355</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400" dirty="0">
                          <a:solidFill>
                            <a:srgbClr val="222222"/>
                          </a:solidFill>
                          <a:latin typeface="Arial" pitchFamily="34" charset="0"/>
                          <a:ea typeface="Arial" pitchFamily="34" charset="-122"/>
                          <a:cs typeface="Arial" pitchFamily="34" charset="-120"/>
                        </a:rPr>
                        <a:t>−0,0024</a:t>
                      </a:r>
                      <a:endParaRPr lang="en-US" sz="14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bl>
          </a:graphicData>
        </a:graphic>
      </p:graphicFrame>
      <p:sp>
        <p:nvSpPr>
          <p:cNvPr id="13" name="Shape 8"/>
          <p:cNvSpPr/>
          <p:nvPr/>
        </p:nvSpPr>
        <p:spPr>
          <a:xfrm>
            <a:off x="1508760" y="6766560"/>
            <a:ext cx="15910560" cy="2103120"/>
          </a:xfrm>
          <a:prstGeom prst="rect">
            <a:avLst/>
          </a:prstGeom>
          <a:solidFill>
            <a:srgbClr val="F4F6FA"/>
          </a:solidFill>
          <a:ln w="12700">
            <a:solidFill>
              <a:srgbClr val="D4D4D4"/>
            </a:solidFill>
            <a:prstDash val="solid"/>
          </a:ln>
        </p:spPr>
      </p:sp>
      <p:sp>
        <p:nvSpPr>
          <p:cNvPr id="14" name="Shape 9"/>
          <p:cNvSpPr/>
          <p:nvPr/>
        </p:nvSpPr>
        <p:spPr>
          <a:xfrm>
            <a:off x="1508760" y="6766560"/>
            <a:ext cx="15910560" cy="128016"/>
          </a:xfrm>
          <a:prstGeom prst="rect">
            <a:avLst/>
          </a:prstGeom>
          <a:solidFill>
            <a:srgbClr val="2A4BDB"/>
          </a:solidFill>
          <a:ln w="12700">
            <a:solidFill>
              <a:srgbClr val="2A4BDB"/>
            </a:solidFill>
            <a:prstDash val="solid"/>
          </a:ln>
        </p:spPr>
      </p:sp>
      <p:sp>
        <p:nvSpPr>
          <p:cNvPr id="15" name="Text 10"/>
          <p:cNvSpPr txBox="1"/>
          <p:nvPr/>
        </p:nvSpPr>
        <p:spPr>
          <a:xfrm>
            <a:off x="1828800" y="7086600"/>
            <a:ext cx="1536192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Hallazgo principal</a:t>
            </a:r>
            <a:endParaRPr lang="en-US" sz="2000" dirty="0"/>
          </a:p>
        </p:txBody>
      </p:sp>
      <p:sp>
        <p:nvSpPr>
          <p:cNvPr id="16" name="Text 11"/>
          <p:cNvSpPr txBox="1"/>
          <p:nvPr/>
        </p:nvSpPr>
        <p:spPr>
          <a:xfrm>
            <a:off x="1828800" y="7635240"/>
            <a:ext cx="15361920" cy="1051560"/>
          </a:xfrm>
          <a:prstGeom prst="rect">
            <a:avLst/>
          </a:prstGeom>
          <a:noFill/>
          <a:ln/>
        </p:spPr>
        <p:txBody>
          <a:bodyPr wrap="square" lIns="0" tIns="0" rIns="0" bIns="0" rtlCol="0" anchor="t"/>
          <a:lstStyle/>
          <a:p>
            <a:pPr indent="0" marL="0">
              <a:spcAft>
                <a:spcPts val="600"/>
              </a:spcAft>
              <a:buNone/>
            </a:pPr>
            <a:r>
              <a:rPr lang="en-US" sz="1600" dirty="0">
                <a:solidFill>
                  <a:srgbClr val="5A5A5A"/>
                </a:solidFill>
                <a:latin typeface="Arial" pitchFamily="34" charset="0"/>
                <a:ea typeface="Arial" pitchFamily="34" charset="-122"/>
                <a:cs typeface="Arial" pitchFamily="34" charset="-120"/>
              </a:rPr>
              <a:t>Las 6 variantes quedan en un rango de F1 de solo 0,0019, porque el sobreajuste de base ya era leve. Se elige Dropout 0.2: su diferencia con Dropout 0.4 (0,0006) está bajo el umbral de 0,005, y tiene el menor val_loss (probabilidades mejor calibradas) y la menor brecha absoluta. Las brechas negativas se deben a que la accuracy de entrenamiento se mide con neuronas apagadas.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Comparación de configuraciones</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48840"/>
            <a:ext cx="9784080" cy="4514836"/>
          </a:xfrm>
          <a:prstGeom prst="rect">
            <a:avLst/>
          </a:prstGeom>
          <a:solidFill>
            <a:srgbClr val="FFFFFF"/>
          </a:solidFill>
          <a:ln w="12700">
            <a:solidFill>
              <a:srgbClr val="D4D4D4"/>
            </a:solidFill>
            <a:prstDash val="solid"/>
          </a:ln>
        </p:spPr>
      </p:sp>
      <p:pic>
        <p:nvPicPr>
          <p:cNvPr id="10" name="Image 1" descr="/home/claude/ppt/assets/B_46_0.png">    </p:cNvPr>
          <p:cNvPicPr>
            <a:picLocks noChangeAspect="1"/>
          </p:cNvPicPr>
          <p:nvPr/>
        </p:nvPicPr>
        <p:blipFill>
          <a:blip r:embed="rId2"/>
          <a:stretch>
            <a:fillRect/>
          </a:stretch>
        </p:blipFill>
        <p:spPr>
          <a:xfrm>
            <a:off x="1645920" y="2286000"/>
            <a:ext cx="9509760" cy="4240516"/>
          </a:xfrm>
          <a:prstGeom prst="rect">
            <a:avLst/>
          </a:prstGeom>
        </p:spPr>
      </p:pic>
      <p:sp>
        <p:nvSpPr>
          <p:cNvPr id="11" name="Text 7"/>
          <p:cNvSpPr txBox="1"/>
          <p:nvPr/>
        </p:nvSpPr>
        <p:spPr>
          <a:xfrm>
            <a:off x="1508760" y="6766560"/>
            <a:ext cx="9784080" cy="411480"/>
          </a:xfrm>
          <a:prstGeom prst="rect">
            <a:avLst/>
          </a:prstGeom>
          <a:noFill/>
          <a:ln/>
        </p:spPr>
        <p:txBody>
          <a:bodyPr wrap="square" lIns="0" tIns="0" rIns="0" bIns="0" rtlCol="0" anchor="ctr"/>
          <a:lstStyle/>
          <a:p>
            <a:pPr indent="0" marL="0">
              <a:buNone/>
            </a:pPr>
            <a:r>
              <a:rPr lang="en-US" sz="1400" i="1" dirty="0">
                <a:solidFill>
                  <a:srgbClr val="5A5A5A"/>
                </a:solidFill>
                <a:latin typeface="Arial" pitchFamily="34" charset="0"/>
                <a:ea typeface="Arial" pitchFamily="34" charset="-122"/>
                <a:cs typeface="Arial" pitchFamily="34" charset="-120"/>
              </a:rPr>
              <a:t>Las 19 corridas del notebook principal; en naranja, la configuración seleccionada</a:t>
            </a:r>
            <a:endParaRPr lang="en-US" sz="1400" dirty="0"/>
          </a:p>
        </p:txBody>
      </p:sp>
      <p:sp>
        <p:nvSpPr>
          <p:cNvPr id="12" name="Text 8"/>
          <p:cNvSpPr txBox="1"/>
          <p:nvPr/>
        </p:nvSpPr>
        <p:spPr>
          <a:xfrm>
            <a:off x="11750040" y="2148840"/>
            <a:ext cx="566928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Contribución de cada ajuste</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1750040" y="2788920"/>
          <a:ext cx="5669280" cy="914400"/>
        </p:xfrm>
        <a:graphic>
          <a:graphicData uri="http://schemas.openxmlformats.org/drawingml/2006/table">
            <a:tbl>
              <a:tblPr/>
              <a:tblGrid>
                <a:gridCol w="2377440"/>
                <a:gridCol w="1554480"/>
                <a:gridCol w="1737360"/>
              </a:tblGrid>
              <a:tr h="457200">
                <a:tc>
                  <a:txBody>
                    <a:bodyPr/>
                    <a:lstStyle/>
                    <a:p>
                      <a:pPr algn="l" indent="0" marL="0">
                        <a:buNone/>
                      </a:pPr>
                      <a:r>
                        <a:rPr lang="en-US" sz="1500" b="1" dirty="0">
                          <a:solidFill>
                            <a:srgbClr val="FFFFFF"/>
                          </a:solidFill>
                          <a:latin typeface="Arial" pitchFamily="34" charset="0"/>
                          <a:ea typeface="Arial" pitchFamily="34" charset="-122"/>
                          <a:cs typeface="Arial" pitchFamily="34" charset="-120"/>
                        </a:rPr>
                        <a:t>Etapa</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F1</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Δ F1</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0,9076</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LR 0.0005</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0,9100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+0,0024</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Batch 256</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0,9129</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+0,0029</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Early Stopping</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0,9133</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+0,0004</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Dropout 0.2</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0,9132</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−0,0001</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bl>
          </a:graphicData>
        </a:graphic>
      </p:graphicFrame>
      <p:sp>
        <p:nvSpPr>
          <p:cNvPr id="14" name="Text 9"/>
          <p:cNvSpPr txBox="1"/>
          <p:nvPr/>
        </p:nvSpPr>
        <p:spPr>
          <a:xfrm>
            <a:off x="11750040" y="5760720"/>
            <a:ext cx="5669280" cy="1371600"/>
          </a:xfrm>
          <a:prstGeom prst="rect">
            <a:avLst/>
          </a:prstGeom>
          <a:noFill/>
          <a:ln/>
        </p:spPr>
        <p:txBody>
          <a:bodyPr wrap="square" lIns="0" tIns="0" rIns="0" bIns="0" rtlCol="0" anchor="t"/>
          <a:lstStyle/>
          <a:p>
            <a:pPr indent="0" marL="0">
              <a:buNone/>
            </a:pPr>
            <a:r>
              <a:rPr lang="en-US" sz="1500" i="1" dirty="0">
                <a:solidFill>
                  <a:srgbClr val="5A5A5A"/>
                </a:solidFill>
                <a:latin typeface="Arial" pitchFamily="34" charset="0"/>
                <a:ea typeface="Arial" pitchFamily="34" charset="-122"/>
                <a:cs typeface="Arial" pitchFamily="34" charset="-120"/>
              </a:rPr>
              <a:t>Criterio: F1 ponderado; ante diferencias menores a 0,005, menor val_loss y menor brecha; el costo solo como desempate.</a:t>
            </a:r>
            <a:endParaRPr lang="en-US" sz="1500" dirty="0"/>
          </a:p>
        </p:txBody>
      </p:sp>
      <p:sp>
        <p:nvSpPr>
          <p:cNvPr id="15" name="Shape 10"/>
          <p:cNvSpPr/>
          <p:nvPr/>
        </p:nvSpPr>
        <p:spPr>
          <a:xfrm>
            <a:off x="1508760" y="7406640"/>
            <a:ext cx="15910560" cy="1463040"/>
          </a:xfrm>
          <a:prstGeom prst="rect">
            <a:avLst/>
          </a:prstGeom>
          <a:solidFill>
            <a:srgbClr val="F4F6FA"/>
          </a:solidFill>
          <a:ln w="12700">
            <a:solidFill>
              <a:srgbClr val="D4D4D4"/>
            </a:solidFill>
            <a:prstDash val="solid"/>
          </a:ln>
        </p:spPr>
      </p:sp>
      <p:sp>
        <p:nvSpPr>
          <p:cNvPr id="16" name="Shape 11"/>
          <p:cNvSpPr/>
          <p:nvPr/>
        </p:nvSpPr>
        <p:spPr>
          <a:xfrm>
            <a:off x="1508760" y="7406640"/>
            <a:ext cx="15910560" cy="128016"/>
          </a:xfrm>
          <a:prstGeom prst="rect">
            <a:avLst/>
          </a:prstGeom>
          <a:solidFill>
            <a:srgbClr val="2A4BDB"/>
          </a:solidFill>
          <a:ln w="12700">
            <a:solidFill>
              <a:srgbClr val="2A4BDB"/>
            </a:solidFill>
            <a:prstDash val="solid"/>
          </a:ln>
        </p:spPr>
      </p:sp>
      <p:sp>
        <p:nvSpPr>
          <p:cNvPr id="17" name="Text 12"/>
          <p:cNvSpPr txBox="1"/>
          <p:nvPr/>
        </p:nvSpPr>
        <p:spPr>
          <a:xfrm>
            <a:off x="1828800" y="7726680"/>
            <a:ext cx="1536192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Lectura</a:t>
            </a:r>
            <a:endParaRPr lang="en-US" sz="2000" dirty="0"/>
          </a:p>
        </p:txBody>
      </p:sp>
      <p:sp>
        <p:nvSpPr>
          <p:cNvPr id="18" name="Text 13"/>
          <p:cNvSpPr txBox="1"/>
          <p:nvPr/>
        </p:nvSpPr>
        <p:spPr>
          <a:xfrm>
            <a:off x="1828800" y="8275320"/>
            <a:ext cx="15361920" cy="411480"/>
          </a:xfrm>
          <a:prstGeom prst="rect">
            <a:avLst/>
          </a:prstGeom>
          <a:noFill/>
          <a:ln/>
        </p:spPr>
        <p:txBody>
          <a:bodyPr wrap="square" lIns="0" tIns="0" rIns="0" bIns="0" rtlCol="0" anchor="t"/>
          <a:lstStyle/>
          <a:p>
            <a:pPr indent="0" marL="0">
              <a:spcAft>
                <a:spcPts val="600"/>
              </a:spcAft>
              <a:buNone/>
            </a:pPr>
            <a:r>
              <a:rPr lang="en-US" sz="1600" dirty="0">
                <a:solidFill>
                  <a:srgbClr val="5A5A5A"/>
                </a:solidFill>
                <a:latin typeface="Arial" pitchFamily="34" charset="0"/>
                <a:ea typeface="Arial" pitchFamily="34" charset="-122"/>
                <a:cs typeface="Arial" pitchFamily="34" charset="-120"/>
              </a:rPr>
              <a:t>El learning rate y el batch size explican +0,0053 de los +0,0056 puntos de mejora. La regularización no sube el F1, pero mejora la calibración y la generalización.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Optimizadores y arquitecturas</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48840"/>
            <a:ext cx="7772400" cy="2919431"/>
          </a:xfrm>
          <a:prstGeom prst="rect">
            <a:avLst/>
          </a:prstGeom>
          <a:solidFill>
            <a:srgbClr val="FFFFFF"/>
          </a:solidFill>
          <a:ln w="12700">
            <a:solidFill>
              <a:srgbClr val="D4D4D4"/>
            </a:solidFill>
            <a:prstDash val="solid"/>
          </a:ln>
        </p:spPr>
      </p:sp>
      <p:pic>
        <p:nvPicPr>
          <p:cNvPr id="10" name="Image 1" descr="/home/claude/ppt/assets/B_41_0.png">    </p:cNvPr>
          <p:cNvPicPr>
            <a:picLocks noChangeAspect="1"/>
          </p:cNvPicPr>
          <p:nvPr/>
        </p:nvPicPr>
        <p:blipFill>
          <a:blip r:embed="rId2"/>
          <a:stretch>
            <a:fillRect/>
          </a:stretch>
        </p:blipFill>
        <p:spPr>
          <a:xfrm>
            <a:off x="1645920" y="2286000"/>
            <a:ext cx="7498080" cy="2645111"/>
          </a:xfrm>
          <a:prstGeom prst="rect">
            <a:avLst/>
          </a:prstGeom>
        </p:spPr>
      </p:pic>
      <p:sp>
        <p:nvSpPr>
          <p:cNvPr id="11" name="Shape 7"/>
          <p:cNvSpPr/>
          <p:nvPr/>
        </p:nvSpPr>
        <p:spPr>
          <a:xfrm>
            <a:off x="9738360" y="2148840"/>
            <a:ext cx="7772400" cy="2917839"/>
          </a:xfrm>
          <a:prstGeom prst="rect">
            <a:avLst/>
          </a:prstGeom>
          <a:solidFill>
            <a:srgbClr val="FFFFFF"/>
          </a:solidFill>
          <a:ln w="12700">
            <a:solidFill>
              <a:srgbClr val="D4D4D4"/>
            </a:solidFill>
            <a:prstDash val="solid"/>
          </a:ln>
        </p:spPr>
      </p:sp>
      <p:pic>
        <p:nvPicPr>
          <p:cNvPr id="12" name="Image 2" descr="/home/claude/ppt/assets/A_19_0.png">    </p:cNvPr>
          <p:cNvPicPr>
            <a:picLocks noChangeAspect="1"/>
          </p:cNvPicPr>
          <p:nvPr/>
        </p:nvPicPr>
        <p:blipFill>
          <a:blip r:embed="rId3"/>
          <a:stretch>
            <a:fillRect/>
          </a:stretch>
        </p:blipFill>
        <p:spPr>
          <a:xfrm>
            <a:off x="9875520" y="2286000"/>
            <a:ext cx="7498080" cy="2643519"/>
          </a:xfrm>
          <a:prstGeom prst="rect">
            <a:avLst/>
          </a:prstGeom>
        </p:spPr>
      </p:pic>
      <p:sp>
        <p:nvSpPr>
          <p:cNvPr id="13" name="Shape 8"/>
          <p:cNvSpPr/>
          <p:nvPr/>
        </p:nvSpPr>
        <p:spPr>
          <a:xfrm>
            <a:off x="1508760" y="5532120"/>
            <a:ext cx="7772400" cy="3337560"/>
          </a:xfrm>
          <a:prstGeom prst="rect">
            <a:avLst/>
          </a:prstGeom>
          <a:solidFill>
            <a:srgbClr val="F4F6FA"/>
          </a:solidFill>
          <a:ln w="12700">
            <a:solidFill>
              <a:srgbClr val="D4D4D4"/>
            </a:solidFill>
            <a:prstDash val="solid"/>
          </a:ln>
        </p:spPr>
      </p:sp>
      <p:sp>
        <p:nvSpPr>
          <p:cNvPr id="14" name="Shape 9"/>
          <p:cNvSpPr/>
          <p:nvPr/>
        </p:nvSpPr>
        <p:spPr>
          <a:xfrm>
            <a:off x="1508760" y="5532120"/>
            <a:ext cx="7772400" cy="128016"/>
          </a:xfrm>
          <a:prstGeom prst="rect">
            <a:avLst/>
          </a:prstGeom>
          <a:solidFill>
            <a:srgbClr val="2A4BDB"/>
          </a:solidFill>
          <a:ln w="12700">
            <a:solidFill>
              <a:srgbClr val="2A4BDB"/>
            </a:solidFill>
            <a:prstDash val="solid"/>
          </a:ln>
        </p:spPr>
      </p:sp>
      <p:sp>
        <p:nvSpPr>
          <p:cNvPr id="15" name="Text 10"/>
          <p:cNvSpPr txBox="1"/>
          <p:nvPr/>
        </p:nvSpPr>
        <p:spPr>
          <a:xfrm>
            <a:off x="1828800" y="5852160"/>
            <a:ext cx="722376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Optimizadores (B5)</a:t>
            </a:r>
            <a:endParaRPr lang="en-US" sz="2000" dirty="0"/>
          </a:p>
        </p:txBody>
      </p:sp>
      <p:sp>
        <p:nvSpPr>
          <p:cNvPr id="16" name="Text 11"/>
          <p:cNvSpPr txBox="1"/>
          <p:nvPr/>
        </p:nvSpPr>
        <p:spPr>
          <a:xfrm>
            <a:off x="1828800" y="6400800"/>
            <a:ext cx="7223760" cy="2286000"/>
          </a:xfrm>
          <a:prstGeom prst="rect">
            <a:avLst/>
          </a:prstGeom>
          <a:noFill/>
          <a:ln/>
        </p:spPr>
        <p:txBody>
          <a:bodyPr wrap="square" lIns="0" tIns="0" rIns="0" bIns="0" rtlCol="0" anchor="t"/>
          <a:lstStyle/>
          <a:p>
            <a:pPr indent="0" marL="0">
              <a:spcAft>
                <a:spcPts val="600"/>
              </a:spcAft>
              <a:buNone/>
            </a:pPr>
            <a:r>
              <a:rPr lang="en-US" sz="1600" dirty="0">
                <a:solidFill>
                  <a:srgbClr val="5A5A5A"/>
                </a:solidFill>
                <a:latin typeface="Arial" pitchFamily="34" charset="0"/>
                <a:ea typeface="Arial" pitchFamily="34" charset="-122"/>
                <a:cs typeface="Arial" pitchFamily="34" charset="-120"/>
              </a:rPr>
              <a:t>Adam 0,9132 · RMSprop 0,9133 · SGD 0,9133</a:t>
            </a: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RMSprop converge un 24,5% más rápido; SGD no alcanza a converger en 100 épocas.</a:t>
            </a: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Se mantiene Adam: el learning rate, el batch y la regularización se calibraron con él.</a:t>
            </a:r>
            <a:endParaRPr lang="en-US" sz="1600" dirty="0"/>
          </a:p>
        </p:txBody>
      </p:sp>
      <p:sp>
        <p:nvSpPr>
          <p:cNvPr id="17" name="Shape 12"/>
          <p:cNvSpPr/>
          <p:nvPr/>
        </p:nvSpPr>
        <p:spPr>
          <a:xfrm>
            <a:off x="9738360" y="5532120"/>
            <a:ext cx="7772400" cy="3337560"/>
          </a:xfrm>
          <a:prstGeom prst="rect">
            <a:avLst/>
          </a:prstGeom>
          <a:solidFill>
            <a:srgbClr val="F4F6FA"/>
          </a:solidFill>
          <a:ln w="12700">
            <a:solidFill>
              <a:srgbClr val="D4D4D4"/>
            </a:solidFill>
            <a:prstDash val="solid"/>
          </a:ln>
        </p:spPr>
      </p:sp>
      <p:sp>
        <p:nvSpPr>
          <p:cNvPr id="18" name="Shape 13"/>
          <p:cNvSpPr/>
          <p:nvPr/>
        </p:nvSpPr>
        <p:spPr>
          <a:xfrm>
            <a:off x="9738360" y="5532120"/>
            <a:ext cx="7772400" cy="128016"/>
          </a:xfrm>
          <a:prstGeom prst="rect">
            <a:avLst/>
          </a:prstGeom>
          <a:solidFill>
            <a:srgbClr val="2A4BDB"/>
          </a:solidFill>
          <a:ln w="12700">
            <a:solidFill>
              <a:srgbClr val="2A4BDB"/>
            </a:solidFill>
            <a:prstDash val="solid"/>
          </a:ln>
        </p:spPr>
      </p:sp>
      <p:sp>
        <p:nvSpPr>
          <p:cNvPr id="19" name="Text 14"/>
          <p:cNvSpPr txBox="1"/>
          <p:nvPr/>
        </p:nvSpPr>
        <p:spPr>
          <a:xfrm>
            <a:off x="10058400" y="5852160"/>
            <a:ext cx="722376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Arquitecturas (A3)</a:t>
            </a:r>
            <a:endParaRPr lang="en-US" sz="2000" dirty="0"/>
          </a:p>
        </p:txBody>
      </p:sp>
      <p:sp>
        <p:nvSpPr>
          <p:cNvPr id="20" name="Text 15"/>
          <p:cNvSpPr txBox="1"/>
          <p:nvPr/>
        </p:nvSpPr>
        <p:spPr>
          <a:xfrm>
            <a:off x="10058400" y="6400800"/>
            <a:ext cx="7223760" cy="2286000"/>
          </a:xfrm>
          <a:prstGeom prst="rect">
            <a:avLst/>
          </a:prstGeom>
          <a:noFill/>
          <a:ln/>
        </p:spPr>
        <p:txBody>
          <a:bodyPr wrap="square" lIns="0" tIns="0" rIns="0" bIns="0" rtlCol="0" anchor="t"/>
          <a:lstStyle/>
          <a:p>
            <a:pPr indent="0" marL="0">
              <a:spcAft>
                <a:spcPts val="600"/>
              </a:spcAft>
              <a:buNone/>
            </a:pPr>
            <a:r>
              <a:rPr lang="en-US" sz="1600" dirty="0">
                <a:solidFill>
                  <a:srgbClr val="5A5A5A"/>
                </a:solidFill>
                <a:latin typeface="Arial" pitchFamily="34" charset="0"/>
                <a:ea typeface="Arial" pitchFamily="34" charset="-122"/>
                <a:cs typeface="Arial" pitchFamily="34" charset="-120"/>
              </a:rPr>
              <a:t>64 · 64-32 · 128-64-32 · 256-128</a:t>
            </a: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Con 22 veces más parámetros, el F1 varía solo 0,0009 y la brecha se mantiene mínima.</a:t>
            </a: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Se mantiene 64-32: ninguna la supera en más de 0,005 y es la base de la calibración.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Modelo final frente al baseline</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2240280" y="2103120"/>
            <a:ext cx="14447520" cy="4935305"/>
          </a:xfrm>
          <a:prstGeom prst="rect">
            <a:avLst/>
          </a:prstGeom>
          <a:solidFill>
            <a:srgbClr val="FFFFFF"/>
          </a:solidFill>
          <a:ln w="12700">
            <a:solidFill>
              <a:srgbClr val="D4D4D4"/>
            </a:solidFill>
            <a:prstDash val="solid"/>
          </a:ln>
        </p:spPr>
      </p:sp>
      <p:pic>
        <p:nvPicPr>
          <p:cNvPr id="10" name="Image 1" descr="/home/claude/ppt/assets/B_53_0.png">    </p:cNvPr>
          <p:cNvPicPr>
            <a:picLocks noChangeAspect="1"/>
          </p:cNvPicPr>
          <p:nvPr/>
        </p:nvPicPr>
        <p:blipFill>
          <a:blip r:embed="rId2"/>
          <a:stretch>
            <a:fillRect/>
          </a:stretch>
        </p:blipFill>
        <p:spPr>
          <a:xfrm>
            <a:off x="2377440" y="2240280"/>
            <a:ext cx="14173200" cy="4660985"/>
          </a:xfrm>
          <a:prstGeom prst="rect">
            <a:avLst/>
          </a:prstGeom>
        </p:spPr>
      </p:pic>
      <p:sp>
        <p:nvSpPr>
          <p:cNvPr id="11" name="Shape 7"/>
          <p:cNvSpPr/>
          <p:nvPr/>
        </p:nvSpPr>
        <p:spPr>
          <a:xfrm>
            <a:off x="1508760" y="7269480"/>
            <a:ext cx="3703320" cy="1920240"/>
          </a:xfrm>
          <a:prstGeom prst="rect">
            <a:avLst/>
          </a:prstGeom>
          <a:solidFill>
            <a:srgbClr val="F4F6FA"/>
          </a:solidFill>
          <a:ln w="12700">
            <a:solidFill>
              <a:srgbClr val="D4D4D4"/>
            </a:solidFill>
            <a:prstDash val="solid"/>
          </a:ln>
        </p:spPr>
      </p:sp>
      <p:sp>
        <p:nvSpPr>
          <p:cNvPr id="12" name="Shape 8"/>
          <p:cNvSpPr/>
          <p:nvPr/>
        </p:nvSpPr>
        <p:spPr>
          <a:xfrm>
            <a:off x="1508760" y="7269480"/>
            <a:ext cx="3703320" cy="128016"/>
          </a:xfrm>
          <a:prstGeom prst="rect">
            <a:avLst/>
          </a:prstGeom>
          <a:solidFill>
            <a:srgbClr val="2A4BDB"/>
          </a:solidFill>
          <a:ln w="12700">
            <a:solidFill>
              <a:srgbClr val="2A4BDB"/>
            </a:solidFill>
            <a:prstDash val="solid"/>
          </a:ln>
        </p:spPr>
      </p:sp>
      <p:sp>
        <p:nvSpPr>
          <p:cNvPr id="13" name="Text 9"/>
          <p:cNvSpPr txBox="1"/>
          <p:nvPr/>
        </p:nvSpPr>
        <p:spPr>
          <a:xfrm>
            <a:off x="1783080" y="7543800"/>
            <a:ext cx="3246120" cy="731520"/>
          </a:xfrm>
          <a:prstGeom prst="rect">
            <a:avLst/>
          </a:prstGeom>
          <a:noFill/>
          <a:ln/>
        </p:spPr>
        <p:txBody>
          <a:bodyPr wrap="square" lIns="0" tIns="0" rIns="0" bIns="0" rtlCol="0" anchor="ctr"/>
          <a:lstStyle/>
          <a:p>
            <a:pPr indent="0" marL="0">
              <a:buNone/>
            </a:pPr>
            <a:r>
              <a:rPr lang="en-US" sz="3400" b="1" dirty="0">
                <a:solidFill>
                  <a:srgbClr val="2A4BDB"/>
                </a:solidFill>
                <a:latin typeface="Arial" pitchFamily="34" charset="0"/>
                <a:ea typeface="Arial" pitchFamily="34" charset="-122"/>
                <a:cs typeface="Arial" pitchFamily="34" charset="-120"/>
              </a:rPr>
              <a:t>+0,0056</a:t>
            </a:r>
            <a:endParaRPr lang="en-US" sz="3400" dirty="0"/>
          </a:p>
        </p:txBody>
      </p:sp>
      <p:sp>
        <p:nvSpPr>
          <p:cNvPr id="14" name="Text 10"/>
          <p:cNvSpPr txBox="1"/>
          <p:nvPr/>
        </p:nvSpPr>
        <p:spPr>
          <a:xfrm>
            <a:off x="1783080" y="8293608"/>
            <a:ext cx="3246120" cy="384048"/>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F1 validación</a:t>
            </a:r>
            <a:endParaRPr lang="en-US" sz="1700" dirty="0"/>
          </a:p>
        </p:txBody>
      </p:sp>
      <p:sp>
        <p:nvSpPr>
          <p:cNvPr id="15" name="Text 11"/>
          <p:cNvSpPr txBox="1"/>
          <p:nvPr/>
        </p:nvSpPr>
        <p:spPr>
          <a:xfrm>
            <a:off x="1783080" y="8686800"/>
            <a:ext cx="3246120" cy="365760"/>
          </a:xfrm>
          <a:prstGeom prst="rect">
            <a:avLst/>
          </a:prstGeom>
          <a:noFill/>
          <a:ln/>
        </p:spPr>
        <p:txBody>
          <a:bodyPr wrap="square" lIns="0" tIns="0" rIns="0" bIns="0" rtlCol="0" anchor="ctr"/>
          <a:lstStyle/>
          <a:p>
            <a:pPr indent="0" marL="0">
              <a:buNone/>
            </a:pPr>
            <a:r>
              <a:rPr lang="en-US" sz="1300" dirty="0">
                <a:solidFill>
                  <a:srgbClr val="5A5A5A"/>
                </a:solidFill>
                <a:latin typeface="Arial" pitchFamily="34" charset="0"/>
                <a:ea typeface="Arial" pitchFamily="34" charset="-122"/>
                <a:cs typeface="Arial" pitchFamily="34" charset="-120"/>
              </a:rPr>
              <a:t>0,9076 → 0,9132</a:t>
            </a:r>
            <a:endParaRPr lang="en-US" sz="1300" dirty="0"/>
          </a:p>
        </p:txBody>
      </p:sp>
      <p:sp>
        <p:nvSpPr>
          <p:cNvPr id="16" name="Shape 12"/>
          <p:cNvSpPr/>
          <p:nvPr/>
        </p:nvSpPr>
        <p:spPr>
          <a:xfrm>
            <a:off x="5532120" y="7269480"/>
            <a:ext cx="3703320" cy="1920240"/>
          </a:xfrm>
          <a:prstGeom prst="rect">
            <a:avLst/>
          </a:prstGeom>
          <a:solidFill>
            <a:srgbClr val="F4F6FA"/>
          </a:solidFill>
          <a:ln w="12700">
            <a:solidFill>
              <a:srgbClr val="D4D4D4"/>
            </a:solidFill>
            <a:prstDash val="solid"/>
          </a:ln>
        </p:spPr>
      </p:sp>
      <p:sp>
        <p:nvSpPr>
          <p:cNvPr id="17" name="Shape 13"/>
          <p:cNvSpPr/>
          <p:nvPr/>
        </p:nvSpPr>
        <p:spPr>
          <a:xfrm>
            <a:off x="5532120" y="7269480"/>
            <a:ext cx="3703320" cy="128016"/>
          </a:xfrm>
          <a:prstGeom prst="rect">
            <a:avLst/>
          </a:prstGeom>
          <a:solidFill>
            <a:srgbClr val="2A4BDB"/>
          </a:solidFill>
          <a:ln w="12700">
            <a:solidFill>
              <a:srgbClr val="2A4BDB"/>
            </a:solidFill>
            <a:prstDash val="solid"/>
          </a:ln>
        </p:spPr>
      </p:sp>
      <p:sp>
        <p:nvSpPr>
          <p:cNvPr id="18" name="Text 14"/>
          <p:cNvSpPr txBox="1"/>
          <p:nvPr/>
        </p:nvSpPr>
        <p:spPr>
          <a:xfrm>
            <a:off x="5806440" y="7543800"/>
            <a:ext cx="3246120" cy="731520"/>
          </a:xfrm>
          <a:prstGeom prst="rect">
            <a:avLst/>
          </a:prstGeom>
          <a:noFill/>
          <a:ln/>
        </p:spPr>
        <p:txBody>
          <a:bodyPr wrap="square" lIns="0" tIns="0" rIns="0" bIns="0" rtlCol="0" anchor="ctr"/>
          <a:lstStyle/>
          <a:p>
            <a:pPr indent="0" marL="0">
              <a:buNone/>
            </a:pPr>
            <a:r>
              <a:rPr lang="en-US" sz="3400" b="1" dirty="0">
                <a:solidFill>
                  <a:srgbClr val="2A4BDB"/>
                </a:solidFill>
                <a:latin typeface="Arial" pitchFamily="34" charset="0"/>
                <a:ea typeface="Arial" pitchFamily="34" charset="-122"/>
                <a:cs typeface="Arial" pitchFamily="34" charset="-120"/>
              </a:rPr>
              <a:t>−2,8%</a:t>
            </a:r>
            <a:endParaRPr lang="en-US" sz="3400" dirty="0"/>
          </a:p>
        </p:txBody>
      </p:sp>
      <p:sp>
        <p:nvSpPr>
          <p:cNvPr id="19" name="Text 15"/>
          <p:cNvSpPr txBox="1"/>
          <p:nvPr/>
        </p:nvSpPr>
        <p:spPr>
          <a:xfrm>
            <a:off x="5806440" y="8293608"/>
            <a:ext cx="3246120" cy="384048"/>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val_loss mínima</a:t>
            </a:r>
            <a:endParaRPr lang="en-US" sz="1700" dirty="0"/>
          </a:p>
        </p:txBody>
      </p:sp>
      <p:sp>
        <p:nvSpPr>
          <p:cNvPr id="20" name="Text 16"/>
          <p:cNvSpPr txBox="1"/>
          <p:nvPr/>
        </p:nvSpPr>
        <p:spPr>
          <a:xfrm>
            <a:off x="5806440" y="8686800"/>
            <a:ext cx="3246120" cy="365760"/>
          </a:xfrm>
          <a:prstGeom prst="rect">
            <a:avLst/>
          </a:prstGeom>
          <a:noFill/>
          <a:ln/>
        </p:spPr>
        <p:txBody>
          <a:bodyPr wrap="square" lIns="0" tIns="0" rIns="0" bIns="0" rtlCol="0" anchor="ctr"/>
          <a:lstStyle/>
          <a:p>
            <a:pPr indent="0" marL="0">
              <a:buNone/>
            </a:pPr>
            <a:r>
              <a:rPr lang="en-US" sz="1300" dirty="0">
                <a:solidFill>
                  <a:srgbClr val="5A5A5A"/>
                </a:solidFill>
                <a:latin typeface="Arial" pitchFamily="34" charset="0"/>
                <a:ea typeface="Arial" pitchFamily="34" charset="-122"/>
                <a:cs typeface="Arial" pitchFamily="34" charset="-120"/>
              </a:rPr>
              <a:t>0,2409 → 0,2341</a:t>
            </a:r>
            <a:endParaRPr lang="en-US" sz="1300" dirty="0"/>
          </a:p>
        </p:txBody>
      </p:sp>
      <p:sp>
        <p:nvSpPr>
          <p:cNvPr id="21" name="Shape 17"/>
          <p:cNvSpPr/>
          <p:nvPr/>
        </p:nvSpPr>
        <p:spPr>
          <a:xfrm>
            <a:off x="9555480" y="7269480"/>
            <a:ext cx="3703320" cy="1920240"/>
          </a:xfrm>
          <a:prstGeom prst="rect">
            <a:avLst/>
          </a:prstGeom>
          <a:solidFill>
            <a:srgbClr val="F4F6FA"/>
          </a:solidFill>
          <a:ln w="12700">
            <a:solidFill>
              <a:srgbClr val="D4D4D4"/>
            </a:solidFill>
            <a:prstDash val="solid"/>
          </a:ln>
        </p:spPr>
      </p:sp>
      <p:sp>
        <p:nvSpPr>
          <p:cNvPr id="22" name="Shape 18"/>
          <p:cNvSpPr/>
          <p:nvPr/>
        </p:nvSpPr>
        <p:spPr>
          <a:xfrm>
            <a:off x="9555480" y="7269480"/>
            <a:ext cx="3703320" cy="128016"/>
          </a:xfrm>
          <a:prstGeom prst="rect">
            <a:avLst/>
          </a:prstGeom>
          <a:solidFill>
            <a:srgbClr val="2A4BDB"/>
          </a:solidFill>
          <a:ln w="12700">
            <a:solidFill>
              <a:srgbClr val="2A4BDB"/>
            </a:solidFill>
            <a:prstDash val="solid"/>
          </a:ln>
        </p:spPr>
      </p:sp>
      <p:sp>
        <p:nvSpPr>
          <p:cNvPr id="23" name="Text 19"/>
          <p:cNvSpPr txBox="1"/>
          <p:nvPr/>
        </p:nvSpPr>
        <p:spPr>
          <a:xfrm>
            <a:off x="9829800" y="7543800"/>
            <a:ext cx="3246120" cy="731520"/>
          </a:xfrm>
          <a:prstGeom prst="rect">
            <a:avLst/>
          </a:prstGeom>
          <a:noFill/>
          <a:ln/>
        </p:spPr>
        <p:txBody>
          <a:bodyPr wrap="square" lIns="0" tIns="0" rIns="0" bIns="0" rtlCol="0" anchor="ctr"/>
          <a:lstStyle/>
          <a:p>
            <a:pPr indent="0" marL="0">
              <a:buNone/>
            </a:pPr>
            <a:r>
              <a:rPr lang="en-US" sz="3400" b="1" dirty="0">
                <a:solidFill>
                  <a:srgbClr val="2A4BDB"/>
                </a:solidFill>
                <a:latin typeface="Arial" pitchFamily="34" charset="0"/>
                <a:ea typeface="Arial" pitchFamily="34" charset="-122"/>
                <a:cs typeface="Arial" pitchFamily="34" charset="-120"/>
              </a:rPr>
              <a:t>−0,0013</a:t>
            </a:r>
            <a:endParaRPr lang="en-US" sz="3400" dirty="0"/>
          </a:p>
        </p:txBody>
      </p:sp>
      <p:sp>
        <p:nvSpPr>
          <p:cNvPr id="24" name="Text 20"/>
          <p:cNvSpPr txBox="1"/>
          <p:nvPr/>
        </p:nvSpPr>
        <p:spPr>
          <a:xfrm>
            <a:off x="9829800" y="8293608"/>
            <a:ext cx="3246120" cy="384048"/>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Brecha train-val</a:t>
            </a:r>
            <a:endParaRPr lang="en-US" sz="1700" dirty="0"/>
          </a:p>
        </p:txBody>
      </p:sp>
      <p:sp>
        <p:nvSpPr>
          <p:cNvPr id="25" name="Text 21"/>
          <p:cNvSpPr txBox="1"/>
          <p:nvPr/>
        </p:nvSpPr>
        <p:spPr>
          <a:xfrm>
            <a:off x="9829800" y="8686800"/>
            <a:ext cx="3246120" cy="365760"/>
          </a:xfrm>
          <a:prstGeom prst="rect">
            <a:avLst/>
          </a:prstGeom>
          <a:noFill/>
          <a:ln/>
        </p:spPr>
        <p:txBody>
          <a:bodyPr wrap="square" lIns="0" tIns="0" rIns="0" bIns="0" rtlCol="0" anchor="ctr"/>
          <a:lstStyle/>
          <a:p>
            <a:pPr indent="0" marL="0">
              <a:buNone/>
            </a:pPr>
            <a:r>
              <a:rPr lang="en-US" sz="1300" dirty="0">
                <a:solidFill>
                  <a:srgbClr val="5A5A5A"/>
                </a:solidFill>
                <a:latin typeface="Arial" pitchFamily="34" charset="0"/>
                <a:ea typeface="Arial" pitchFamily="34" charset="-122"/>
                <a:cs typeface="Arial" pitchFamily="34" charset="-120"/>
              </a:rPr>
              <a:t>desde +0,0126</a:t>
            </a:r>
            <a:endParaRPr lang="en-US" sz="1300" dirty="0"/>
          </a:p>
        </p:txBody>
      </p:sp>
      <p:sp>
        <p:nvSpPr>
          <p:cNvPr id="26" name="Shape 22"/>
          <p:cNvSpPr/>
          <p:nvPr/>
        </p:nvSpPr>
        <p:spPr>
          <a:xfrm>
            <a:off x="13578840" y="7269480"/>
            <a:ext cx="3703320" cy="1920240"/>
          </a:xfrm>
          <a:prstGeom prst="rect">
            <a:avLst/>
          </a:prstGeom>
          <a:solidFill>
            <a:srgbClr val="F4F6FA"/>
          </a:solidFill>
          <a:ln w="12700">
            <a:solidFill>
              <a:srgbClr val="D4D4D4"/>
            </a:solidFill>
            <a:prstDash val="solid"/>
          </a:ln>
        </p:spPr>
      </p:sp>
      <p:sp>
        <p:nvSpPr>
          <p:cNvPr id="27" name="Shape 23"/>
          <p:cNvSpPr/>
          <p:nvPr/>
        </p:nvSpPr>
        <p:spPr>
          <a:xfrm>
            <a:off x="13578840" y="7269480"/>
            <a:ext cx="3703320" cy="128016"/>
          </a:xfrm>
          <a:prstGeom prst="rect">
            <a:avLst/>
          </a:prstGeom>
          <a:solidFill>
            <a:srgbClr val="2A4BDB"/>
          </a:solidFill>
          <a:ln w="12700">
            <a:solidFill>
              <a:srgbClr val="2A4BDB"/>
            </a:solidFill>
            <a:prstDash val="solid"/>
          </a:ln>
        </p:spPr>
      </p:sp>
      <p:sp>
        <p:nvSpPr>
          <p:cNvPr id="28" name="Text 24"/>
          <p:cNvSpPr txBox="1"/>
          <p:nvPr/>
        </p:nvSpPr>
        <p:spPr>
          <a:xfrm>
            <a:off x="13853160" y="7543800"/>
            <a:ext cx="3246120" cy="731520"/>
          </a:xfrm>
          <a:prstGeom prst="rect">
            <a:avLst/>
          </a:prstGeom>
          <a:noFill/>
          <a:ln/>
        </p:spPr>
        <p:txBody>
          <a:bodyPr wrap="square" lIns="0" tIns="0" rIns="0" bIns="0" rtlCol="0" anchor="ctr"/>
          <a:lstStyle/>
          <a:p>
            <a:pPr indent="0" marL="0">
              <a:buNone/>
            </a:pPr>
            <a:r>
              <a:rPr lang="en-US" sz="3400" b="1" dirty="0">
                <a:solidFill>
                  <a:srgbClr val="2A4BDB"/>
                </a:solidFill>
                <a:latin typeface="Arial" pitchFamily="34" charset="0"/>
                <a:ea typeface="Arial" pitchFamily="34" charset="-122"/>
                <a:cs typeface="Arial" pitchFamily="34" charset="-120"/>
              </a:rPr>
              <a:t>≈ 5×</a:t>
            </a:r>
            <a:endParaRPr lang="en-US" sz="3400" dirty="0"/>
          </a:p>
        </p:txBody>
      </p:sp>
      <p:sp>
        <p:nvSpPr>
          <p:cNvPr id="29" name="Text 25"/>
          <p:cNvSpPr txBox="1"/>
          <p:nvPr/>
        </p:nvSpPr>
        <p:spPr>
          <a:xfrm>
            <a:off x="13853160" y="8293608"/>
            <a:ext cx="3246120" cy="384048"/>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Más rápido</a:t>
            </a:r>
            <a:endParaRPr lang="en-US" sz="1700" dirty="0"/>
          </a:p>
        </p:txBody>
      </p:sp>
      <p:sp>
        <p:nvSpPr>
          <p:cNvPr id="30" name="Text 26"/>
          <p:cNvSpPr txBox="1"/>
          <p:nvPr/>
        </p:nvSpPr>
        <p:spPr>
          <a:xfrm>
            <a:off x="13853160" y="8686800"/>
            <a:ext cx="3246120" cy="365760"/>
          </a:xfrm>
          <a:prstGeom prst="rect">
            <a:avLst/>
          </a:prstGeom>
          <a:noFill/>
          <a:ln/>
        </p:spPr>
        <p:txBody>
          <a:bodyPr wrap="square" lIns="0" tIns="0" rIns="0" bIns="0" rtlCol="0" anchor="ctr"/>
          <a:lstStyle/>
          <a:p>
            <a:pPr indent="0" marL="0">
              <a:buNone/>
            </a:pPr>
            <a:r>
              <a:rPr lang="en-US" sz="1300" dirty="0">
                <a:solidFill>
                  <a:srgbClr val="5A5A5A"/>
                </a:solidFill>
                <a:latin typeface="Arial" pitchFamily="34" charset="0"/>
                <a:ea typeface="Arial" pitchFamily="34" charset="-122"/>
                <a:cs typeface="Arial" pitchFamily="34" charset="-120"/>
              </a:rPr>
              <a:t>152 s → 31 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p:bgPr>
    </p:bg>
    <p:spTree>
      <p:nvGrpSpPr>
        <p:cNvPr id="1" name=""/>
        <p:cNvGrpSpPr/>
        <p:nvPr/>
      </p:nvGrpSpPr>
      <p:grpSpPr>
        <a:xfrm>
          <a:off x="0" y="0"/>
          <a:ext cx="0" cy="0"/>
          <a:chOff x="0" y="0"/>
          <a:chExt cx="0" cy="0"/>
        </a:xfrm>
      </p:grpSpPr>
      <p:pic>
        <p:nvPicPr>
          <p:cNvPr id="2" name="Image 0" descr="/home/claude/ppt/assets/sec3.jpg">    </p:cNvPr>
          <p:cNvPicPr>
            <a:picLocks noChangeAspect="1"/>
          </p:cNvPicPr>
          <p:nvPr/>
        </p:nvPicPr>
        <p:blipFill>
          <a:blip r:embed="rId1"/>
          <a:srcRect l="0" r="0" t="0" b="0"/>
          <a:stretch/>
        </p:blipFill>
        <p:spPr>
          <a:xfrm>
            <a:off x="0" y="0"/>
            <a:ext cx="18288000" cy="10287000"/>
          </a:xfrm>
          <a:prstGeom prst="rect">
            <a:avLst/>
          </a:prstGeom>
        </p:spPr>
      </p:pic>
      <p:sp>
        <p:nvSpPr>
          <p:cNvPr id="3" name="Shape 0"/>
          <p:cNvSpPr/>
          <p:nvPr/>
        </p:nvSpPr>
        <p:spPr>
          <a:xfrm>
            <a:off x="10058400" y="3291840"/>
            <a:ext cx="8229600" cy="4023360"/>
          </a:xfrm>
          <a:prstGeom prst="rect">
            <a:avLst/>
          </a:prstGeom>
          <a:solidFill>
            <a:srgbClr val="0D0D0D">
              <a:alpha val="60000"/>
            </a:srgbClr>
          </a:solidFill>
          <a:ln w="12700">
            <a:solidFill>
              <a:srgbClr val="0D0D0D">
                <a:alpha val="0"/>
              </a:srgbClr>
            </a:solidFill>
            <a:prstDash val="solid"/>
          </a:ln>
        </p:spPr>
      </p:sp>
      <p:sp>
        <p:nvSpPr>
          <p:cNvPr id="4" name="Shape 1"/>
          <p:cNvSpPr/>
          <p:nvPr/>
        </p:nvSpPr>
        <p:spPr>
          <a:xfrm>
            <a:off x="10332720" y="2834640"/>
            <a:ext cx="457200" cy="457200"/>
          </a:xfrm>
          <a:prstGeom prst="rect">
            <a:avLst/>
          </a:prstGeom>
          <a:solidFill>
            <a:srgbClr val="2A4BDB"/>
          </a:solidFill>
          <a:ln w="12700">
            <a:solidFill>
              <a:srgbClr val="2A4BDB"/>
            </a:solidFill>
            <a:prstDash val="solid"/>
          </a:ln>
        </p:spPr>
      </p:sp>
      <p:sp>
        <p:nvSpPr>
          <p:cNvPr id="5" name="Shape 2"/>
          <p:cNvSpPr/>
          <p:nvPr/>
        </p:nvSpPr>
        <p:spPr>
          <a:xfrm>
            <a:off x="0" y="3886200"/>
            <a:ext cx="2057400" cy="2468880"/>
          </a:xfrm>
          <a:prstGeom prst="rect">
            <a:avLst/>
          </a:prstGeom>
          <a:solidFill>
            <a:srgbClr val="2A4BDB"/>
          </a:solidFill>
          <a:ln w="12700">
            <a:solidFill>
              <a:srgbClr val="2A4BDB"/>
            </a:solidFill>
            <a:prstDash val="solid"/>
          </a:ln>
        </p:spPr>
      </p:sp>
      <p:sp>
        <p:nvSpPr>
          <p:cNvPr id="6" name="Text 3"/>
          <p:cNvSpPr txBox="1"/>
          <p:nvPr/>
        </p:nvSpPr>
        <p:spPr>
          <a:xfrm>
            <a:off x="0" y="3886200"/>
            <a:ext cx="2057400" cy="2468880"/>
          </a:xfrm>
          <a:prstGeom prst="rect">
            <a:avLst/>
          </a:prstGeom>
          <a:noFill/>
          <a:ln/>
        </p:spPr>
        <p:txBody>
          <a:bodyPr wrap="square" lIns="0" tIns="0" rIns="0" bIns="0" rtlCol="0" anchor="ctr"/>
          <a:lstStyle/>
          <a:p>
            <a:pPr algn="ctr" indent="0" marL="0">
              <a:buNone/>
            </a:pPr>
            <a:r>
              <a:rPr lang="en-US" sz="6400" b="1" dirty="0">
                <a:solidFill>
                  <a:srgbClr val="FFFFFF"/>
                </a:solidFill>
                <a:latin typeface="Arial" pitchFamily="34" charset="0"/>
                <a:ea typeface="Arial" pitchFamily="34" charset="-122"/>
                <a:cs typeface="Arial" pitchFamily="34" charset="-120"/>
              </a:rPr>
              <a:t>03</a:t>
            </a:r>
            <a:endParaRPr lang="en-US" sz="6400" dirty="0"/>
          </a:p>
        </p:txBody>
      </p:sp>
      <p:sp>
        <p:nvSpPr>
          <p:cNvPr id="7" name="Text 4"/>
          <p:cNvSpPr txBox="1"/>
          <p:nvPr/>
        </p:nvSpPr>
        <p:spPr>
          <a:xfrm>
            <a:off x="10744200" y="3931920"/>
            <a:ext cx="7132320" cy="2743200"/>
          </a:xfrm>
          <a:prstGeom prst="rect">
            <a:avLst/>
          </a:prstGeom>
          <a:noFill/>
          <a:ln/>
        </p:spPr>
        <p:txBody>
          <a:bodyPr wrap="square" lIns="0" tIns="0" rIns="0" bIns="0" rtlCol="0" anchor="ctr"/>
          <a:lstStyle/>
          <a:p>
            <a:pPr indent="0" marL="0">
              <a:buNone/>
            </a:pPr>
            <a:r>
              <a:rPr lang="en-US" sz="4000" b="1" i="1" dirty="0">
                <a:solidFill>
                  <a:srgbClr val="FFFFFF"/>
                </a:solidFill>
                <a:latin typeface="Arial" pitchFamily="34" charset="0"/>
                <a:ea typeface="Arial" pitchFamily="34" charset="-122"/>
                <a:cs typeface="Arial" pitchFamily="34" charset="-120"/>
              </a:rPr>
              <a:t>Resultados y</a:t>
            </a:r>
            <a:endParaRPr lang="en-US" sz="4000" dirty="0"/>
          </a:p>
          <a:p>
            <a:pPr indent="0" marL="0">
              <a:buNone/>
            </a:pPr>
            <a:r>
              <a:rPr lang="en-US" sz="4000" b="1" i="1" dirty="0">
                <a:solidFill>
                  <a:srgbClr val="FFFFFF"/>
                </a:solidFill>
                <a:latin typeface="Arial" pitchFamily="34" charset="0"/>
                <a:ea typeface="Arial" pitchFamily="34" charset="-122"/>
                <a:cs typeface="Arial" pitchFamily="34" charset="-120"/>
              </a:rPr>
              <a:t>conclusiones</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Resultados en test</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48840"/>
            <a:ext cx="3703320" cy="1874520"/>
          </a:xfrm>
          <a:prstGeom prst="rect">
            <a:avLst/>
          </a:prstGeom>
          <a:solidFill>
            <a:srgbClr val="F4F6FA"/>
          </a:solidFill>
          <a:ln w="12700">
            <a:solidFill>
              <a:srgbClr val="D4D4D4"/>
            </a:solidFill>
            <a:prstDash val="solid"/>
          </a:ln>
        </p:spPr>
      </p:sp>
      <p:sp>
        <p:nvSpPr>
          <p:cNvPr id="10" name="Shape 7"/>
          <p:cNvSpPr/>
          <p:nvPr/>
        </p:nvSpPr>
        <p:spPr>
          <a:xfrm>
            <a:off x="1508760" y="2148840"/>
            <a:ext cx="3703320" cy="128016"/>
          </a:xfrm>
          <a:prstGeom prst="rect">
            <a:avLst/>
          </a:prstGeom>
          <a:solidFill>
            <a:srgbClr val="2A4BDB"/>
          </a:solidFill>
          <a:ln w="12700">
            <a:solidFill>
              <a:srgbClr val="2A4BDB"/>
            </a:solidFill>
            <a:prstDash val="solid"/>
          </a:ln>
        </p:spPr>
      </p:sp>
      <p:sp>
        <p:nvSpPr>
          <p:cNvPr id="11" name="Text 8"/>
          <p:cNvSpPr txBox="1"/>
          <p:nvPr/>
        </p:nvSpPr>
        <p:spPr>
          <a:xfrm>
            <a:off x="1828800" y="2468880"/>
            <a:ext cx="3154680" cy="868680"/>
          </a:xfrm>
          <a:prstGeom prst="rect">
            <a:avLst/>
          </a:prstGeom>
          <a:noFill/>
          <a:ln/>
        </p:spPr>
        <p:txBody>
          <a:bodyPr wrap="square" lIns="0" tIns="0" rIns="0" bIns="0" rtlCol="0" anchor="ctr"/>
          <a:lstStyle/>
          <a:p>
            <a:pPr indent="0" marL="0">
              <a:buNone/>
            </a:pPr>
            <a:r>
              <a:rPr lang="en-US" sz="4000" b="1" dirty="0">
                <a:solidFill>
                  <a:srgbClr val="2A4BDB"/>
                </a:solidFill>
                <a:latin typeface="Arial" pitchFamily="34" charset="0"/>
                <a:ea typeface="Arial" pitchFamily="34" charset="-122"/>
                <a:cs typeface="Arial" pitchFamily="34" charset="-120"/>
              </a:rPr>
              <a:t>0,9108</a:t>
            </a:r>
            <a:endParaRPr lang="en-US" sz="4000" dirty="0"/>
          </a:p>
        </p:txBody>
      </p:sp>
      <p:sp>
        <p:nvSpPr>
          <p:cNvPr id="12" name="Text 9"/>
          <p:cNvSpPr txBox="1"/>
          <p:nvPr/>
        </p:nvSpPr>
        <p:spPr>
          <a:xfrm>
            <a:off x="1828800" y="3337560"/>
            <a:ext cx="315468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Accuracy</a:t>
            </a:r>
            <a:endParaRPr lang="en-US" sz="1900" dirty="0"/>
          </a:p>
        </p:txBody>
      </p:sp>
      <p:sp>
        <p:nvSpPr>
          <p:cNvPr id="13" name="Shape 10"/>
          <p:cNvSpPr/>
          <p:nvPr/>
        </p:nvSpPr>
        <p:spPr>
          <a:xfrm>
            <a:off x="5532120" y="2148840"/>
            <a:ext cx="3703320" cy="1874520"/>
          </a:xfrm>
          <a:prstGeom prst="rect">
            <a:avLst/>
          </a:prstGeom>
          <a:solidFill>
            <a:srgbClr val="F4F6FA"/>
          </a:solidFill>
          <a:ln w="12700">
            <a:solidFill>
              <a:srgbClr val="D4D4D4"/>
            </a:solidFill>
            <a:prstDash val="solid"/>
          </a:ln>
        </p:spPr>
      </p:sp>
      <p:sp>
        <p:nvSpPr>
          <p:cNvPr id="14" name="Shape 11"/>
          <p:cNvSpPr/>
          <p:nvPr/>
        </p:nvSpPr>
        <p:spPr>
          <a:xfrm>
            <a:off x="5532120" y="2148840"/>
            <a:ext cx="3703320" cy="128016"/>
          </a:xfrm>
          <a:prstGeom prst="rect">
            <a:avLst/>
          </a:prstGeom>
          <a:solidFill>
            <a:srgbClr val="2A4BDB"/>
          </a:solidFill>
          <a:ln w="12700">
            <a:solidFill>
              <a:srgbClr val="2A4BDB"/>
            </a:solidFill>
            <a:prstDash val="solid"/>
          </a:ln>
        </p:spPr>
      </p:sp>
      <p:sp>
        <p:nvSpPr>
          <p:cNvPr id="15" name="Text 12"/>
          <p:cNvSpPr txBox="1"/>
          <p:nvPr/>
        </p:nvSpPr>
        <p:spPr>
          <a:xfrm>
            <a:off x="5852160" y="2468880"/>
            <a:ext cx="3154680" cy="868680"/>
          </a:xfrm>
          <a:prstGeom prst="rect">
            <a:avLst/>
          </a:prstGeom>
          <a:noFill/>
          <a:ln/>
        </p:spPr>
        <p:txBody>
          <a:bodyPr wrap="square" lIns="0" tIns="0" rIns="0" bIns="0" rtlCol="0" anchor="ctr"/>
          <a:lstStyle/>
          <a:p>
            <a:pPr indent="0" marL="0">
              <a:buNone/>
            </a:pPr>
            <a:r>
              <a:rPr lang="en-US" sz="4000" b="1" dirty="0">
                <a:solidFill>
                  <a:srgbClr val="2A4BDB"/>
                </a:solidFill>
                <a:latin typeface="Arial" pitchFamily="34" charset="0"/>
                <a:ea typeface="Arial" pitchFamily="34" charset="-122"/>
                <a:cs typeface="Arial" pitchFamily="34" charset="-120"/>
              </a:rPr>
              <a:t>0,9108</a:t>
            </a:r>
            <a:endParaRPr lang="en-US" sz="4000" dirty="0"/>
          </a:p>
        </p:txBody>
      </p:sp>
      <p:sp>
        <p:nvSpPr>
          <p:cNvPr id="16" name="Text 13"/>
          <p:cNvSpPr txBox="1"/>
          <p:nvPr/>
        </p:nvSpPr>
        <p:spPr>
          <a:xfrm>
            <a:off x="5852160" y="3337560"/>
            <a:ext cx="315468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Precision (weighted)</a:t>
            </a:r>
            <a:endParaRPr lang="en-US" sz="1900" dirty="0"/>
          </a:p>
        </p:txBody>
      </p:sp>
      <p:sp>
        <p:nvSpPr>
          <p:cNvPr id="17" name="Shape 14"/>
          <p:cNvSpPr/>
          <p:nvPr/>
        </p:nvSpPr>
        <p:spPr>
          <a:xfrm>
            <a:off x="9555480" y="2148840"/>
            <a:ext cx="3703320" cy="1874520"/>
          </a:xfrm>
          <a:prstGeom prst="rect">
            <a:avLst/>
          </a:prstGeom>
          <a:solidFill>
            <a:srgbClr val="F4F6FA"/>
          </a:solidFill>
          <a:ln w="12700">
            <a:solidFill>
              <a:srgbClr val="D4D4D4"/>
            </a:solidFill>
            <a:prstDash val="solid"/>
          </a:ln>
        </p:spPr>
      </p:sp>
      <p:sp>
        <p:nvSpPr>
          <p:cNvPr id="18" name="Shape 15"/>
          <p:cNvSpPr/>
          <p:nvPr/>
        </p:nvSpPr>
        <p:spPr>
          <a:xfrm>
            <a:off x="9555480" y="2148840"/>
            <a:ext cx="3703320" cy="128016"/>
          </a:xfrm>
          <a:prstGeom prst="rect">
            <a:avLst/>
          </a:prstGeom>
          <a:solidFill>
            <a:srgbClr val="2A4BDB"/>
          </a:solidFill>
          <a:ln w="12700">
            <a:solidFill>
              <a:srgbClr val="2A4BDB"/>
            </a:solidFill>
            <a:prstDash val="solid"/>
          </a:ln>
        </p:spPr>
      </p:sp>
      <p:sp>
        <p:nvSpPr>
          <p:cNvPr id="19" name="Text 16"/>
          <p:cNvSpPr txBox="1"/>
          <p:nvPr/>
        </p:nvSpPr>
        <p:spPr>
          <a:xfrm>
            <a:off x="9875520" y="2468880"/>
            <a:ext cx="3154680" cy="868680"/>
          </a:xfrm>
          <a:prstGeom prst="rect">
            <a:avLst/>
          </a:prstGeom>
          <a:noFill/>
          <a:ln/>
        </p:spPr>
        <p:txBody>
          <a:bodyPr wrap="square" lIns="0" tIns="0" rIns="0" bIns="0" rtlCol="0" anchor="ctr"/>
          <a:lstStyle/>
          <a:p>
            <a:pPr indent="0" marL="0">
              <a:buNone/>
            </a:pPr>
            <a:r>
              <a:rPr lang="en-US" sz="4000" b="1" dirty="0">
                <a:solidFill>
                  <a:srgbClr val="2A4BDB"/>
                </a:solidFill>
                <a:latin typeface="Arial" pitchFamily="34" charset="0"/>
                <a:ea typeface="Arial" pitchFamily="34" charset="-122"/>
                <a:cs typeface="Arial" pitchFamily="34" charset="-120"/>
              </a:rPr>
              <a:t>0,9108</a:t>
            </a:r>
            <a:endParaRPr lang="en-US" sz="4000" dirty="0"/>
          </a:p>
        </p:txBody>
      </p:sp>
      <p:sp>
        <p:nvSpPr>
          <p:cNvPr id="20" name="Text 17"/>
          <p:cNvSpPr txBox="1"/>
          <p:nvPr/>
        </p:nvSpPr>
        <p:spPr>
          <a:xfrm>
            <a:off x="9875520" y="3337560"/>
            <a:ext cx="315468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Recall (weighted)</a:t>
            </a:r>
            <a:endParaRPr lang="en-US" sz="1900" dirty="0"/>
          </a:p>
        </p:txBody>
      </p:sp>
      <p:sp>
        <p:nvSpPr>
          <p:cNvPr id="21" name="Shape 18"/>
          <p:cNvSpPr/>
          <p:nvPr/>
        </p:nvSpPr>
        <p:spPr>
          <a:xfrm>
            <a:off x="13578840" y="2148840"/>
            <a:ext cx="3703320" cy="1874520"/>
          </a:xfrm>
          <a:prstGeom prst="rect">
            <a:avLst/>
          </a:prstGeom>
          <a:solidFill>
            <a:srgbClr val="F4F6FA"/>
          </a:solidFill>
          <a:ln w="12700">
            <a:solidFill>
              <a:srgbClr val="D4D4D4"/>
            </a:solidFill>
            <a:prstDash val="solid"/>
          </a:ln>
        </p:spPr>
      </p:sp>
      <p:sp>
        <p:nvSpPr>
          <p:cNvPr id="22" name="Shape 19"/>
          <p:cNvSpPr/>
          <p:nvPr/>
        </p:nvSpPr>
        <p:spPr>
          <a:xfrm>
            <a:off x="13578840" y="2148840"/>
            <a:ext cx="3703320" cy="128016"/>
          </a:xfrm>
          <a:prstGeom prst="rect">
            <a:avLst/>
          </a:prstGeom>
          <a:solidFill>
            <a:srgbClr val="2A4BDB"/>
          </a:solidFill>
          <a:ln w="12700">
            <a:solidFill>
              <a:srgbClr val="2A4BDB"/>
            </a:solidFill>
            <a:prstDash val="solid"/>
          </a:ln>
        </p:spPr>
      </p:sp>
      <p:sp>
        <p:nvSpPr>
          <p:cNvPr id="23" name="Text 20"/>
          <p:cNvSpPr txBox="1"/>
          <p:nvPr/>
        </p:nvSpPr>
        <p:spPr>
          <a:xfrm>
            <a:off x="13898880" y="2468880"/>
            <a:ext cx="3154680" cy="868680"/>
          </a:xfrm>
          <a:prstGeom prst="rect">
            <a:avLst/>
          </a:prstGeom>
          <a:noFill/>
          <a:ln/>
        </p:spPr>
        <p:txBody>
          <a:bodyPr wrap="square" lIns="0" tIns="0" rIns="0" bIns="0" rtlCol="0" anchor="ctr"/>
          <a:lstStyle/>
          <a:p>
            <a:pPr indent="0" marL="0">
              <a:buNone/>
            </a:pPr>
            <a:r>
              <a:rPr lang="en-US" sz="4000" b="1" dirty="0">
                <a:solidFill>
                  <a:srgbClr val="2A4BDB"/>
                </a:solidFill>
                <a:latin typeface="Arial" pitchFamily="34" charset="0"/>
                <a:ea typeface="Arial" pitchFamily="34" charset="-122"/>
                <a:cs typeface="Arial" pitchFamily="34" charset="-120"/>
              </a:rPr>
              <a:t>0,9108</a:t>
            </a:r>
            <a:endParaRPr lang="en-US" sz="4000" dirty="0"/>
          </a:p>
        </p:txBody>
      </p:sp>
      <p:sp>
        <p:nvSpPr>
          <p:cNvPr id="24" name="Text 21"/>
          <p:cNvSpPr txBox="1"/>
          <p:nvPr/>
        </p:nvSpPr>
        <p:spPr>
          <a:xfrm>
            <a:off x="13898880" y="3337560"/>
            <a:ext cx="3154680" cy="457200"/>
          </a:xfrm>
          <a:prstGeom prst="rect">
            <a:avLst/>
          </a:prstGeom>
          <a:noFill/>
          <a:ln/>
        </p:spPr>
        <p:txBody>
          <a:bodyPr wrap="square" lIns="0" tIns="0" rIns="0" bIns="0" rtlCol="0" anchor="t"/>
          <a:lstStyle/>
          <a:p>
            <a:pPr indent="0" marL="0">
              <a:buNone/>
            </a:pPr>
            <a:r>
              <a:rPr lang="en-US" sz="1900" b="1" dirty="0">
                <a:solidFill>
                  <a:srgbClr val="222222"/>
                </a:solidFill>
                <a:latin typeface="Arial" pitchFamily="34" charset="0"/>
                <a:ea typeface="Arial" pitchFamily="34" charset="-122"/>
                <a:cs typeface="Arial" pitchFamily="34" charset="-120"/>
              </a:rPr>
              <a:t>F1-score (weighted)</a:t>
            </a:r>
            <a:endParaRPr lang="en-US" sz="1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508760" y="4434840"/>
          <a:ext cx="9052560" cy="914400"/>
        </p:xfrm>
        <a:graphic>
          <a:graphicData uri="http://schemas.openxmlformats.org/drawingml/2006/table">
            <a:tbl>
              <a:tblPr/>
              <a:tblGrid>
                <a:gridCol w="2468880"/>
                <a:gridCol w="1645920"/>
                <a:gridCol w="1645920"/>
                <a:gridCol w="1645920"/>
                <a:gridCol w="1645920"/>
              </a:tblGrid>
              <a:tr h="475488">
                <a:tc>
                  <a:txBody>
                    <a:bodyPr/>
                    <a:lstStyle/>
                    <a:p>
                      <a:pPr algn="l" indent="0" marL="0">
                        <a:buNone/>
                      </a:pPr>
                      <a:r>
                        <a:rPr lang="en-US" sz="1500" b="1" dirty="0">
                          <a:solidFill>
                            <a:srgbClr val="FFFFFF"/>
                          </a:solidFill>
                          <a:latin typeface="Arial" pitchFamily="34" charset="0"/>
                          <a:ea typeface="Arial" pitchFamily="34" charset="-122"/>
                          <a:cs typeface="Arial" pitchFamily="34" charset="-120"/>
                        </a:rPr>
                        <a:t>Categoría</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Precision</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Recall</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F1</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Soporte</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r>
              <a:tr h="475488">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Números</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0,9094</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0,9007</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0,9050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4.533</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Álgebra</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0,9091</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0,9150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0,9120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4.045</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r h="475488">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Geometría</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0,9120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0,9078</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0,9099</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3.460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Datos y Prob.</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0,9139</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0,9240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0,9189</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2.962</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bl>
          </a:graphicData>
        </a:graphic>
      </p:graphicFrame>
      <p:sp>
        <p:nvSpPr>
          <p:cNvPr id="26" name="Text 22"/>
          <p:cNvSpPr txBox="1"/>
          <p:nvPr/>
        </p:nvSpPr>
        <p:spPr>
          <a:xfrm>
            <a:off x="1508760" y="7086600"/>
            <a:ext cx="9052560" cy="1188720"/>
          </a:xfrm>
          <a:prstGeom prst="rect">
            <a:avLst/>
          </a:prstGeom>
          <a:noFill/>
          <a:ln/>
        </p:spPr>
        <p:txBody>
          <a:bodyPr wrap="square" lIns="0" tIns="0" rIns="0" bIns="0" rtlCol="0" anchor="t"/>
          <a:lstStyle/>
          <a:p>
            <a:pPr indent="0" marL="0">
              <a:buNone/>
            </a:pPr>
            <a:r>
              <a:rPr lang="en-US" sz="1600" b="1" dirty="0">
                <a:solidFill>
                  <a:srgbClr val="222222"/>
                </a:solidFill>
                <a:latin typeface="Arial" pitchFamily="34" charset="0"/>
                <a:ea typeface="Arial" pitchFamily="34" charset="-122"/>
                <a:cs typeface="Arial" pitchFamily="34" charset="-120"/>
              </a:rPr>
              <a:t>Validación 0,9132 → test 0,9108: diferencia de solo 0,0025. Las decisiones tomadas sobre validación no se sobreajustaron a ese conjunto.</a:t>
            </a:r>
            <a:endParaRPr lang="en-US" sz="1600" dirty="0"/>
          </a:p>
        </p:txBody>
      </p:sp>
      <p:sp>
        <p:nvSpPr>
          <p:cNvPr id="27" name="Shape 23"/>
          <p:cNvSpPr/>
          <p:nvPr/>
        </p:nvSpPr>
        <p:spPr>
          <a:xfrm>
            <a:off x="10972800" y="4434840"/>
            <a:ext cx="6446520" cy="4434840"/>
          </a:xfrm>
          <a:prstGeom prst="rect">
            <a:avLst/>
          </a:prstGeom>
          <a:solidFill>
            <a:srgbClr val="F4F6FA"/>
          </a:solidFill>
          <a:ln w="12700">
            <a:solidFill>
              <a:srgbClr val="D4D4D4"/>
            </a:solidFill>
            <a:prstDash val="solid"/>
          </a:ln>
        </p:spPr>
      </p:sp>
      <p:sp>
        <p:nvSpPr>
          <p:cNvPr id="28" name="Shape 24"/>
          <p:cNvSpPr/>
          <p:nvPr/>
        </p:nvSpPr>
        <p:spPr>
          <a:xfrm>
            <a:off x="10972800" y="4434840"/>
            <a:ext cx="6446520" cy="128016"/>
          </a:xfrm>
          <a:prstGeom prst="rect">
            <a:avLst/>
          </a:prstGeom>
          <a:solidFill>
            <a:srgbClr val="2A4BDB"/>
          </a:solidFill>
          <a:ln w="12700">
            <a:solidFill>
              <a:srgbClr val="2A4BDB"/>
            </a:solidFill>
            <a:prstDash val="solid"/>
          </a:ln>
        </p:spPr>
      </p:sp>
      <p:sp>
        <p:nvSpPr>
          <p:cNvPr id="29" name="Text 25"/>
          <p:cNvSpPr txBox="1"/>
          <p:nvPr/>
        </p:nvSpPr>
        <p:spPr>
          <a:xfrm>
            <a:off x="11292840" y="4754880"/>
            <a:ext cx="589788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Cálculo con la matriz real: Números</a:t>
            </a:r>
            <a:endParaRPr lang="en-US" sz="2000" dirty="0"/>
          </a:p>
        </p:txBody>
      </p:sp>
      <p:sp>
        <p:nvSpPr>
          <p:cNvPr id="30" name="Text 26"/>
          <p:cNvSpPr txBox="1"/>
          <p:nvPr/>
        </p:nvSpPr>
        <p:spPr>
          <a:xfrm>
            <a:off x="11292840" y="5303520"/>
            <a:ext cx="5897880" cy="3383280"/>
          </a:xfrm>
          <a:prstGeom prst="rect">
            <a:avLst/>
          </a:prstGeom>
          <a:noFill/>
          <a:ln/>
        </p:spPr>
        <p:txBody>
          <a:bodyPr wrap="square" lIns="0" tIns="0" rIns="0" bIns="0" rtlCol="0" anchor="t"/>
          <a:lstStyle/>
          <a:p>
            <a:pPr indent="0" marL="0">
              <a:spcAft>
                <a:spcPts val="600"/>
              </a:spcAft>
              <a:buNone/>
            </a:pPr>
            <a:r>
              <a:rPr lang="en-US" sz="1600" dirty="0">
                <a:solidFill>
                  <a:srgbClr val="5A5A5A"/>
                </a:solidFill>
                <a:latin typeface="Arial" pitchFamily="34" charset="0"/>
                <a:ea typeface="Arial" pitchFamily="34" charset="-122"/>
                <a:cs typeface="Arial" pitchFamily="34" charset="-120"/>
              </a:rPr>
              <a:t>Precision = VP / (VP + FP)</a:t>
            </a: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 4.083 / (4.083 + 407) = 0,9094</a:t>
            </a:r>
            <a:endParaRPr lang="en-US" sz="1600" dirty="0"/>
          </a:p>
          <a:p>
            <a:pPr indent="0" marL="0">
              <a:spcAft>
                <a:spcPts val="600"/>
              </a:spcAft>
              <a:buNone/>
            </a:pP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Recall = VP / (VP + FN)</a:t>
            </a: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 4.083 / (4.083 + 450) = 0,9007</a:t>
            </a:r>
            <a:endParaRPr lang="en-US" sz="1600" dirty="0"/>
          </a:p>
          <a:p>
            <a:pPr indent="0" marL="0">
              <a:spcAft>
                <a:spcPts val="600"/>
              </a:spcAft>
              <a:buNone/>
            </a:pP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F1 = 2·P·R / (P + R) = 0,9050</a:t>
            </a:r>
            <a:endParaRPr lang="en-US" sz="1600" dirty="0"/>
          </a:p>
          <a:p>
            <a:pPr indent="0" marL="0">
              <a:spcAft>
                <a:spcPts val="600"/>
              </a:spcAft>
              <a:buNone/>
            </a:pPr>
            <a:endParaRPr lang="en-US" sz="1600" dirty="0"/>
          </a:p>
          <a:p>
            <a:pPr indent="0" marL="0">
              <a:spcAft>
                <a:spcPts val="600"/>
              </a:spcAft>
              <a:buNone/>
            </a:pPr>
            <a:r>
              <a:rPr lang="en-US" sz="1600" dirty="0">
                <a:solidFill>
                  <a:srgbClr val="5A5A5A"/>
                </a:solidFill>
                <a:latin typeface="Arial" pitchFamily="34" charset="0"/>
                <a:ea typeface="Arial" pitchFamily="34" charset="-122"/>
                <a:cs typeface="Arial" pitchFamily="34" charset="-120"/>
              </a:rPr>
              <a:t>El F1 ponderado calculado a mano coincide con sklearn: 0,9108.</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Matriz de confusión</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2240280" y="2103120"/>
            <a:ext cx="14447520" cy="5103853"/>
          </a:xfrm>
          <a:prstGeom prst="rect">
            <a:avLst/>
          </a:prstGeom>
          <a:solidFill>
            <a:srgbClr val="FFFFFF"/>
          </a:solidFill>
          <a:ln w="12700">
            <a:solidFill>
              <a:srgbClr val="D4D4D4"/>
            </a:solidFill>
            <a:prstDash val="solid"/>
          </a:ln>
        </p:spPr>
      </p:sp>
      <p:pic>
        <p:nvPicPr>
          <p:cNvPr id="10" name="Image 1" descr="/home/claude/ppt/assets/A_28_0.png">    </p:cNvPr>
          <p:cNvPicPr>
            <a:picLocks noChangeAspect="1"/>
          </p:cNvPicPr>
          <p:nvPr/>
        </p:nvPicPr>
        <p:blipFill>
          <a:blip r:embed="rId2"/>
          <a:stretch>
            <a:fillRect/>
          </a:stretch>
        </p:blipFill>
        <p:spPr>
          <a:xfrm>
            <a:off x="2377440" y="2240280"/>
            <a:ext cx="14173200" cy="4829533"/>
          </a:xfrm>
          <a:prstGeom prst="rect">
            <a:avLst/>
          </a:prstGeom>
        </p:spPr>
      </p:pic>
      <p:sp>
        <p:nvSpPr>
          <p:cNvPr id="11" name="Shape 7"/>
          <p:cNvSpPr/>
          <p:nvPr/>
        </p:nvSpPr>
        <p:spPr>
          <a:xfrm>
            <a:off x="1508760" y="7315200"/>
            <a:ext cx="5029200" cy="1920240"/>
          </a:xfrm>
          <a:prstGeom prst="rect">
            <a:avLst/>
          </a:prstGeom>
          <a:solidFill>
            <a:srgbClr val="F4F6FA"/>
          </a:solidFill>
          <a:ln w="12700">
            <a:solidFill>
              <a:srgbClr val="D4D4D4"/>
            </a:solidFill>
            <a:prstDash val="solid"/>
          </a:ln>
        </p:spPr>
      </p:sp>
      <p:sp>
        <p:nvSpPr>
          <p:cNvPr id="12" name="Shape 8"/>
          <p:cNvSpPr/>
          <p:nvPr/>
        </p:nvSpPr>
        <p:spPr>
          <a:xfrm>
            <a:off x="1508760" y="7315200"/>
            <a:ext cx="5029200" cy="128016"/>
          </a:xfrm>
          <a:prstGeom prst="rect">
            <a:avLst/>
          </a:prstGeom>
          <a:solidFill>
            <a:srgbClr val="E0463A"/>
          </a:solidFill>
          <a:ln w="12700">
            <a:solidFill>
              <a:srgbClr val="E0463A"/>
            </a:solidFill>
            <a:prstDash val="solid"/>
          </a:ln>
        </p:spPr>
      </p:sp>
      <p:sp>
        <p:nvSpPr>
          <p:cNvPr id="13" name="Text 9"/>
          <p:cNvSpPr txBox="1"/>
          <p:nvPr/>
        </p:nvSpPr>
        <p:spPr>
          <a:xfrm>
            <a:off x="1783080" y="7589520"/>
            <a:ext cx="4572000" cy="731520"/>
          </a:xfrm>
          <a:prstGeom prst="rect">
            <a:avLst/>
          </a:prstGeom>
          <a:noFill/>
          <a:ln/>
        </p:spPr>
        <p:txBody>
          <a:bodyPr wrap="square" lIns="0" tIns="0" rIns="0" bIns="0" rtlCol="0" anchor="ctr"/>
          <a:lstStyle/>
          <a:p>
            <a:pPr indent="0" marL="0">
              <a:buNone/>
            </a:pPr>
            <a:r>
              <a:rPr lang="en-US" sz="3400" b="1" dirty="0">
                <a:solidFill>
                  <a:srgbClr val="E0463A"/>
                </a:solidFill>
                <a:latin typeface="Arial" pitchFamily="34" charset="0"/>
                <a:ea typeface="Arial" pitchFamily="34" charset="-122"/>
                <a:cs typeface="Arial" pitchFamily="34" charset="-120"/>
              </a:rPr>
              <a:t>185</a:t>
            </a:r>
            <a:endParaRPr lang="en-US" sz="3400" dirty="0"/>
          </a:p>
        </p:txBody>
      </p:sp>
      <p:sp>
        <p:nvSpPr>
          <p:cNvPr id="14" name="Text 10"/>
          <p:cNvSpPr txBox="1"/>
          <p:nvPr/>
        </p:nvSpPr>
        <p:spPr>
          <a:xfrm>
            <a:off x="1783080" y="8339328"/>
            <a:ext cx="4572000" cy="384048"/>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Números → Álgebra</a:t>
            </a:r>
            <a:endParaRPr lang="en-US" sz="1700" dirty="0"/>
          </a:p>
        </p:txBody>
      </p:sp>
      <p:sp>
        <p:nvSpPr>
          <p:cNvPr id="15" name="Text 11"/>
          <p:cNvSpPr txBox="1"/>
          <p:nvPr/>
        </p:nvSpPr>
        <p:spPr>
          <a:xfrm>
            <a:off x="1783080" y="8732520"/>
            <a:ext cx="4572000" cy="365760"/>
          </a:xfrm>
          <a:prstGeom prst="rect">
            <a:avLst/>
          </a:prstGeom>
          <a:noFill/>
          <a:ln/>
        </p:spPr>
        <p:txBody>
          <a:bodyPr wrap="square" lIns="0" tIns="0" rIns="0" bIns="0" rtlCol="0" anchor="ctr"/>
          <a:lstStyle/>
          <a:p>
            <a:pPr indent="0" marL="0">
              <a:buNone/>
            </a:pPr>
            <a:r>
              <a:rPr lang="en-US" sz="1300" dirty="0">
                <a:solidFill>
                  <a:srgbClr val="5A5A5A"/>
                </a:solidFill>
                <a:latin typeface="Arial" pitchFamily="34" charset="0"/>
                <a:ea typeface="Arial" pitchFamily="34" charset="-122"/>
                <a:cs typeface="Arial" pitchFamily="34" charset="-120"/>
              </a:rPr>
              <a:t>Confusión más frecuente</a:t>
            </a:r>
            <a:endParaRPr lang="en-US" sz="1300" dirty="0"/>
          </a:p>
        </p:txBody>
      </p:sp>
      <p:sp>
        <p:nvSpPr>
          <p:cNvPr id="16" name="Shape 12"/>
          <p:cNvSpPr/>
          <p:nvPr/>
        </p:nvSpPr>
        <p:spPr>
          <a:xfrm>
            <a:off x="6858000" y="7315200"/>
            <a:ext cx="5029200" cy="1920240"/>
          </a:xfrm>
          <a:prstGeom prst="rect">
            <a:avLst/>
          </a:prstGeom>
          <a:solidFill>
            <a:srgbClr val="F4F6FA"/>
          </a:solidFill>
          <a:ln w="12700">
            <a:solidFill>
              <a:srgbClr val="D4D4D4"/>
            </a:solidFill>
            <a:prstDash val="solid"/>
          </a:ln>
        </p:spPr>
      </p:sp>
      <p:sp>
        <p:nvSpPr>
          <p:cNvPr id="17" name="Shape 13"/>
          <p:cNvSpPr/>
          <p:nvPr/>
        </p:nvSpPr>
        <p:spPr>
          <a:xfrm>
            <a:off x="6858000" y="7315200"/>
            <a:ext cx="5029200" cy="128016"/>
          </a:xfrm>
          <a:prstGeom prst="rect">
            <a:avLst/>
          </a:prstGeom>
          <a:solidFill>
            <a:srgbClr val="2A4BDB"/>
          </a:solidFill>
          <a:ln w="12700">
            <a:solidFill>
              <a:srgbClr val="2A4BDB"/>
            </a:solidFill>
            <a:prstDash val="solid"/>
          </a:ln>
        </p:spPr>
      </p:sp>
      <p:sp>
        <p:nvSpPr>
          <p:cNvPr id="18" name="Text 14"/>
          <p:cNvSpPr txBox="1"/>
          <p:nvPr/>
        </p:nvSpPr>
        <p:spPr>
          <a:xfrm>
            <a:off x="7132320" y="7589520"/>
            <a:ext cx="4572000" cy="731520"/>
          </a:xfrm>
          <a:prstGeom prst="rect">
            <a:avLst/>
          </a:prstGeom>
          <a:noFill/>
          <a:ln/>
        </p:spPr>
        <p:txBody>
          <a:bodyPr wrap="square" lIns="0" tIns="0" rIns="0" bIns="0" rtlCol="0" anchor="ctr"/>
          <a:lstStyle/>
          <a:p>
            <a:pPr indent="0" marL="0">
              <a:buNone/>
            </a:pPr>
            <a:r>
              <a:rPr lang="en-US" sz="3400" b="1" dirty="0">
                <a:solidFill>
                  <a:srgbClr val="2A4BDB"/>
                </a:solidFill>
                <a:latin typeface="Arial" pitchFamily="34" charset="0"/>
                <a:ea typeface="Arial" pitchFamily="34" charset="-122"/>
                <a:cs typeface="Arial" pitchFamily="34" charset="-120"/>
              </a:rPr>
              <a:t>164</a:t>
            </a:r>
            <a:endParaRPr lang="en-US" sz="3400" dirty="0"/>
          </a:p>
        </p:txBody>
      </p:sp>
      <p:sp>
        <p:nvSpPr>
          <p:cNvPr id="19" name="Text 15"/>
          <p:cNvSpPr txBox="1"/>
          <p:nvPr/>
        </p:nvSpPr>
        <p:spPr>
          <a:xfrm>
            <a:off x="7132320" y="8339328"/>
            <a:ext cx="4572000" cy="384048"/>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Álgebra → Números</a:t>
            </a:r>
            <a:endParaRPr lang="en-US" sz="1700" dirty="0"/>
          </a:p>
        </p:txBody>
      </p:sp>
      <p:sp>
        <p:nvSpPr>
          <p:cNvPr id="20" name="Text 16"/>
          <p:cNvSpPr txBox="1"/>
          <p:nvPr/>
        </p:nvSpPr>
        <p:spPr>
          <a:xfrm>
            <a:off x="7132320" y="8732520"/>
            <a:ext cx="4572000" cy="365760"/>
          </a:xfrm>
          <a:prstGeom prst="rect">
            <a:avLst/>
          </a:prstGeom>
          <a:noFill/>
          <a:ln/>
        </p:spPr>
        <p:txBody>
          <a:bodyPr wrap="square" lIns="0" tIns="0" rIns="0" bIns="0" rtlCol="0" anchor="ctr"/>
          <a:lstStyle/>
          <a:p>
            <a:pPr indent="0" marL="0">
              <a:buNone/>
            </a:pPr>
            <a:r>
              <a:rPr lang="en-US" sz="1300" dirty="0">
                <a:solidFill>
                  <a:srgbClr val="5A5A5A"/>
                </a:solidFill>
                <a:latin typeface="Arial" pitchFamily="34" charset="0"/>
                <a:ea typeface="Arial" pitchFamily="34" charset="-122"/>
                <a:cs typeface="Arial" pitchFamily="34" charset="-120"/>
              </a:rPr>
              <a:t>La misma pareja, en sentido inverso</a:t>
            </a:r>
            <a:endParaRPr lang="en-US" sz="1300" dirty="0"/>
          </a:p>
        </p:txBody>
      </p:sp>
      <p:sp>
        <p:nvSpPr>
          <p:cNvPr id="21" name="Shape 17"/>
          <p:cNvSpPr/>
          <p:nvPr/>
        </p:nvSpPr>
        <p:spPr>
          <a:xfrm>
            <a:off x="12207240" y="7315200"/>
            <a:ext cx="5029200" cy="1920240"/>
          </a:xfrm>
          <a:prstGeom prst="rect">
            <a:avLst/>
          </a:prstGeom>
          <a:solidFill>
            <a:srgbClr val="F4F6FA"/>
          </a:solidFill>
          <a:ln w="12700">
            <a:solidFill>
              <a:srgbClr val="D4D4D4"/>
            </a:solidFill>
            <a:prstDash val="solid"/>
          </a:ln>
        </p:spPr>
      </p:sp>
      <p:sp>
        <p:nvSpPr>
          <p:cNvPr id="22" name="Shape 18"/>
          <p:cNvSpPr/>
          <p:nvPr/>
        </p:nvSpPr>
        <p:spPr>
          <a:xfrm>
            <a:off x="12207240" y="7315200"/>
            <a:ext cx="5029200" cy="128016"/>
          </a:xfrm>
          <a:prstGeom prst="rect">
            <a:avLst/>
          </a:prstGeom>
          <a:solidFill>
            <a:srgbClr val="2A4BDB"/>
          </a:solidFill>
          <a:ln w="12700">
            <a:solidFill>
              <a:srgbClr val="2A4BDB"/>
            </a:solidFill>
            <a:prstDash val="solid"/>
          </a:ln>
        </p:spPr>
      </p:sp>
      <p:sp>
        <p:nvSpPr>
          <p:cNvPr id="23" name="Text 19"/>
          <p:cNvSpPr txBox="1"/>
          <p:nvPr/>
        </p:nvSpPr>
        <p:spPr>
          <a:xfrm>
            <a:off x="12481560" y="7589520"/>
            <a:ext cx="4572000" cy="731520"/>
          </a:xfrm>
          <a:prstGeom prst="rect">
            <a:avLst/>
          </a:prstGeom>
          <a:noFill/>
          <a:ln/>
        </p:spPr>
        <p:txBody>
          <a:bodyPr wrap="square" lIns="0" tIns="0" rIns="0" bIns="0" rtlCol="0" anchor="ctr"/>
          <a:lstStyle/>
          <a:p>
            <a:pPr indent="0" marL="0">
              <a:buNone/>
            </a:pPr>
            <a:r>
              <a:rPr lang="en-US" sz="3400" b="1" dirty="0">
                <a:solidFill>
                  <a:srgbClr val="2A4BDB"/>
                </a:solidFill>
                <a:latin typeface="Arial" pitchFamily="34" charset="0"/>
                <a:ea typeface="Arial" pitchFamily="34" charset="-122"/>
                <a:cs typeface="Arial" pitchFamily="34" charset="-120"/>
              </a:rPr>
              <a:t>148</a:t>
            </a:r>
            <a:endParaRPr lang="en-US" sz="3400" dirty="0"/>
          </a:p>
        </p:txBody>
      </p:sp>
      <p:sp>
        <p:nvSpPr>
          <p:cNvPr id="24" name="Text 20"/>
          <p:cNvSpPr txBox="1"/>
          <p:nvPr/>
        </p:nvSpPr>
        <p:spPr>
          <a:xfrm>
            <a:off x="12481560" y="8339328"/>
            <a:ext cx="4572000" cy="384048"/>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Geometría → Números</a:t>
            </a:r>
            <a:endParaRPr lang="en-US" sz="1700" dirty="0"/>
          </a:p>
        </p:txBody>
      </p:sp>
      <p:sp>
        <p:nvSpPr>
          <p:cNvPr id="25" name="Text 21"/>
          <p:cNvSpPr txBox="1"/>
          <p:nvPr/>
        </p:nvSpPr>
        <p:spPr>
          <a:xfrm>
            <a:off x="12481560" y="8732520"/>
            <a:ext cx="4572000" cy="365760"/>
          </a:xfrm>
          <a:prstGeom prst="rect">
            <a:avLst/>
          </a:prstGeom>
          <a:noFill/>
          <a:ln/>
        </p:spPr>
        <p:txBody>
          <a:bodyPr wrap="square" lIns="0" tIns="0" rIns="0" bIns="0" rtlCol="0" anchor="ctr"/>
          <a:lstStyle/>
          <a:p>
            <a:pPr indent="0" marL="0">
              <a:buNone/>
            </a:pPr>
            <a:r>
              <a:rPr lang="en-US" sz="1300" dirty="0">
                <a:solidFill>
                  <a:srgbClr val="5A5A5A"/>
                </a:solidFill>
                <a:latin typeface="Arial" pitchFamily="34" charset="0"/>
                <a:ea typeface="Arial" pitchFamily="34" charset="-122"/>
                <a:cs typeface="Arial" pitchFamily="34" charset="-120"/>
              </a:rPr>
              <a:t>Números aparece en las tres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Cómo mejorar precision y recall</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48840"/>
            <a:ext cx="8869680" cy="5009308"/>
          </a:xfrm>
          <a:prstGeom prst="rect">
            <a:avLst/>
          </a:prstGeom>
          <a:solidFill>
            <a:srgbClr val="FFFFFF"/>
          </a:solidFill>
          <a:ln w="12700">
            <a:solidFill>
              <a:srgbClr val="D4D4D4"/>
            </a:solidFill>
            <a:prstDash val="solid"/>
          </a:ln>
        </p:spPr>
      </p:sp>
      <p:pic>
        <p:nvPicPr>
          <p:cNvPr id="10" name="Image 1" descr="/home/claude/ppt/assets/A_30_0.png">    </p:cNvPr>
          <p:cNvPicPr>
            <a:picLocks noChangeAspect="1"/>
          </p:cNvPicPr>
          <p:nvPr/>
        </p:nvPicPr>
        <p:blipFill>
          <a:blip r:embed="rId2"/>
          <a:stretch>
            <a:fillRect/>
          </a:stretch>
        </p:blipFill>
        <p:spPr>
          <a:xfrm>
            <a:off x="1645920" y="2286000"/>
            <a:ext cx="8595360" cy="4734988"/>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0881360" y="2194560"/>
          <a:ext cx="6537960" cy="914400"/>
        </p:xfrm>
        <a:graphic>
          <a:graphicData uri="http://schemas.openxmlformats.org/drawingml/2006/table">
            <a:tbl>
              <a:tblPr/>
              <a:tblGrid>
                <a:gridCol w="2240280"/>
                <a:gridCol w="2148840"/>
                <a:gridCol w="2148840"/>
              </a:tblGrid>
              <a:tr h="457200">
                <a:tc>
                  <a:txBody>
                    <a:bodyPr/>
                    <a:lstStyle/>
                    <a:p>
                      <a:pPr algn="l" indent="0" marL="0">
                        <a:buNone/>
                      </a:pPr>
                      <a:r>
                        <a:rPr lang="en-US" sz="1500" b="1" dirty="0">
                          <a:solidFill>
                            <a:srgbClr val="FFFFFF"/>
                          </a:solidFill>
                          <a:latin typeface="Arial" pitchFamily="34" charset="0"/>
                          <a:ea typeface="Arial" pitchFamily="34" charset="-122"/>
                          <a:cs typeface="Arial" pitchFamily="34" charset="-120"/>
                        </a:rPr>
                        <a:t>Umbral</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Precisión</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Cobertura</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1A1A1A"/>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Sin umbral</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0,9108</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100%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0,60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0,9367</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93,6%</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4F6FA"/>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0,70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0,9516</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88,3%</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2A4BDB"/>
                          </a:solidFill>
                          <a:latin typeface="Arial" pitchFamily="34" charset="0"/>
                          <a:ea typeface="Arial" pitchFamily="34" charset="-122"/>
                          <a:cs typeface="Arial" pitchFamily="34" charset="-120"/>
                        </a:rPr>
                        <a:t>0,80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c>
                  <a:txBody>
                    <a:bodyPr/>
                    <a:lstStyle/>
                    <a:p>
                      <a:pPr algn="ctr" indent="0" marL="0">
                        <a:buNone/>
                      </a:pPr>
                      <a:r>
                        <a:rPr lang="en-US" sz="1500" b="1" dirty="0">
                          <a:solidFill>
                            <a:srgbClr val="2A4BDB"/>
                          </a:solidFill>
                          <a:latin typeface="Arial" pitchFamily="34" charset="0"/>
                          <a:ea typeface="Arial" pitchFamily="34" charset="-122"/>
                          <a:cs typeface="Arial" pitchFamily="34" charset="-120"/>
                        </a:rPr>
                        <a:t>0,9666</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c>
                  <a:txBody>
                    <a:bodyPr/>
                    <a:lstStyle/>
                    <a:p>
                      <a:pPr algn="ctr" indent="0" marL="0">
                        <a:buNone/>
                      </a:pPr>
                      <a:r>
                        <a:rPr lang="en-US" sz="1500" b="1" dirty="0">
                          <a:solidFill>
                            <a:srgbClr val="2A4BDB"/>
                          </a:solidFill>
                          <a:latin typeface="Arial" pitchFamily="34" charset="0"/>
                          <a:ea typeface="Arial" pitchFamily="34" charset="-122"/>
                          <a:cs typeface="Arial" pitchFamily="34" charset="-120"/>
                        </a:rPr>
                        <a:t>82,1%</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E6EBFB"/>
                    </a:solidFill>
                  </a:tcPr>
                </a:tc>
              </a:tr>
              <a:tr h="457200">
                <a:tc>
                  <a:txBody>
                    <a:bodyPr/>
                    <a:lstStyle/>
                    <a:p>
                      <a:pPr algn="l" indent="0" marL="0">
                        <a:buNone/>
                      </a:pPr>
                      <a:r>
                        <a:rPr lang="en-US" sz="1500" dirty="0">
                          <a:solidFill>
                            <a:srgbClr val="222222"/>
                          </a:solidFill>
                          <a:latin typeface="Arial" pitchFamily="34" charset="0"/>
                          <a:ea typeface="Arial" pitchFamily="34" charset="-122"/>
                          <a:cs typeface="Arial" pitchFamily="34" charset="-120"/>
                        </a:rPr>
                        <a:t>0,90</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0,9804</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Arial" pitchFamily="34" charset="0"/>
                          <a:ea typeface="Arial" pitchFamily="34" charset="-122"/>
                          <a:cs typeface="Arial" pitchFamily="34" charset="-120"/>
                        </a:rPr>
                        <a:t>73,2%</a:t>
                      </a:r>
                      <a:endParaRPr lang="en-US" sz="1500" dirty="0">
                        <a:latin typeface="Arial" charset="0"/>
                        <a:ea typeface="Arial" charset="0"/>
                        <a:cs typeface="Arial" charset="0"/>
                      </a:endParaRPr>
                    </a:p>
                  </a:txBody>
                  <a:tcPr marL="101600" marR="101600" marT="50800" marB="50800" anchor="ctr">
                    <a:lnL w="9525" cap="flat" cmpd="sng" algn="ctr">
                      <a:solidFill>
                        <a:srgbClr val="D4D4D4"/>
                      </a:solidFill>
                      <a:prstDash val="solid"/>
                      <a:round/>
                      <a:headEnd type="none" w="med" len="med"/>
                      <a:tailEnd type="none" w="med" len="med"/>
                    </a:lnL>
                    <a:lnR w="9525" cap="flat" cmpd="sng" algn="ctr">
                      <a:solidFill>
                        <a:srgbClr val="D4D4D4"/>
                      </a:solidFill>
                      <a:prstDash val="solid"/>
                      <a:round/>
                      <a:headEnd type="none" w="med" len="med"/>
                      <a:tailEnd type="none" w="med" len="med"/>
                    </a:lnR>
                    <a:lnT w="9525" cap="flat" cmpd="sng" algn="ctr">
                      <a:solidFill>
                        <a:srgbClr val="D4D4D4"/>
                      </a:solidFill>
                      <a:prstDash val="solid"/>
                      <a:round/>
                      <a:headEnd type="none" w="med" len="med"/>
                      <a:tailEnd type="none" w="med" len="med"/>
                    </a:lnT>
                    <a:lnB w="9525" cap="flat" cmpd="sng" algn="ctr">
                      <a:solidFill>
                        <a:srgbClr val="D4D4D4"/>
                      </a:solidFill>
                      <a:prstDash val="solid"/>
                      <a:round/>
                      <a:headEnd type="none" w="med" len="med"/>
                      <a:tailEnd type="none" w="med" len="med"/>
                    </a:lnB>
                    <a:solidFill>
                      <a:srgbClr val="FFFFFF"/>
                    </a:solidFill>
                  </a:tcPr>
                </a:tc>
              </a:tr>
            </a:tbl>
          </a:graphicData>
        </a:graphic>
      </p:graphicFrame>
      <p:sp>
        <p:nvSpPr>
          <p:cNvPr id="12" name="Shape 7"/>
          <p:cNvSpPr/>
          <p:nvPr/>
        </p:nvSpPr>
        <p:spPr>
          <a:xfrm>
            <a:off x="10881360" y="5257800"/>
            <a:ext cx="6537960" cy="3611880"/>
          </a:xfrm>
          <a:prstGeom prst="rect">
            <a:avLst/>
          </a:prstGeom>
          <a:solidFill>
            <a:srgbClr val="F4F6FA"/>
          </a:solidFill>
          <a:ln w="12700">
            <a:solidFill>
              <a:srgbClr val="D4D4D4"/>
            </a:solidFill>
            <a:prstDash val="solid"/>
          </a:ln>
        </p:spPr>
      </p:sp>
      <p:sp>
        <p:nvSpPr>
          <p:cNvPr id="13" name="Shape 8"/>
          <p:cNvSpPr/>
          <p:nvPr/>
        </p:nvSpPr>
        <p:spPr>
          <a:xfrm>
            <a:off x="10881360" y="5257800"/>
            <a:ext cx="6537960" cy="128016"/>
          </a:xfrm>
          <a:prstGeom prst="rect">
            <a:avLst/>
          </a:prstGeom>
          <a:solidFill>
            <a:srgbClr val="2A4BDB"/>
          </a:solidFill>
          <a:ln w="12700">
            <a:solidFill>
              <a:srgbClr val="2A4BDB"/>
            </a:solidFill>
            <a:prstDash val="solid"/>
          </a:ln>
        </p:spPr>
      </p:sp>
      <p:sp>
        <p:nvSpPr>
          <p:cNvPr id="14" name="Text 9"/>
          <p:cNvSpPr txBox="1"/>
          <p:nvPr/>
        </p:nvSpPr>
        <p:spPr>
          <a:xfrm>
            <a:off x="11201400" y="5577840"/>
            <a:ext cx="598932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Propuestas</a:t>
            </a:r>
            <a:endParaRPr lang="en-US" sz="2000" dirty="0"/>
          </a:p>
        </p:txBody>
      </p:sp>
      <p:sp>
        <p:nvSpPr>
          <p:cNvPr id="15" name="Text 10"/>
          <p:cNvSpPr txBox="1"/>
          <p:nvPr/>
        </p:nvSpPr>
        <p:spPr>
          <a:xfrm>
            <a:off x="11201400" y="6126480"/>
            <a:ext cx="5989320" cy="2560320"/>
          </a:xfrm>
          <a:prstGeom prst="rect">
            <a:avLst/>
          </a:prstGeom>
          <a:noFill/>
          <a:ln/>
        </p:spPr>
        <p:txBody>
          <a:bodyPr wrap="square" lIns="0" tIns="0" rIns="0" bIns="0" rtlCol="0" anchor="t"/>
          <a:lstStyle/>
          <a:p>
            <a:pPr marL="279400" indent="-279400">
              <a:spcAft>
                <a:spcPts val="1600"/>
              </a:spcAft>
              <a:buSzPct val="100000"/>
              <a:buChar char="•"/>
            </a:pPr>
            <a:r>
              <a:rPr lang="en-US" sz="1600" dirty="0">
                <a:solidFill>
                  <a:srgbClr val="5A5A5A"/>
                </a:solidFill>
                <a:latin typeface="Arial" pitchFamily="34" charset="0"/>
                <a:ea typeface="Arial" pitchFamily="34" charset="-122"/>
                <a:cs typeface="Arial" pitchFamily="34" charset="-120"/>
              </a:rPr>
              <a:t>Umbral ≥ 0,80: precisión de 96,7%; el 17,9% restante pasa a revisión manual.</a:t>
            </a:r>
            <a:endParaRPr lang="en-US" sz="1600" dirty="0"/>
          </a:p>
          <a:p>
            <a:pPr marL="279400" indent="-279400">
              <a:spcAft>
                <a:spcPts val="1600"/>
              </a:spcAft>
              <a:buSzPct val="100000"/>
              <a:buChar char="•"/>
            </a:pPr>
            <a:r>
              <a:rPr lang="en-US" sz="1600" dirty="0">
                <a:solidFill>
                  <a:srgbClr val="5A5A5A"/>
                </a:solidFill>
                <a:latin typeface="Arial" pitchFamily="34" charset="0"/>
                <a:ea typeface="Arial" pitchFamily="34" charset="-122"/>
                <a:cs typeface="Arial" pitchFamily="34" charset="-120"/>
              </a:rPr>
              <a:t>class_weight para subir el recall de Números (no para la clase minoritaria, que ya es la mejor).</a:t>
            </a:r>
            <a:endParaRPr lang="en-US" sz="1600" dirty="0"/>
          </a:p>
          <a:p>
            <a:pPr marL="279400" indent="-279400">
              <a:spcAft>
                <a:spcPts val="1600"/>
              </a:spcAft>
              <a:buSzPct val="100000"/>
              <a:buChar char="•"/>
            </a:pPr>
            <a:r>
              <a:rPr lang="en-US" sz="1600" dirty="0">
                <a:solidFill>
                  <a:srgbClr val="5A5A5A"/>
                </a:solidFill>
                <a:latin typeface="Arial" pitchFamily="34" charset="0"/>
                <a:ea typeface="Arial" pitchFamily="34" charset="-122"/>
                <a:cs typeface="Arial" pitchFamily="34" charset="-120"/>
              </a:rPr>
              <a:t>Nuevas variables que distingan Números de Álgebra.</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49808" cy="10287000"/>
          </a:xfrm>
          <a:prstGeom prst="rect">
            <a:avLst/>
          </a:prstGeom>
          <a:solidFill>
            <a:srgbClr val="1A1A1A"/>
          </a:solidFill>
          <a:ln w="12700">
            <a:solidFill>
              <a:srgbClr val="1A1A1A"/>
            </a:solidFill>
            <a:prstDash val="solid"/>
          </a:ln>
        </p:spPr>
      </p:sp>
      <p:sp>
        <p:nvSpPr>
          <p:cNvPr id="3" name="Shape 1"/>
          <p:cNvSpPr/>
          <p:nvPr/>
        </p:nvSpPr>
        <p:spPr>
          <a:xfrm>
            <a:off x="228600" y="457200"/>
            <a:ext cx="292608" cy="292608"/>
          </a:xfrm>
          <a:prstGeom prst="rect">
            <a:avLst/>
          </a:prstGeom>
          <a:solidFill>
            <a:srgbClr val="2A4BDB"/>
          </a:solidFill>
          <a:ln w="12700">
            <a:solidFill>
              <a:srgbClr val="2A4BDB"/>
            </a:solidFill>
            <a:prstDash val="solid"/>
          </a:ln>
        </p:spPr>
      </p:sp>
      <p:sp>
        <p:nvSpPr>
          <p:cNvPr id="4" name="Text 2"/>
          <p:cNvSpPr txBox="1"/>
          <p:nvPr/>
        </p:nvSpPr>
        <p:spPr>
          <a:xfrm>
            <a:off x="146304" y="1737360"/>
            <a:ext cx="457200" cy="6858000"/>
          </a:xfrm>
          <a:prstGeom prst="rect">
            <a:avLst/>
          </a:prstGeom>
          <a:noFill/>
          <a:ln/>
        </p:spPr>
        <p:txBody>
          <a:bodyPr wrap="square" lIns="0" tIns="0" rIns="0" bIns="0" rtlCol="0" anchor="ctr" vert="vert270"/>
          <a:lstStyle/>
          <a:p>
            <a:pPr algn="ctr" indent="0" marL="0">
              <a:buNone/>
            </a:pPr>
            <a:r>
              <a:rPr lang="en-US" sz="1100" spc="200" kern="0" dirty="0">
                <a:solidFill>
                  <a:srgbClr val="FFFFFF"/>
                </a:solidFill>
                <a:latin typeface="Arial" pitchFamily="34" charset="0"/>
                <a:ea typeface="Arial" pitchFamily="34" charset="-122"/>
                <a:cs typeface="Arial" pitchFamily="34" charset="-120"/>
              </a:rPr>
              <a:t>ESCUELA DE INFORMÁTICA Y TELECOMUNICACIONES</a:t>
            </a:r>
            <a:endParaRPr lang="en-US" sz="1100" dirty="0"/>
          </a:p>
        </p:txBody>
      </p:sp>
      <p:sp>
        <p:nvSpPr>
          <p:cNvPr id="5" name="Shape 3"/>
          <p:cNvSpPr/>
          <p:nvPr/>
        </p:nvSpPr>
        <p:spPr>
          <a:xfrm>
            <a:off x="17099280" y="621792"/>
            <a:ext cx="438912" cy="438912"/>
          </a:xfrm>
          <a:prstGeom prst="rect">
            <a:avLst/>
          </a:prstGeom>
          <a:solidFill>
            <a:srgbClr val="4E7CDC"/>
          </a:solidFill>
          <a:ln w="12700">
            <a:solidFill>
              <a:srgbClr val="4E7CDC"/>
            </a:solidFill>
            <a:prstDash val="solid"/>
          </a:ln>
        </p:spPr>
      </p:sp>
      <p:sp>
        <p:nvSpPr>
          <p:cNvPr id="6" name="Text 4"/>
          <p:cNvSpPr txBox="1"/>
          <p:nvPr/>
        </p:nvSpPr>
        <p:spPr>
          <a:xfrm>
            <a:off x="1508760" y="566928"/>
            <a:ext cx="15179040" cy="100584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Conclusiones y posibles mejoras</a:t>
            </a:r>
            <a:endParaRPr lang="en-US" sz="4000" dirty="0"/>
          </a:p>
        </p:txBody>
      </p:sp>
      <p:sp>
        <p:nvSpPr>
          <p:cNvPr id="7" name="Shape 5"/>
          <p:cNvSpPr/>
          <p:nvPr/>
        </p:nvSpPr>
        <p:spPr>
          <a:xfrm>
            <a:off x="1508760" y="1737360"/>
            <a:ext cx="2834640" cy="45720"/>
          </a:xfrm>
          <a:prstGeom prst="rect">
            <a:avLst/>
          </a:prstGeom>
          <a:solidFill>
            <a:srgbClr val="2A4BDB"/>
          </a:solidFill>
          <a:ln w="12700">
            <a:solidFill>
              <a:srgbClr val="2A4BDB"/>
            </a:solidFill>
            <a:prstDash val="solid"/>
          </a:ln>
        </p:spPr>
      </p:sp>
      <p:pic>
        <p:nvPicPr>
          <p:cNvPr id="8" name="Image 0" descr="/home/claude/ppt/assets/logo.png">    </p:cNvPr>
          <p:cNvPicPr>
            <a:picLocks noChangeAspect="1"/>
          </p:cNvPicPr>
          <p:nvPr/>
        </p:nvPicPr>
        <p:blipFill>
          <a:blip r:embed="rId1"/>
          <a:stretch>
            <a:fillRect/>
          </a:stretch>
        </p:blipFill>
        <p:spPr>
          <a:xfrm>
            <a:off x="15316200" y="9235440"/>
            <a:ext cx="2194560" cy="548640"/>
          </a:xfrm>
          <a:prstGeom prst="rect">
            <a:avLst/>
          </a:prstGeom>
        </p:spPr>
      </p:pic>
      <p:sp>
        <p:nvSpPr>
          <p:cNvPr id="9" name="Shape 6"/>
          <p:cNvSpPr/>
          <p:nvPr/>
        </p:nvSpPr>
        <p:spPr>
          <a:xfrm>
            <a:off x="1508760" y="2194560"/>
            <a:ext cx="7772400" cy="6675120"/>
          </a:xfrm>
          <a:prstGeom prst="rect">
            <a:avLst/>
          </a:prstGeom>
          <a:solidFill>
            <a:srgbClr val="F4F6FA"/>
          </a:solidFill>
          <a:ln w="12700">
            <a:solidFill>
              <a:srgbClr val="D4D4D4"/>
            </a:solidFill>
            <a:prstDash val="solid"/>
          </a:ln>
        </p:spPr>
      </p:sp>
      <p:sp>
        <p:nvSpPr>
          <p:cNvPr id="10" name="Shape 7"/>
          <p:cNvSpPr/>
          <p:nvPr/>
        </p:nvSpPr>
        <p:spPr>
          <a:xfrm>
            <a:off x="1508760" y="2194560"/>
            <a:ext cx="7772400" cy="128016"/>
          </a:xfrm>
          <a:prstGeom prst="rect">
            <a:avLst/>
          </a:prstGeom>
          <a:solidFill>
            <a:srgbClr val="2A4BDB"/>
          </a:solidFill>
          <a:ln w="12700">
            <a:solidFill>
              <a:srgbClr val="2A4BDB"/>
            </a:solidFill>
            <a:prstDash val="solid"/>
          </a:ln>
        </p:spPr>
      </p:sp>
      <p:sp>
        <p:nvSpPr>
          <p:cNvPr id="11" name="Text 8"/>
          <p:cNvSpPr txBox="1"/>
          <p:nvPr/>
        </p:nvSpPr>
        <p:spPr>
          <a:xfrm>
            <a:off x="1828800" y="2514600"/>
            <a:ext cx="722376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Conclusiones</a:t>
            </a:r>
            <a:endParaRPr lang="en-US" sz="2000" dirty="0"/>
          </a:p>
        </p:txBody>
      </p:sp>
      <p:sp>
        <p:nvSpPr>
          <p:cNvPr id="12" name="Text 9"/>
          <p:cNvSpPr txBox="1"/>
          <p:nvPr/>
        </p:nvSpPr>
        <p:spPr>
          <a:xfrm>
            <a:off x="1828800" y="3063240"/>
            <a:ext cx="7223760" cy="5623560"/>
          </a:xfrm>
          <a:prstGeom prst="rect">
            <a:avLst/>
          </a:prstGeom>
          <a:noFill/>
          <a:ln/>
        </p:spPr>
        <p:txBody>
          <a:bodyPr wrap="square" lIns="0" tIns="0" rIns="0" bIns="0" rtlCol="0" anchor="t"/>
          <a:lstStyle/>
          <a:p>
            <a:pPr marL="279400" indent="-279400">
              <a:spcAft>
                <a:spcPts val="1600"/>
              </a:spcAft>
              <a:buSzPct val="100000"/>
              <a:buChar char="•"/>
            </a:pPr>
            <a:r>
              <a:rPr lang="en-US" sz="2000" dirty="0">
                <a:solidFill>
                  <a:srgbClr val="5A5A5A"/>
                </a:solidFill>
                <a:latin typeface="Arial" pitchFamily="34" charset="0"/>
                <a:ea typeface="Arial" pitchFamily="34" charset="-122"/>
                <a:cs typeface="Arial" pitchFamily="34" charset="-120"/>
              </a:rPr>
              <a:t>MLP 64-32 con ReLU, Softmax y Cross-Entropy; Adam 0.0005, batch 256, Dropout 0.2 y Early Stopping. F1 en test: 0,9108.</a:t>
            </a:r>
            <a:endParaRPr lang="en-US" sz="2000" dirty="0"/>
          </a:p>
          <a:p>
            <a:pPr marL="279400" indent="-279400">
              <a:spcAft>
                <a:spcPts val="1600"/>
              </a:spcAft>
              <a:buSzPct val="100000"/>
              <a:buChar char="•"/>
            </a:pPr>
            <a:r>
              <a:rPr lang="en-US" sz="2000" dirty="0">
                <a:solidFill>
                  <a:srgbClr val="5A5A5A"/>
                </a:solidFill>
                <a:latin typeface="Arial" pitchFamily="34" charset="0"/>
                <a:ea typeface="Arial" pitchFamily="34" charset="-122"/>
                <a:cs typeface="Arial" pitchFamily="34" charset="-120"/>
              </a:rPr>
              <a:t>La mayor mejora proviene del learning rate y del batch size; la regularización mejora la calibración más que el F1.</a:t>
            </a:r>
            <a:endParaRPr lang="en-US" sz="2000" dirty="0"/>
          </a:p>
          <a:p>
            <a:pPr marL="279400" indent="-279400">
              <a:spcAft>
                <a:spcPts val="1600"/>
              </a:spcAft>
              <a:buSzPct val="100000"/>
              <a:buChar char="•"/>
            </a:pPr>
            <a:r>
              <a:rPr lang="en-US" sz="2000" dirty="0">
                <a:solidFill>
                  <a:srgbClr val="5A5A5A"/>
                </a:solidFill>
                <a:latin typeface="Arial" pitchFamily="34" charset="0"/>
                <a:ea typeface="Arial" pitchFamily="34" charset="-122"/>
                <a:cs typeface="Arial" pitchFamily="34" charset="-120"/>
              </a:rPr>
              <a:t>Las funciones y arquitecturas rinden de forma equivalente en esta red; las diferencias aparecen en el gradiente y en la velocidad de convergencia.</a:t>
            </a:r>
            <a:endParaRPr lang="en-US" sz="2000" dirty="0"/>
          </a:p>
          <a:p>
            <a:pPr marL="279400" indent="-279400">
              <a:spcAft>
                <a:spcPts val="1600"/>
              </a:spcAft>
              <a:buSzPct val="100000"/>
              <a:buChar char="•"/>
            </a:pPr>
            <a:r>
              <a:rPr lang="en-US" sz="2000" dirty="0">
                <a:solidFill>
                  <a:srgbClr val="5A5A5A"/>
                </a:solidFill>
                <a:latin typeface="Arial" pitchFamily="34" charset="0"/>
                <a:ea typeface="Arial" pitchFamily="34" charset="-122"/>
                <a:cs typeface="Arial" pitchFamily="34" charset="-120"/>
              </a:rPr>
              <a:t>El desempeño en test confirma la generalización: solo 0,0025 bajo validación.</a:t>
            </a:r>
            <a:endParaRPr lang="en-US" sz="2000" dirty="0"/>
          </a:p>
        </p:txBody>
      </p:sp>
      <p:sp>
        <p:nvSpPr>
          <p:cNvPr id="13" name="Shape 10"/>
          <p:cNvSpPr/>
          <p:nvPr/>
        </p:nvSpPr>
        <p:spPr>
          <a:xfrm>
            <a:off x="9738360" y="2194560"/>
            <a:ext cx="7772400" cy="6675120"/>
          </a:xfrm>
          <a:prstGeom prst="rect">
            <a:avLst/>
          </a:prstGeom>
          <a:solidFill>
            <a:srgbClr val="F4F6FA"/>
          </a:solidFill>
          <a:ln w="12700">
            <a:solidFill>
              <a:srgbClr val="D4D4D4"/>
            </a:solidFill>
            <a:prstDash val="solid"/>
          </a:ln>
        </p:spPr>
      </p:sp>
      <p:sp>
        <p:nvSpPr>
          <p:cNvPr id="14" name="Shape 11"/>
          <p:cNvSpPr/>
          <p:nvPr/>
        </p:nvSpPr>
        <p:spPr>
          <a:xfrm>
            <a:off x="9738360" y="2194560"/>
            <a:ext cx="7772400" cy="128016"/>
          </a:xfrm>
          <a:prstGeom prst="rect">
            <a:avLst/>
          </a:prstGeom>
          <a:solidFill>
            <a:srgbClr val="4E7CDC"/>
          </a:solidFill>
          <a:ln w="12700">
            <a:solidFill>
              <a:srgbClr val="4E7CDC"/>
            </a:solidFill>
            <a:prstDash val="solid"/>
          </a:ln>
        </p:spPr>
      </p:sp>
      <p:sp>
        <p:nvSpPr>
          <p:cNvPr id="15" name="Text 12"/>
          <p:cNvSpPr txBox="1"/>
          <p:nvPr/>
        </p:nvSpPr>
        <p:spPr>
          <a:xfrm>
            <a:off x="10058400" y="2514600"/>
            <a:ext cx="7223760" cy="50292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Posibles mejoras</a:t>
            </a:r>
            <a:endParaRPr lang="en-US" sz="2000" dirty="0"/>
          </a:p>
        </p:txBody>
      </p:sp>
      <p:sp>
        <p:nvSpPr>
          <p:cNvPr id="16" name="Text 13"/>
          <p:cNvSpPr txBox="1"/>
          <p:nvPr/>
        </p:nvSpPr>
        <p:spPr>
          <a:xfrm>
            <a:off x="10058400" y="3063240"/>
            <a:ext cx="7223760" cy="5623560"/>
          </a:xfrm>
          <a:prstGeom prst="rect">
            <a:avLst/>
          </a:prstGeom>
          <a:noFill/>
          <a:ln/>
        </p:spPr>
        <p:txBody>
          <a:bodyPr wrap="square" lIns="0" tIns="0" rIns="0" bIns="0" rtlCol="0" anchor="t"/>
          <a:lstStyle/>
          <a:p>
            <a:pPr marL="279400" indent="-279400">
              <a:spcAft>
                <a:spcPts val="1600"/>
              </a:spcAft>
              <a:buSzPct val="100000"/>
              <a:buChar char="•"/>
            </a:pPr>
            <a:r>
              <a:rPr lang="en-US" sz="2000" dirty="0">
                <a:solidFill>
                  <a:srgbClr val="5A5A5A"/>
                </a:solidFill>
                <a:latin typeface="Arial" pitchFamily="34" charset="0"/>
                <a:ea typeface="Arial" pitchFamily="34" charset="-122"/>
                <a:cs typeface="Arial" pitchFamily="34" charset="-120"/>
              </a:rPr>
              <a:t>Búsqueda conjunta de hiperparámetros (Keras Tuner), en lugar de variar uno a la vez.</a:t>
            </a:r>
            <a:endParaRPr lang="en-US" sz="2000" dirty="0"/>
          </a:p>
          <a:p>
            <a:pPr marL="279400" indent="-279400">
              <a:spcAft>
                <a:spcPts val="1600"/>
              </a:spcAft>
              <a:buSzPct val="100000"/>
              <a:buChar char="•"/>
            </a:pPr>
            <a:r>
              <a:rPr lang="en-US" sz="2000" dirty="0">
                <a:solidFill>
                  <a:srgbClr val="5A5A5A"/>
                </a:solidFill>
                <a:latin typeface="Arial" pitchFamily="34" charset="0"/>
                <a:ea typeface="Arial" pitchFamily="34" charset="-122"/>
                <a:cs typeface="Arial" pitchFamily="34" charset="-120"/>
              </a:rPr>
              <a:t>Validación cruzada estratificada para estimar la variabilidad de las métricas.</a:t>
            </a:r>
            <a:endParaRPr lang="en-US" sz="2000" dirty="0"/>
          </a:p>
          <a:p>
            <a:pPr marL="279400" indent="-279400">
              <a:spcAft>
                <a:spcPts val="1600"/>
              </a:spcAft>
              <a:buSzPct val="100000"/>
              <a:buChar char="•"/>
            </a:pPr>
            <a:r>
              <a:rPr lang="en-US" sz="2000" dirty="0">
                <a:solidFill>
                  <a:srgbClr val="5A5A5A"/>
                </a:solidFill>
                <a:latin typeface="Arial" pitchFamily="34" charset="0"/>
                <a:ea typeface="Arial" pitchFamily="34" charset="-122"/>
                <a:cs typeface="Arial" pitchFamily="34" charset="-120"/>
              </a:rPr>
              <a:t>Umbral de confianza con revisión manual para los registros de baja certeza.</a:t>
            </a:r>
            <a:endParaRPr lang="en-US" sz="2000" dirty="0"/>
          </a:p>
          <a:p>
            <a:pPr marL="279400" indent="-279400">
              <a:spcAft>
                <a:spcPts val="1600"/>
              </a:spcAft>
              <a:buSzPct val="100000"/>
              <a:buChar char="•"/>
            </a:pPr>
            <a:r>
              <a:rPr lang="en-US" sz="2000" dirty="0">
                <a:solidFill>
                  <a:srgbClr val="5A5A5A"/>
                </a:solidFill>
                <a:latin typeface="Arial" pitchFamily="34" charset="0"/>
                <a:ea typeface="Arial" pitchFamily="34" charset="-122"/>
                <a:cs typeface="Arial" pitchFamily="34" charset="-120"/>
              </a:rPr>
              <a:t>Nuevas variables para separar Números de Álgebra, y class_weight para subir el recall de Números.</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0D0D"/>
        </a:solidFill>
      </p:bgPr>
    </p:bg>
    <p:spTree>
      <p:nvGrpSpPr>
        <p:cNvPr id="1" name=""/>
        <p:cNvGrpSpPr/>
        <p:nvPr/>
      </p:nvGrpSpPr>
      <p:grpSpPr>
        <a:xfrm>
          <a:off x="0" y="0"/>
          <a:ext cx="0" cy="0"/>
          <a:chOff x="0" y="0"/>
          <a:chExt cx="0" cy="0"/>
        </a:xfrm>
      </p:grpSpPr>
      <p:pic>
        <p:nvPicPr>
          <p:cNvPr id="2" name="Image 0" descr="/home/claude/ppt/assets/cierre.jpg">    </p:cNvPr>
          <p:cNvPicPr>
            <a:picLocks noChangeAspect="1"/>
          </p:cNvPicPr>
          <p:nvPr/>
        </p:nvPicPr>
        <p:blipFill>
          <a:blip r:embed="rId1"/>
          <a:srcRect l="0" r="0" t="0" b="0"/>
          <a:stretch/>
        </p:blipFill>
        <p:spPr>
          <a:xfrm>
            <a:off x="0" y="0"/>
            <a:ext cx="18288000" cy="10287000"/>
          </a:xfrm>
          <a:prstGeom prst="rect">
            <a:avLst/>
          </a:prstGeom>
        </p:spPr>
      </p:pic>
      <p:sp>
        <p:nvSpPr>
          <p:cNvPr id="3" name="Shape 0"/>
          <p:cNvSpPr/>
          <p:nvPr/>
        </p:nvSpPr>
        <p:spPr>
          <a:xfrm>
            <a:off x="9144000" y="640080"/>
            <a:ext cx="8412480" cy="8823960"/>
          </a:xfrm>
          <a:prstGeom prst="rect">
            <a:avLst/>
          </a:prstGeom>
          <a:solidFill>
            <a:srgbClr val="2A4BDB"/>
          </a:solidFill>
          <a:ln w="12700">
            <a:solidFill>
              <a:srgbClr val="2A4BDB"/>
            </a:solidFill>
            <a:prstDash val="solid"/>
          </a:ln>
        </p:spPr>
      </p:sp>
      <p:sp>
        <p:nvSpPr>
          <p:cNvPr id="4" name="Shape 1"/>
          <p:cNvSpPr/>
          <p:nvPr/>
        </p:nvSpPr>
        <p:spPr>
          <a:xfrm>
            <a:off x="9692640" y="3566160"/>
            <a:ext cx="310896" cy="310896"/>
          </a:xfrm>
          <a:prstGeom prst="rect">
            <a:avLst/>
          </a:prstGeom>
          <a:solidFill>
            <a:srgbClr val="FFFFFF"/>
          </a:solidFill>
          <a:ln w="12700">
            <a:solidFill>
              <a:srgbClr val="FFFFFF"/>
            </a:solidFill>
            <a:prstDash val="solid"/>
          </a:ln>
        </p:spPr>
      </p:sp>
      <p:sp>
        <p:nvSpPr>
          <p:cNvPr id="5" name="Text 2"/>
          <p:cNvSpPr txBox="1"/>
          <p:nvPr/>
        </p:nvSpPr>
        <p:spPr>
          <a:xfrm>
            <a:off x="10287000" y="3017520"/>
            <a:ext cx="7040880" cy="128016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Gracias</a:t>
            </a:r>
            <a:endParaRPr lang="en-US" sz="5400" dirty="0"/>
          </a:p>
        </p:txBody>
      </p:sp>
      <p:sp>
        <p:nvSpPr>
          <p:cNvPr id="6" name="Text 3"/>
          <p:cNvSpPr txBox="1"/>
          <p:nvPr/>
        </p:nvSpPr>
        <p:spPr>
          <a:xfrm>
            <a:off x="10287000" y="4389120"/>
            <a:ext cx="7040880" cy="822960"/>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¿Preguntas?</a:t>
            </a:r>
            <a:endParaRPr lang="en-US" sz="2800" dirty="0"/>
          </a:p>
        </p:txBody>
      </p:sp>
      <p:sp>
        <p:nvSpPr>
          <p:cNvPr id="7" name="Text 4"/>
          <p:cNvSpPr txBox="1"/>
          <p:nvPr/>
        </p:nvSpPr>
        <p:spPr>
          <a:xfrm>
            <a:off x="9692640" y="6583680"/>
            <a:ext cx="7498080" cy="10058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Repositorio</a:t>
            </a:r>
            <a:endParaRPr lang="en-US" sz="1800" dirty="0"/>
          </a:p>
          <a:p>
            <a:pPr indent="0" marL="0">
              <a:buNone/>
            </a:pPr>
            <a:r>
              <a:rPr lang="en-US" sz="1800" dirty="0">
                <a:solidFill>
                  <a:srgbClr val="FFFFFF"/>
                </a:solidFill>
                <a:latin typeface="Arial" pitchFamily="34" charset="0"/>
                <a:ea typeface="Arial" pitchFamily="34" charset="-122"/>
                <a:cs typeface="Arial" pitchFamily="34" charset="-120"/>
              </a:rPr>
              <a:t>github.com/Nicolas-Salas/deep-learning-ep1</a:t>
            </a:r>
            <a:endParaRPr lang="en-US" sz="1800" dirty="0"/>
          </a:p>
        </p:txBody>
      </p:sp>
      <p:sp>
        <p:nvSpPr>
          <p:cNvPr id="8" name="Shape 5"/>
          <p:cNvSpPr/>
          <p:nvPr/>
        </p:nvSpPr>
        <p:spPr>
          <a:xfrm>
            <a:off x="15133320" y="8549640"/>
            <a:ext cx="2286000" cy="731520"/>
          </a:xfrm>
          <a:prstGeom prst="roundRect">
            <a:avLst>
              <a:gd name="adj" fmla="val 10000"/>
            </a:avLst>
          </a:prstGeom>
          <a:solidFill>
            <a:srgbClr val="FFFFFF"/>
          </a:solidFill>
          <a:ln w="12700">
            <a:solidFill>
              <a:srgbClr val="FFFFFF"/>
            </a:solidFill>
            <a:prstDash val="solid"/>
          </a:ln>
        </p:spPr>
      </p:sp>
      <p:pic>
        <p:nvPicPr>
          <p:cNvPr id="9" name="Image 1" descr="/home/claude/ppt/assets/logo.png">    </p:cNvPr>
          <p:cNvPicPr>
            <a:picLocks noChangeAspect="1"/>
          </p:cNvPicPr>
          <p:nvPr/>
        </p:nvPicPr>
        <p:blipFill>
          <a:blip r:embed="rId2"/>
          <a:stretch>
            <a:fillRect/>
          </a:stretch>
        </p:blipFill>
        <p:spPr>
          <a:xfrm>
            <a:off x="15179040" y="8641080"/>
            <a:ext cx="219456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Clasificación Curricular Automática con MLP</dc:title>
  <dc:subject>PptxGenJS Presentation</dc:subject>
  <dc:creator>PptxGenJS</dc:creator>
  <cp:lastModifiedBy>PptxGenJS</cp:lastModifiedBy>
  <cp:revision>1</cp:revision>
  <dcterms:created xsi:type="dcterms:W3CDTF">2026-09-24T22:57:35Z</dcterms:created>
  <dcterms:modified xsi:type="dcterms:W3CDTF">2026-09-24T22:57:35Z</dcterms:modified>
</cp:coreProperties>
</file>