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[Ambos · 0:00-0:30] Presentar integrantes y el objetivo: construir una MLP para clasificar material educativo en 4 categorías, justificando cada decisión con experimentos. Nicolás cubre arquitectura, hiperparámetros, regularización y modelo final; Rahyzza cubre datos, funciones y resultados en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[Rahyzza · 0:30-1:30] 100.000 registros ya depurados, 22 variables y 4 categorías. La clase mayor (Números, 30,2%) y la menor (Datos y Probabilidad, 19,7%) están en razón 1,53, por eso la métrica principal es F1 ponderado. Preparación: split estratificado 70/15/15, StandardScaler ajustado solo con train para evitar fuga de información, y semilla reiniciada antes de cada modelo para que la única diferencia entre corridas sea el parámetro evaluado.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 1:30-2:10] MLP de dos capas ocultas, 64 y 32 neuronas con ReLU, Dropout 0.2 después de cada una y Softmax en la salida por ser 4 clases excluyentes. Son 3.684 parámetros. La fila inferior resume la configuración de entrenamiento, que sale de los experimentos que vienen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[Rahyzza · 2:10-3:10] En 2 capas todas las activaciones rinden igual porque el gradiente atraviesa pocas derivadas. En una red de 5 capas se midió el gradiente: con sigmoide llega 1.959 veces más débil a la primera capa, porque su derivada no supera 0,25. Adam compensa en parte, por eso el F1 final es similar, pero ReLU converge en 36 épocas contra 56. En la salida, Softmax y Sigmoide clasifican igual, pero solo Softmax entrega probabilidades que suman 1, que es lo que corresponde a categorías excluyentes; cross-entropy es la pérdida asociada a esa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 3:10-4:20] Experimentos controlados: se varía un parámetro y el resto queda fijo. Con learning rate 0.1 la red colapsa a predecir una sola clase: accuracy igual a la proporción de la clase mayoritaria y pérdida igual a ln 4, que es una predicción uniforme. Entre 0.01 y 0.0005 la diferencia es mínima porque Adam adapta el paso. Batch 256 da el mejor F1 y es unas 6 veces más rápido. La curva larga muestra que desde la época 16 la validación empeora levemente: por eso Early Stopping con patience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 4:20-5:20] Se probaron 6 variantes con todo lo demás fijo. Todas quedan en un rango de F1 de 0,0019, porque el sobreajuste de base ya era leve. El efecto se ve más en val_loss que en F1. Se elige Dropout 0.2: su diferencia con 0.4 es de 0,0006, bajo el umbral de 0,005, y tiene el menor val_loss y la menor brecha absoluta. L2 ralentiza la convergencia y BatchNorm aporta poco porque las entradas ya están estandarizadas. Las brechas negativas se deben a que la accuracy de entrenamiento se mide con neuronas apagadas.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 5:20-6:10] Todas las corridas ordenadas por F1. La tabla sigue la secuencia de decisiones: casi toda la mejora viene del learning rate y del batch size. Criterio: F1 ponderado; si la diferencia es menor a 0,005, se decide por menor val_loss y menor brecha. Por eso se mantienen Adam y la arquitectura 64-32: las alternativas no superan ese umbral y los hiperparámetros se calibraron sobre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[Nicolás · 6:10-6:50] El baseline tocaba su mínimo de val_loss en la época 3 y seguía 37 épocas sobreajustando. El modelo final se detiene y restaura su mejor época: +0,0056 de F1, brecha casi nula y unas 5 veces más rápido. Aquí paso a Rahyzza para los resultados en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[Rahyzza · 6:50-8:00] El test se usa una sola vez, cargando los pesos del modelo final. Las cuatro métricas ponderadas dan 0,9108: los errores se reparten de forma pareja entre clases. Precision: de lo que el modelo asigna a una categoría, cuánto pertenece a ella. Recall: de lo que pertenece, cuánto detecta. Ejemplo con Números a la derecha. La diferencia con validación es solo 0,0025, así que el modelo generaliza.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[Rahyzza · 8:00-9:00] Números y Álgebra se confunden en ambos sentidos, 349 registros en total, probablemente porque comparten operaciones aritméticas. Para mejorar precision y recall: si solo se aceptan predicciones con confianza mayor a 0,80, la precisión sube de 91,1% a 96,7% clasificando automáticamente el 82,1%; el resto iría a revisión manual. También se propone class_weight para subir el recall de Números y variables que distingan Números de Álgebra.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[Rahyzza: conclusiones · Nicolás: mejoras · 9:00-9:45] Cuatro hallazgos: configuración final y F1 de 0,9108; la mejora viene de learning rate y batch; funciones y arquitecturas empatan en esta red; test confirma generalización. Mejoras: búsqueda conjunta de hiperparámetros, validación cruzada, umbral de confianza y variables para separar Números de Álgebra.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[Ambos · 9:45-10:00] Agradecer y abrir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home/claude/ppt/assets/portada.jp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9144000" y="640080"/>
            <a:ext cx="8412480" cy="8823960"/>
          </a:xfrm>
          <a:prstGeom prst="rect">
            <a:avLst/>
          </a:prstGeom>
          <a:solidFill>
            <a:srgbClr val="2A4BDB"/>
          </a:solidFill>
          <a:ln w="12700">
            <a:solidFill>
              <a:srgbClr val="2A4BDB"/>
            </a:solidFill>
            <a:prstDash val="solid"/>
          </a:ln>
        </p:spPr>
      </p:sp>
      <p:sp>
        <p:nvSpPr>
          <p:cNvPr id="4" name="Text 1"/>
          <p:cNvSpPr txBox="1"/>
          <p:nvPr/>
        </p:nvSpPr>
        <p:spPr>
          <a:xfrm>
            <a:off x="9646920" y="960120"/>
            <a:ext cx="3840480" cy="9144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DuocUC</a:t>
            </a:r>
            <a:endParaRPr lang="en-US" sz="3600" dirty="0"/>
          </a:p>
        </p:txBody>
      </p:sp>
      <p:sp>
        <p:nvSpPr>
          <p:cNvPr id="5" name="Text 2"/>
          <p:cNvSpPr txBox="1"/>
          <p:nvPr/>
        </p:nvSpPr>
        <p:spPr>
          <a:xfrm>
            <a:off x="13716000" y="1097280"/>
            <a:ext cx="3474720" cy="68580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INFORMÁTICA Y</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TELECOMUNICACIONES</a:t>
            </a:r>
            <a:endParaRPr lang="en-US" sz="1100" dirty="0"/>
          </a:p>
        </p:txBody>
      </p:sp>
      <p:sp>
        <p:nvSpPr>
          <p:cNvPr id="6" name="Shape 3"/>
          <p:cNvSpPr/>
          <p:nvPr/>
        </p:nvSpPr>
        <p:spPr>
          <a:xfrm>
            <a:off x="9692640" y="3429000"/>
            <a:ext cx="310896" cy="310896"/>
          </a:xfrm>
          <a:prstGeom prst="rect">
            <a:avLst/>
          </a:prstGeom>
          <a:solidFill>
            <a:srgbClr val="FFFFFF"/>
          </a:solidFill>
          <a:ln w="12700">
            <a:solidFill>
              <a:srgbClr val="FFFFFF"/>
            </a:solidFill>
            <a:prstDash val="solid"/>
          </a:ln>
        </p:spPr>
      </p:sp>
      <p:sp>
        <p:nvSpPr>
          <p:cNvPr id="7" name="Text 4"/>
          <p:cNvSpPr txBox="1"/>
          <p:nvPr/>
        </p:nvSpPr>
        <p:spPr>
          <a:xfrm>
            <a:off x="10287000" y="2971800"/>
            <a:ext cx="7040880" cy="1737360"/>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Clasificación Curricular</a:t>
            </a:r>
            <a:endParaRPr lang="en-US" sz="3800" dirty="0"/>
          </a:p>
          <a:p>
            <a:pPr indent="0" marL="0">
              <a:buNone/>
            </a:pPr>
            <a:r>
              <a:rPr lang="en-US" sz="3800" dirty="0">
                <a:solidFill>
                  <a:srgbClr val="FFFFFF"/>
                </a:solidFill>
                <a:latin typeface="Arial" pitchFamily="34" charset="0"/>
                <a:ea typeface="Arial" pitchFamily="34" charset="-122"/>
                <a:cs typeface="Arial" pitchFamily="34" charset="-120"/>
              </a:rPr>
              <a:t>Automática con MLP</a:t>
            </a:r>
            <a:endParaRPr lang="en-US" sz="3800" dirty="0"/>
          </a:p>
        </p:txBody>
      </p:sp>
      <p:sp>
        <p:nvSpPr>
          <p:cNvPr id="8" name="Text 5"/>
          <p:cNvSpPr txBox="1"/>
          <p:nvPr/>
        </p:nvSpPr>
        <p:spPr>
          <a:xfrm>
            <a:off x="10287000" y="4846320"/>
            <a:ext cx="7040880" cy="1188720"/>
          </a:xfrm>
          <a:prstGeom prst="rect">
            <a:avLst/>
          </a:prstGeom>
          <a:noFill/>
          <a:ln/>
        </p:spPr>
        <p:txBody>
          <a:bodyPr wrap="square" lIns="0" tIns="0" rIns="0" bIns="0" rtlCol="0" anchor="t"/>
          <a:lstStyle/>
          <a:p>
            <a:pPr indent="0" marL="0">
              <a:buNone/>
            </a:pPr>
            <a:r>
              <a:rPr lang="en-US" sz="2200" i="1" dirty="0">
                <a:solidFill>
                  <a:srgbClr val="FFFFFF"/>
                </a:solidFill>
                <a:latin typeface="Arial" pitchFamily="34" charset="0"/>
                <a:ea typeface="Arial" pitchFamily="34" charset="-122"/>
                <a:cs typeface="Arial" pitchFamily="34" charset="-120"/>
              </a:rPr>
              <a:t>Evaluación Parcial N.° 1</a:t>
            </a:r>
            <a:endParaRPr lang="en-US" sz="2200" dirty="0"/>
          </a:p>
          <a:p>
            <a:pPr indent="0" marL="0">
              <a:buNone/>
            </a:pPr>
            <a:r>
              <a:rPr lang="en-US" sz="2200" i="1" dirty="0">
                <a:solidFill>
                  <a:srgbClr val="FFFFFF"/>
                </a:solidFill>
                <a:latin typeface="Arial" pitchFamily="34" charset="0"/>
                <a:ea typeface="Arial" pitchFamily="34" charset="-122"/>
                <a:cs typeface="Arial" pitchFamily="34" charset="-120"/>
              </a:rPr>
              <a:t>Fundamentos de Deep Learning (DLY0100)</a:t>
            </a:r>
            <a:endParaRPr lang="en-US" sz="2200" dirty="0"/>
          </a:p>
        </p:txBody>
      </p:sp>
      <p:sp>
        <p:nvSpPr>
          <p:cNvPr id="9" name="Text 6"/>
          <p:cNvSpPr txBox="1"/>
          <p:nvPr/>
        </p:nvSpPr>
        <p:spPr>
          <a:xfrm>
            <a:off x="9555480" y="7086600"/>
            <a:ext cx="4206240" cy="1463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Integrantes:</a:t>
            </a:r>
            <a:endParaRPr lang="en-US" sz="1800" dirty="0"/>
          </a:p>
          <a:p>
            <a:pPr marL="228600" indent="-228600">
              <a:buSzPct val="100000"/>
              <a:buChar char="•"/>
            </a:pPr>
            <a:r>
              <a:rPr lang="en-US" sz="1800" dirty="0">
                <a:solidFill>
                  <a:srgbClr val="FFFFFF"/>
                </a:solidFill>
                <a:latin typeface="Arial" pitchFamily="34" charset="0"/>
                <a:ea typeface="Arial" pitchFamily="34" charset="-122"/>
                <a:cs typeface="Arial" pitchFamily="34" charset="-120"/>
              </a:rPr>
              <a:t>Rahyzza Novoa</a:t>
            </a:r>
            <a:endParaRPr lang="en-US" sz="1800" dirty="0"/>
          </a:p>
          <a:p>
            <a:pPr marL="228600" indent="-228600">
              <a:buSzPct val="100000"/>
              <a:buChar char="•"/>
            </a:pPr>
            <a:r>
              <a:rPr lang="en-US" sz="1800" dirty="0">
                <a:solidFill>
                  <a:srgbClr val="FFFFFF"/>
                </a:solidFill>
                <a:latin typeface="Arial" pitchFamily="34" charset="0"/>
                <a:ea typeface="Arial" pitchFamily="34" charset="-122"/>
                <a:cs typeface="Arial" pitchFamily="34" charset="-120"/>
              </a:rPr>
              <a:t>Nicolás Salas</a:t>
            </a:r>
            <a:endParaRPr lang="en-US" sz="1800" dirty="0"/>
          </a:p>
        </p:txBody>
      </p:sp>
      <p:sp>
        <p:nvSpPr>
          <p:cNvPr id="10" name="Text 7"/>
          <p:cNvSpPr txBox="1"/>
          <p:nvPr/>
        </p:nvSpPr>
        <p:spPr>
          <a:xfrm>
            <a:off x="13944600" y="7086600"/>
            <a:ext cx="3474720" cy="10972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Profesora:</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Elizabeth Chicata Castro</a:t>
            </a:r>
            <a:endParaRPr lang="en-US" sz="1800" dirty="0"/>
          </a:p>
        </p:txBody>
      </p:sp>
      <p:sp>
        <p:nvSpPr>
          <p:cNvPr id="11" name="Shape 8"/>
          <p:cNvSpPr/>
          <p:nvPr/>
        </p:nvSpPr>
        <p:spPr>
          <a:xfrm>
            <a:off x="15133320" y="8549640"/>
            <a:ext cx="2286000" cy="731520"/>
          </a:xfrm>
          <a:prstGeom prst="roundRect">
            <a:avLst>
              <a:gd name="adj" fmla="val 10000"/>
            </a:avLst>
          </a:prstGeom>
          <a:solidFill>
            <a:srgbClr val="FFFFFF"/>
          </a:solidFill>
          <a:ln w="12700">
            <a:solidFill>
              <a:srgbClr val="FFFFFF"/>
            </a:solidFill>
            <a:prstDash val="solid"/>
          </a:ln>
        </p:spPr>
      </p:sp>
      <p:pic>
        <p:nvPicPr>
          <p:cNvPr id="12" name="Image 1" descr="/home/claude/ppt/assets/logo.png">    </p:cNvPr>
          <p:cNvPicPr>
            <a:picLocks noChangeAspect="1"/>
          </p:cNvPicPr>
          <p:nvPr/>
        </p:nvPicPr>
        <p:blipFill>
          <a:blip r:embed="rId2"/>
          <a:stretch>
            <a:fillRect/>
          </a:stretch>
        </p:blipFill>
        <p:spPr>
          <a:xfrm>
            <a:off x="15179040" y="8641080"/>
            <a:ext cx="219456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Problema, objetivo y datos</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Text 6"/>
          <p:cNvSpPr txBox="1"/>
          <p:nvPr/>
        </p:nvSpPr>
        <p:spPr>
          <a:xfrm>
            <a:off x="1508760" y="2103120"/>
            <a:ext cx="7680960" cy="1920240"/>
          </a:xfrm>
          <a:prstGeom prst="rect">
            <a:avLst/>
          </a:prstGeom>
          <a:noFill/>
          <a:ln/>
        </p:spPr>
        <p:txBody>
          <a:bodyPr wrap="square" lIns="0" tIns="0" rIns="0" bIns="0" rtlCol="0" anchor="t"/>
          <a:lstStyle/>
          <a:p>
            <a:pPr indent="0" marL="0">
              <a:spcAft>
                <a:spcPts val="800"/>
              </a:spcAft>
              <a:buNone/>
            </a:pPr>
            <a:r>
              <a:rPr lang="en-US" sz="1800" b="1" dirty="0">
                <a:solidFill>
                  <a:srgbClr val="222222"/>
                </a:solidFill>
                <a:latin typeface="Arial" pitchFamily="34" charset="0"/>
                <a:ea typeface="Arial" pitchFamily="34" charset="-122"/>
                <a:cs typeface="Arial" pitchFamily="34" charset="-120"/>
              </a:rPr>
              <a:t>Problema: </a:t>
            </a:r>
            <a:pPr indent="0" marL="0">
              <a:spcAft>
                <a:spcPts val="800"/>
              </a:spcAft>
              <a:buNone/>
            </a:pPr>
            <a:r>
              <a:rPr lang="en-US" sz="1800" dirty="0">
                <a:solidFill>
                  <a:srgbClr val="222222"/>
                </a:solidFill>
                <a:latin typeface="Arial" pitchFamily="34" charset="0"/>
                <a:ea typeface="Arial" pitchFamily="34" charset="-122"/>
                <a:cs typeface="Arial" pitchFamily="34" charset="-120"/>
              </a:rPr>
              <a:t>clasificar material educativo de matemáticas en 4 categorías curriculares a partir de 22 variables numéricas.</a:t>
            </a:r>
            <a:endParaRPr lang="en-US" sz="1800" dirty="0"/>
          </a:p>
          <a:p>
            <a:pPr indent="0" marL="0">
              <a:spcAft>
                <a:spcPts val="800"/>
              </a:spcAft>
              <a:buNone/>
            </a:pPr>
            <a:r>
              <a:rPr lang="en-US" sz="1800" b="1" dirty="0">
                <a:solidFill>
                  <a:srgbClr val="222222"/>
                </a:solidFill>
                <a:latin typeface="Arial" pitchFamily="34" charset="0"/>
                <a:ea typeface="Arial" pitchFamily="34" charset="-122"/>
                <a:cs typeface="Arial" pitchFamily="34" charset="-120"/>
              </a:rPr>
              <a:t>Objetivo: </a:t>
            </a:r>
            <a:pPr indent="0" marL="0">
              <a:spcAft>
                <a:spcPts val="800"/>
              </a:spcAft>
              <a:buNone/>
            </a:pPr>
            <a:r>
              <a:rPr lang="en-US" sz="1800" dirty="0">
                <a:solidFill>
                  <a:srgbClr val="222222"/>
                </a:solidFill>
                <a:latin typeface="Arial" pitchFamily="34" charset="0"/>
                <a:ea typeface="Arial" pitchFamily="34" charset="-122"/>
                <a:cs typeface="Arial" pitchFamily="34" charset="-120"/>
              </a:rPr>
              <a:t>implementar una MLP en Keras y justificar experimentalmente cada decisión.</a:t>
            </a:r>
            <a:endParaRPr lang="en-US" sz="1800" dirty="0"/>
          </a:p>
        </p:txBody>
      </p:sp>
      <p:sp>
        <p:nvSpPr>
          <p:cNvPr id="10" name="Shape 7"/>
          <p:cNvSpPr/>
          <p:nvPr/>
        </p:nvSpPr>
        <p:spPr>
          <a:xfrm>
            <a:off x="1508760" y="3977640"/>
            <a:ext cx="2423160" cy="1874520"/>
          </a:xfrm>
          <a:prstGeom prst="rect">
            <a:avLst/>
          </a:prstGeom>
          <a:solidFill>
            <a:srgbClr val="F4F6FA"/>
          </a:solidFill>
          <a:ln w="12700">
            <a:solidFill>
              <a:srgbClr val="D4D4D4"/>
            </a:solidFill>
            <a:prstDash val="solid"/>
          </a:ln>
        </p:spPr>
      </p:sp>
      <p:sp>
        <p:nvSpPr>
          <p:cNvPr id="11" name="Shape 8"/>
          <p:cNvSpPr/>
          <p:nvPr/>
        </p:nvSpPr>
        <p:spPr>
          <a:xfrm>
            <a:off x="1508760" y="3977640"/>
            <a:ext cx="2423160" cy="128016"/>
          </a:xfrm>
          <a:prstGeom prst="rect">
            <a:avLst/>
          </a:prstGeom>
          <a:solidFill>
            <a:srgbClr val="2A4BDB"/>
          </a:solidFill>
          <a:ln w="12700">
            <a:solidFill>
              <a:srgbClr val="2A4BDB"/>
            </a:solidFill>
            <a:prstDash val="solid"/>
          </a:ln>
        </p:spPr>
      </p:sp>
      <p:sp>
        <p:nvSpPr>
          <p:cNvPr id="12" name="Text 9"/>
          <p:cNvSpPr txBox="1"/>
          <p:nvPr/>
        </p:nvSpPr>
        <p:spPr>
          <a:xfrm>
            <a:off x="1828800" y="4297680"/>
            <a:ext cx="187452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100 mil</a:t>
            </a:r>
            <a:endParaRPr lang="en-US" sz="4000" dirty="0"/>
          </a:p>
        </p:txBody>
      </p:sp>
      <p:sp>
        <p:nvSpPr>
          <p:cNvPr id="13" name="Text 10"/>
          <p:cNvSpPr txBox="1"/>
          <p:nvPr/>
        </p:nvSpPr>
        <p:spPr>
          <a:xfrm>
            <a:off x="1828800" y="5166360"/>
            <a:ext cx="187452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registros</a:t>
            </a:r>
            <a:endParaRPr lang="en-US" sz="1900" dirty="0"/>
          </a:p>
        </p:txBody>
      </p:sp>
      <p:sp>
        <p:nvSpPr>
          <p:cNvPr id="14" name="Shape 11"/>
          <p:cNvSpPr/>
          <p:nvPr/>
        </p:nvSpPr>
        <p:spPr>
          <a:xfrm>
            <a:off x="4133088" y="3977640"/>
            <a:ext cx="2423160" cy="1874520"/>
          </a:xfrm>
          <a:prstGeom prst="rect">
            <a:avLst/>
          </a:prstGeom>
          <a:solidFill>
            <a:srgbClr val="F4F6FA"/>
          </a:solidFill>
          <a:ln w="12700">
            <a:solidFill>
              <a:srgbClr val="D4D4D4"/>
            </a:solidFill>
            <a:prstDash val="solid"/>
          </a:ln>
        </p:spPr>
      </p:sp>
      <p:sp>
        <p:nvSpPr>
          <p:cNvPr id="15" name="Shape 12"/>
          <p:cNvSpPr/>
          <p:nvPr/>
        </p:nvSpPr>
        <p:spPr>
          <a:xfrm>
            <a:off x="4133088" y="3977640"/>
            <a:ext cx="2423160" cy="128016"/>
          </a:xfrm>
          <a:prstGeom prst="rect">
            <a:avLst/>
          </a:prstGeom>
          <a:solidFill>
            <a:srgbClr val="2A4BDB"/>
          </a:solidFill>
          <a:ln w="12700">
            <a:solidFill>
              <a:srgbClr val="2A4BDB"/>
            </a:solidFill>
            <a:prstDash val="solid"/>
          </a:ln>
        </p:spPr>
      </p:sp>
      <p:sp>
        <p:nvSpPr>
          <p:cNvPr id="16" name="Text 13"/>
          <p:cNvSpPr txBox="1"/>
          <p:nvPr/>
        </p:nvSpPr>
        <p:spPr>
          <a:xfrm>
            <a:off x="4453128" y="4297680"/>
            <a:ext cx="187452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22</a:t>
            </a:r>
            <a:endParaRPr lang="en-US" sz="4000" dirty="0"/>
          </a:p>
        </p:txBody>
      </p:sp>
      <p:sp>
        <p:nvSpPr>
          <p:cNvPr id="17" name="Text 14"/>
          <p:cNvSpPr txBox="1"/>
          <p:nvPr/>
        </p:nvSpPr>
        <p:spPr>
          <a:xfrm>
            <a:off x="4453128" y="5166360"/>
            <a:ext cx="187452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variables</a:t>
            </a:r>
            <a:endParaRPr lang="en-US" sz="1900" dirty="0"/>
          </a:p>
        </p:txBody>
      </p:sp>
      <p:sp>
        <p:nvSpPr>
          <p:cNvPr id="18" name="Shape 15"/>
          <p:cNvSpPr/>
          <p:nvPr/>
        </p:nvSpPr>
        <p:spPr>
          <a:xfrm>
            <a:off x="6757416" y="3977640"/>
            <a:ext cx="2423160" cy="1874520"/>
          </a:xfrm>
          <a:prstGeom prst="rect">
            <a:avLst/>
          </a:prstGeom>
          <a:solidFill>
            <a:srgbClr val="F4F6FA"/>
          </a:solidFill>
          <a:ln w="12700">
            <a:solidFill>
              <a:srgbClr val="D4D4D4"/>
            </a:solidFill>
            <a:prstDash val="solid"/>
          </a:ln>
        </p:spPr>
      </p:sp>
      <p:sp>
        <p:nvSpPr>
          <p:cNvPr id="19" name="Shape 16"/>
          <p:cNvSpPr/>
          <p:nvPr/>
        </p:nvSpPr>
        <p:spPr>
          <a:xfrm>
            <a:off x="6757416" y="3977640"/>
            <a:ext cx="2423160" cy="128016"/>
          </a:xfrm>
          <a:prstGeom prst="rect">
            <a:avLst/>
          </a:prstGeom>
          <a:solidFill>
            <a:srgbClr val="2A4BDB"/>
          </a:solidFill>
          <a:ln w="12700">
            <a:solidFill>
              <a:srgbClr val="2A4BDB"/>
            </a:solidFill>
            <a:prstDash val="solid"/>
          </a:ln>
        </p:spPr>
      </p:sp>
      <p:sp>
        <p:nvSpPr>
          <p:cNvPr id="20" name="Text 17"/>
          <p:cNvSpPr txBox="1"/>
          <p:nvPr/>
        </p:nvSpPr>
        <p:spPr>
          <a:xfrm>
            <a:off x="7077456" y="4297680"/>
            <a:ext cx="187452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4</a:t>
            </a:r>
            <a:endParaRPr lang="en-US" sz="4000" dirty="0"/>
          </a:p>
        </p:txBody>
      </p:sp>
      <p:sp>
        <p:nvSpPr>
          <p:cNvPr id="21" name="Text 18"/>
          <p:cNvSpPr txBox="1"/>
          <p:nvPr/>
        </p:nvSpPr>
        <p:spPr>
          <a:xfrm>
            <a:off x="7077456" y="5166360"/>
            <a:ext cx="187452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categorías</a:t>
            </a:r>
            <a:endParaRPr lang="en-US" sz="1900" dirty="0"/>
          </a:p>
        </p:txBody>
      </p:sp>
      <p:sp>
        <p:nvSpPr>
          <p:cNvPr id="22" name="Shape 19"/>
          <p:cNvSpPr/>
          <p:nvPr/>
        </p:nvSpPr>
        <p:spPr>
          <a:xfrm>
            <a:off x="1508760" y="6126480"/>
            <a:ext cx="7680960" cy="2926080"/>
          </a:xfrm>
          <a:prstGeom prst="rect">
            <a:avLst/>
          </a:prstGeom>
          <a:solidFill>
            <a:srgbClr val="F4F6FA"/>
          </a:solidFill>
          <a:ln w="12700">
            <a:solidFill>
              <a:srgbClr val="D4D4D4"/>
            </a:solidFill>
            <a:prstDash val="solid"/>
          </a:ln>
        </p:spPr>
      </p:sp>
      <p:sp>
        <p:nvSpPr>
          <p:cNvPr id="23" name="Shape 20"/>
          <p:cNvSpPr/>
          <p:nvPr/>
        </p:nvSpPr>
        <p:spPr>
          <a:xfrm>
            <a:off x="1508760" y="6126480"/>
            <a:ext cx="7680960" cy="128016"/>
          </a:xfrm>
          <a:prstGeom prst="rect">
            <a:avLst/>
          </a:prstGeom>
          <a:solidFill>
            <a:srgbClr val="2A4BDB"/>
          </a:solidFill>
          <a:ln w="12700">
            <a:solidFill>
              <a:srgbClr val="2A4BDB"/>
            </a:solidFill>
            <a:prstDash val="solid"/>
          </a:ln>
        </p:spPr>
      </p:sp>
      <p:sp>
        <p:nvSpPr>
          <p:cNvPr id="24" name="Text 21"/>
          <p:cNvSpPr txBox="1"/>
          <p:nvPr/>
        </p:nvSpPr>
        <p:spPr>
          <a:xfrm>
            <a:off x="1828800" y="6446520"/>
            <a:ext cx="713232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Preparación</a:t>
            </a:r>
            <a:endParaRPr lang="en-US" sz="2000" dirty="0"/>
          </a:p>
        </p:txBody>
      </p:sp>
      <p:sp>
        <p:nvSpPr>
          <p:cNvPr id="25" name="Text 22"/>
          <p:cNvSpPr txBox="1"/>
          <p:nvPr/>
        </p:nvSpPr>
        <p:spPr>
          <a:xfrm>
            <a:off x="1828800" y="6995160"/>
            <a:ext cx="7132320" cy="187452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0 nulos y 0 duplicados: no requiere ETL.</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Split 70/15/15 estratificado; test aislado hasta el final.</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StandardScaler ajustado solo con train.</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Semilla 42 reiniciada antes de cada entrenamiento.</a:t>
            </a:r>
            <a:endParaRPr lang="en-US" sz="1500" dirty="0"/>
          </a:p>
        </p:txBody>
      </p:sp>
      <p:sp>
        <p:nvSpPr>
          <p:cNvPr id="26" name="Shape 23"/>
          <p:cNvSpPr/>
          <p:nvPr/>
        </p:nvSpPr>
        <p:spPr>
          <a:xfrm>
            <a:off x="9692640" y="2148840"/>
            <a:ext cx="7818120" cy="3998474"/>
          </a:xfrm>
          <a:prstGeom prst="rect">
            <a:avLst/>
          </a:prstGeom>
          <a:solidFill>
            <a:srgbClr val="FFFFFF"/>
          </a:solidFill>
          <a:ln w="12700">
            <a:solidFill>
              <a:srgbClr val="D4D4D4"/>
            </a:solidFill>
            <a:prstDash val="solid"/>
          </a:ln>
        </p:spPr>
      </p:sp>
      <p:pic>
        <p:nvPicPr>
          <p:cNvPr id="27" name="Image 1" descr="/home/claude/ppt/assets/B_11_0.png">    </p:cNvPr>
          <p:cNvPicPr>
            <a:picLocks noChangeAspect="1"/>
          </p:cNvPicPr>
          <p:nvPr/>
        </p:nvPicPr>
        <p:blipFill>
          <a:blip r:embed="rId2"/>
          <a:stretch>
            <a:fillRect/>
          </a:stretch>
        </p:blipFill>
        <p:spPr>
          <a:xfrm>
            <a:off x="9829800" y="2286000"/>
            <a:ext cx="7543800" cy="3724154"/>
          </a:xfrm>
          <a:prstGeom prst="rect">
            <a:avLst/>
          </a:prstGeom>
        </p:spPr>
      </p:pic>
      <p:sp>
        <p:nvSpPr>
          <p:cNvPr id="28" name="Text 24"/>
          <p:cNvSpPr txBox="1"/>
          <p:nvPr/>
        </p:nvSpPr>
        <p:spPr>
          <a:xfrm>
            <a:off x="9692640" y="6309360"/>
            <a:ext cx="7772400" cy="7315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Desbalance moderado (ratio 1,53): se usa F1 ponderado como métrica principal.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Arquitectura de la MLP</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600200" y="2331720"/>
            <a:ext cx="3108960" cy="2651760"/>
          </a:xfrm>
          <a:prstGeom prst="rect">
            <a:avLst/>
          </a:prstGeom>
          <a:solidFill>
            <a:srgbClr val="1A1A1A"/>
          </a:solidFill>
          <a:ln w="12700">
            <a:solidFill>
              <a:srgbClr val="1A1A1A"/>
            </a:solidFill>
            <a:prstDash val="solid"/>
          </a:ln>
        </p:spPr>
      </p:sp>
      <p:sp>
        <p:nvSpPr>
          <p:cNvPr id="10" name="Text 7"/>
          <p:cNvSpPr txBox="1"/>
          <p:nvPr/>
        </p:nvSpPr>
        <p:spPr>
          <a:xfrm>
            <a:off x="1600200" y="2560320"/>
            <a:ext cx="310896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Entrada</a:t>
            </a:r>
            <a:endParaRPr lang="en-US" sz="1800" dirty="0"/>
          </a:p>
        </p:txBody>
      </p:sp>
      <p:sp>
        <p:nvSpPr>
          <p:cNvPr id="11" name="Text 8"/>
          <p:cNvSpPr txBox="1"/>
          <p:nvPr/>
        </p:nvSpPr>
        <p:spPr>
          <a:xfrm>
            <a:off x="1600200" y="3108960"/>
            <a:ext cx="3108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22 variables</a:t>
            </a:r>
            <a:endParaRPr lang="en-US" sz="2600" dirty="0"/>
          </a:p>
        </p:txBody>
      </p:sp>
      <p:sp>
        <p:nvSpPr>
          <p:cNvPr id="12" name="Text 9"/>
          <p:cNvSpPr txBox="1"/>
          <p:nvPr/>
        </p:nvSpPr>
        <p:spPr>
          <a:xfrm>
            <a:off x="1600200" y="4023360"/>
            <a:ext cx="3108960" cy="548640"/>
          </a:xfrm>
          <a:prstGeom prst="rect">
            <a:avLst/>
          </a:prstGeom>
          <a:noFill/>
          <a:ln/>
        </p:spPr>
        <p:txBody>
          <a:bodyPr wrap="square" lIns="0" tIns="0" rIns="0" bIns="0"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estandarizadas</a:t>
            </a:r>
            <a:endParaRPr lang="en-US" sz="1600" dirty="0"/>
          </a:p>
        </p:txBody>
      </p:sp>
      <p:sp>
        <p:nvSpPr>
          <p:cNvPr id="13" name="Shape 10"/>
          <p:cNvSpPr/>
          <p:nvPr/>
        </p:nvSpPr>
        <p:spPr>
          <a:xfrm>
            <a:off x="4800600" y="3429000"/>
            <a:ext cx="685800" cy="457200"/>
          </a:xfrm>
          <a:prstGeom prst="rightArrow">
            <a:avLst/>
          </a:prstGeom>
          <a:solidFill>
            <a:srgbClr val="4E7CDC"/>
          </a:solidFill>
          <a:ln w="12700">
            <a:solidFill>
              <a:srgbClr val="4E7CDC"/>
            </a:solidFill>
            <a:prstDash val="solid"/>
          </a:ln>
        </p:spPr>
      </p:sp>
      <p:sp>
        <p:nvSpPr>
          <p:cNvPr id="14" name="Shape 11"/>
          <p:cNvSpPr/>
          <p:nvPr/>
        </p:nvSpPr>
        <p:spPr>
          <a:xfrm>
            <a:off x="5577840" y="2331720"/>
            <a:ext cx="3108960" cy="2651760"/>
          </a:xfrm>
          <a:prstGeom prst="rect">
            <a:avLst/>
          </a:prstGeom>
          <a:solidFill>
            <a:srgbClr val="2A4BDB"/>
          </a:solidFill>
          <a:ln w="12700">
            <a:solidFill>
              <a:srgbClr val="2A4BDB"/>
            </a:solidFill>
            <a:prstDash val="solid"/>
          </a:ln>
        </p:spPr>
      </p:sp>
      <p:sp>
        <p:nvSpPr>
          <p:cNvPr id="15" name="Text 12"/>
          <p:cNvSpPr txBox="1"/>
          <p:nvPr/>
        </p:nvSpPr>
        <p:spPr>
          <a:xfrm>
            <a:off x="5577840" y="2560320"/>
            <a:ext cx="310896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Densa 1</a:t>
            </a:r>
            <a:endParaRPr lang="en-US" sz="1800" dirty="0"/>
          </a:p>
        </p:txBody>
      </p:sp>
      <p:sp>
        <p:nvSpPr>
          <p:cNvPr id="16" name="Text 13"/>
          <p:cNvSpPr txBox="1"/>
          <p:nvPr/>
        </p:nvSpPr>
        <p:spPr>
          <a:xfrm>
            <a:off x="5577840" y="3108960"/>
            <a:ext cx="3108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64 neuronas</a:t>
            </a:r>
            <a:endParaRPr lang="en-US" sz="2600" dirty="0"/>
          </a:p>
        </p:txBody>
      </p:sp>
      <p:sp>
        <p:nvSpPr>
          <p:cNvPr id="17" name="Text 14"/>
          <p:cNvSpPr txBox="1"/>
          <p:nvPr/>
        </p:nvSpPr>
        <p:spPr>
          <a:xfrm>
            <a:off x="5577840" y="4023360"/>
            <a:ext cx="3108960" cy="548640"/>
          </a:xfrm>
          <a:prstGeom prst="rect">
            <a:avLst/>
          </a:prstGeom>
          <a:noFill/>
          <a:ln/>
        </p:spPr>
        <p:txBody>
          <a:bodyPr wrap="square" lIns="0" tIns="0" rIns="0" bIns="0"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ReLU + Dropout 0.2</a:t>
            </a:r>
            <a:endParaRPr lang="en-US" sz="1600" dirty="0"/>
          </a:p>
        </p:txBody>
      </p:sp>
      <p:sp>
        <p:nvSpPr>
          <p:cNvPr id="18" name="Shape 15"/>
          <p:cNvSpPr/>
          <p:nvPr/>
        </p:nvSpPr>
        <p:spPr>
          <a:xfrm>
            <a:off x="8778240" y="3429000"/>
            <a:ext cx="685800" cy="457200"/>
          </a:xfrm>
          <a:prstGeom prst="rightArrow">
            <a:avLst/>
          </a:prstGeom>
          <a:solidFill>
            <a:srgbClr val="4E7CDC"/>
          </a:solidFill>
          <a:ln w="12700">
            <a:solidFill>
              <a:srgbClr val="4E7CDC"/>
            </a:solidFill>
            <a:prstDash val="solid"/>
          </a:ln>
        </p:spPr>
      </p:sp>
      <p:sp>
        <p:nvSpPr>
          <p:cNvPr id="19" name="Shape 16"/>
          <p:cNvSpPr/>
          <p:nvPr/>
        </p:nvSpPr>
        <p:spPr>
          <a:xfrm>
            <a:off x="9555480" y="2331720"/>
            <a:ext cx="3108960" cy="2651760"/>
          </a:xfrm>
          <a:prstGeom prst="rect">
            <a:avLst/>
          </a:prstGeom>
          <a:solidFill>
            <a:srgbClr val="2A4BDB"/>
          </a:solidFill>
          <a:ln w="12700">
            <a:solidFill>
              <a:srgbClr val="2A4BDB"/>
            </a:solidFill>
            <a:prstDash val="solid"/>
          </a:ln>
        </p:spPr>
      </p:sp>
      <p:sp>
        <p:nvSpPr>
          <p:cNvPr id="20" name="Text 17"/>
          <p:cNvSpPr txBox="1"/>
          <p:nvPr/>
        </p:nvSpPr>
        <p:spPr>
          <a:xfrm>
            <a:off x="9555480" y="2560320"/>
            <a:ext cx="310896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Densa 2</a:t>
            </a:r>
            <a:endParaRPr lang="en-US" sz="1800" dirty="0"/>
          </a:p>
        </p:txBody>
      </p:sp>
      <p:sp>
        <p:nvSpPr>
          <p:cNvPr id="21" name="Text 18"/>
          <p:cNvSpPr txBox="1"/>
          <p:nvPr/>
        </p:nvSpPr>
        <p:spPr>
          <a:xfrm>
            <a:off x="9555480" y="3108960"/>
            <a:ext cx="3108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32 neuronas</a:t>
            </a:r>
            <a:endParaRPr lang="en-US" sz="2600" dirty="0"/>
          </a:p>
        </p:txBody>
      </p:sp>
      <p:sp>
        <p:nvSpPr>
          <p:cNvPr id="22" name="Text 19"/>
          <p:cNvSpPr txBox="1"/>
          <p:nvPr/>
        </p:nvSpPr>
        <p:spPr>
          <a:xfrm>
            <a:off x="9555480" y="4023360"/>
            <a:ext cx="3108960" cy="548640"/>
          </a:xfrm>
          <a:prstGeom prst="rect">
            <a:avLst/>
          </a:prstGeom>
          <a:noFill/>
          <a:ln/>
        </p:spPr>
        <p:txBody>
          <a:bodyPr wrap="square" lIns="0" tIns="0" rIns="0" bIns="0"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ReLU + Dropout 0.2</a:t>
            </a:r>
            <a:endParaRPr lang="en-US" sz="1600" dirty="0"/>
          </a:p>
        </p:txBody>
      </p:sp>
      <p:sp>
        <p:nvSpPr>
          <p:cNvPr id="23" name="Shape 20"/>
          <p:cNvSpPr/>
          <p:nvPr/>
        </p:nvSpPr>
        <p:spPr>
          <a:xfrm>
            <a:off x="12755880" y="3429000"/>
            <a:ext cx="685800" cy="457200"/>
          </a:xfrm>
          <a:prstGeom prst="rightArrow">
            <a:avLst/>
          </a:prstGeom>
          <a:solidFill>
            <a:srgbClr val="4E7CDC"/>
          </a:solidFill>
          <a:ln w="12700">
            <a:solidFill>
              <a:srgbClr val="4E7CDC"/>
            </a:solidFill>
            <a:prstDash val="solid"/>
          </a:ln>
        </p:spPr>
      </p:sp>
      <p:sp>
        <p:nvSpPr>
          <p:cNvPr id="24" name="Shape 21"/>
          <p:cNvSpPr/>
          <p:nvPr/>
        </p:nvSpPr>
        <p:spPr>
          <a:xfrm>
            <a:off x="13533120" y="2331720"/>
            <a:ext cx="3108960" cy="2651760"/>
          </a:xfrm>
          <a:prstGeom prst="rect">
            <a:avLst/>
          </a:prstGeom>
          <a:solidFill>
            <a:srgbClr val="4E7CDC"/>
          </a:solidFill>
          <a:ln w="12700">
            <a:solidFill>
              <a:srgbClr val="4E7CDC"/>
            </a:solidFill>
            <a:prstDash val="solid"/>
          </a:ln>
        </p:spPr>
      </p:sp>
      <p:sp>
        <p:nvSpPr>
          <p:cNvPr id="25" name="Text 22"/>
          <p:cNvSpPr txBox="1"/>
          <p:nvPr/>
        </p:nvSpPr>
        <p:spPr>
          <a:xfrm>
            <a:off x="13533120" y="2560320"/>
            <a:ext cx="310896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Salida</a:t>
            </a:r>
            <a:endParaRPr lang="en-US" sz="1800" dirty="0"/>
          </a:p>
        </p:txBody>
      </p:sp>
      <p:sp>
        <p:nvSpPr>
          <p:cNvPr id="26" name="Text 23"/>
          <p:cNvSpPr txBox="1"/>
          <p:nvPr/>
        </p:nvSpPr>
        <p:spPr>
          <a:xfrm>
            <a:off x="13533120" y="3108960"/>
            <a:ext cx="3108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4 neuronas</a:t>
            </a:r>
            <a:endParaRPr lang="en-US" sz="2600" dirty="0"/>
          </a:p>
        </p:txBody>
      </p:sp>
      <p:sp>
        <p:nvSpPr>
          <p:cNvPr id="27" name="Text 24"/>
          <p:cNvSpPr txBox="1"/>
          <p:nvPr/>
        </p:nvSpPr>
        <p:spPr>
          <a:xfrm>
            <a:off x="13533120" y="4023360"/>
            <a:ext cx="3108960" cy="548640"/>
          </a:xfrm>
          <a:prstGeom prst="rect">
            <a:avLst/>
          </a:prstGeom>
          <a:noFill/>
          <a:ln/>
        </p:spPr>
        <p:txBody>
          <a:bodyPr wrap="square" lIns="0" tIns="0" rIns="0" bIns="0"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Softmax</a:t>
            </a:r>
            <a:endParaRPr lang="en-US" sz="1600" dirty="0"/>
          </a:p>
        </p:txBody>
      </p:sp>
      <p:sp>
        <p:nvSpPr>
          <p:cNvPr id="28" name="Text 25"/>
          <p:cNvSpPr txBox="1"/>
          <p:nvPr/>
        </p:nvSpPr>
        <p:spPr>
          <a:xfrm>
            <a:off x="1600200" y="5166360"/>
            <a:ext cx="15087600" cy="457200"/>
          </a:xfrm>
          <a:prstGeom prst="rect">
            <a:avLst/>
          </a:prstGeom>
          <a:noFill/>
          <a:ln/>
        </p:spPr>
        <p:txBody>
          <a:bodyPr wrap="square" lIns="0" tIns="0" rIns="0" bIns="0" rtlCol="0" anchor="ctr"/>
          <a:lstStyle/>
          <a:p>
            <a:pPr algn="ctr" indent="0" marL="0">
              <a:buNone/>
            </a:pPr>
            <a:r>
              <a:rPr lang="en-US" sz="1600" i="1" dirty="0">
                <a:solidFill>
                  <a:srgbClr val="5A5A5A"/>
                </a:solidFill>
                <a:latin typeface="Arial" pitchFamily="34" charset="0"/>
                <a:ea typeface="Arial" pitchFamily="34" charset="-122"/>
                <a:cs typeface="Arial" pitchFamily="34" charset="-120"/>
              </a:rPr>
              <a:t>3.684 parámetros entrenables</a:t>
            </a:r>
            <a:endParaRPr lang="en-US" sz="1600" dirty="0"/>
          </a:p>
        </p:txBody>
      </p:sp>
      <p:sp>
        <p:nvSpPr>
          <p:cNvPr id="29" name="Shape 26"/>
          <p:cNvSpPr/>
          <p:nvPr/>
        </p:nvSpPr>
        <p:spPr>
          <a:xfrm>
            <a:off x="1508760" y="6035040"/>
            <a:ext cx="3611880" cy="2560320"/>
          </a:xfrm>
          <a:prstGeom prst="rect">
            <a:avLst/>
          </a:prstGeom>
          <a:solidFill>
            <a:srgbClr val="F4F6FA"/>
          </a:solidFill>
          <a:ln w="12700">
            <a:solidFill>
              <a:srgbClr val="D4D4D4"/>
            </a:solidFill>
            <a:prstDash val="solid"/>
          </a:ln>
        </p:spPr>
      </p:sp>
      <p:sp>
        <p:nvSpPr>
          <p:cNvPr id="30" name="Shape 27"/>
          <p:cNvSpPr/>
          <p:nvPr/>
        </p:nvSpPr>
        <p:spPr>
          <a:xfrm>
            <a:off x="1508760" y="6035040"/>
            <a:ext cx="3611880" cy="128016"/>
          </a:xfrm>
          <a:prstGeom prst="rect">
            <a:avLst/>
          </a:prstGeom>
          <a:solidFill>
            <a:srgbClr val="2A4BDB"/>
          </a:solidFill>
          <a:ln w="12700">
            <a:solidFill>
              <a:srgbClr val="2A4BDB"/>
            </a:solidFill>
            <a:prstDash val="solid"/>
          </a:ln>
        </p:spPr>
      </p:sp>
      <p:sp>
        <p:nvSpPr>
          <p:cNvPr id="31" name="Text 28"/>
          <p:cNvSpPr txBox="1"/>
          <p:nvPr/>
        </p:nvSpPr>
        <p:spPr>
          <a:xfrm>
            <a:off x="1783080" y="6355080"/>
            <a:ext cx="3108960" cy="457200"/>
          </a:xfrm>
          <a:prstGeom prst="rect">
            <a:avLst/>
          </a:prstGeom>
          <a:noFill/>
          <a:ln/>
        </p:spPr>
        <p:txBody>
          <a:bodyPr wrap="square" lIns="0" tIns="0" rIns="0" bIns="0" rtlCol="0" anchor="ctr"/>
          <a:lstStyle/>
          <a:p>
            <a:pPr indent="0" marL="0">
              <a:buNone/>
            </a:pPr>
            <a:r>
              <a:rPr lang="en-US" sz="1700" b="1" dirty="0">
                <a:solidFill>
                  <a:srgbClr val="5A5A5A"/>
                </a:solidFill>
                <a:latin typeface="Arial" pitchFamily="34" charset="0"/>
                <a:ea typeface="Arial" pitchFamily="34" charset="-122"/>
                <a:cs typeface="Arial" pitchFamily="34" charset="-120"/>
              </a:rPr>
              <a:t>Pérdida</a:t>
            </a:r>
            <a:endParaRPr lang="en-US" sz="1700" dirty="0"/>
          </a:p>
        </p:txBody>
      </p:sp>
      <p:sp>
        <p:nvSpPr>
          <p:cNvPr id="32" name="Text 29"/>
          <p:cNvSpPr txBox="1"/>
          <p:nvPr/>
        </p:nvSpPr>
        <p:spPr>
          <a:xfrm>
            <a:off x="1783080" y="6858000"/>
            <a:ext cx="3108960" cy="1463040"/>
          </a:xfrm>
          <a:prstGeom prst="rect">
            <a:avLst/>
          </a:prstGeom>
          <a:noFill/>
          <a:ln/>
        </p:spPr>
        <p:txBody>
          <a:bodyPr wrap="square" lIns="0" tIns="0" rIns="0" bIns="0" rtlCol="0" anchor="t"/>
          <a:lstStyle/>
          <a:p>
            <a:pPr indent="0" marL="0">
              <a:buNone/>
            </a:pPr>
            <a:r>
              <a:rPr lang="en-US" sz="2200" b="1" dirty="0">
                <a:solidFill>
                  <a:srgbClr val="222222"/>
                </a:solidFill>
                <a:latin typeface="Arial" pitchFamily="34" charset="0"/>
                <a:ea typeface="Arial" pitchFamily="34" charset="-122"/>
                <a:cs typeface="Arial" pitchFamily="34" charset="-120"/>
              </a:rPr>
              <a:t>Sparse Categorical</a:t>
            </a:r>
            <a:endParaRPr lang="en-US" sz="2200" dirty="0"/>
          </a:p>
          <a:p>
            <a:pPr indent="0" marL="0">
              <a:buNone/>
            </a:pPr>
            <a:r>
              <a:rPr lang="en-US" sz="2200" b="1" dirty="0">
                <a:solidFill>
                  <a:srgbClr val="222222"/>
                </a:solidFill>
                <a:latin typeface="Arial" pitchFamily="34" charset="0"/>
                <a:ea typeface="Arial" pitchFamily="34" charset="-122"/>
                <a:cs typeface="Arial" pitchFamily="34" charset="-120"/>
              </a:rPr>
              <a:t>Cross-Entropy</a:t>
            </a:r>
            <a:endParaRPr lang="en-US" sz="2200" dirty="0"/>
          </a:p>
        </p:txBody>
      </p:sp>
      <p:sp>
        <p:nvSpPr>
          <p:cNvPr id="33" name="Shape 30"/>
          <p:cNvSpPr/>
          <p:nvPr/>
        </p:nvSpPr>
        <p:spPr>
          <a:xfrm>
            <a:off x="5486400" y="6035040"/>
            <a:ext cx="3611880" cy="2560320"/>
          </a:xfrm>
          <a:prstGeom prst="rect">
            <a:avLst/>
          </a:prstGeom>
          <a:solidFill>
            <a:srgbClr val="F4F6FA"/>
          </a:solidFill>
          <a:ln w="12700">
            <a:solidFill>
              <a:srgbClr val="D4D4D4"/>
            </a:solidFill>
            <a:prstDash val="solid"/>
          </a:ln>
        </p:spPr>
      </p:sp>
      <p:sp>
        <p:nvSpPr>
          <p:cNvPr id="34" name="Shape 31"/>
          <p:cNvSpPr/>
          <p:nvPr/>
        </p:nvSpPr>
        <p:spPr>
          <a:xfrm>
            <a:off x="5486400" y="6035040"/>
            <a:ext cx="3611880" cy="128016"/>
          </a:xfrm>
          <a:prstGeom prst="rect">
            <a:avLst/>
          </a:prstGeom>
          <a:solidFill>
            <a:srgbClr val="2A4BDB"/>
          </a:solidFill>
          <a:ln w="12700">
            <a:solidFill>
              <a:srgbClr val="2A4BDB"/>
            </a:solidFill>
            <a:prstDash val="solid"/>
          </a:ln>
        </p:spPr>
      </p:sp>
      <p:sp>
        <p:nvSpPr>
          <p:cNvPr id="35" name="Text 32"/>
          <p:cNvSpPr txBox="1"/>
          <p:nvPr/>
        </p:nvSpPr>
        <p:spPr>
          <a:xfrm>
            <a:off x="5760720" y="6355080"/>
            <a:ext cx="3108960" cy="457200"/>
          </a:xfrm>
          <a:prstGeom prst="rect">
            <a:avLst/>
          </a:prstGeom>
          <a:noFill/>
          <a:ln/>
        </p:spPr>
        <p:txBody>
          <a:bodyPr wrap="square" lIns="0" tIns="0" rIns="0" bIns="0" rtlCol="0" anchor="ctr"/>
          <a:lstStyle/>
          <a:p>
            <a:pPr indent="0" marL="0">
              <a:buNone/>
            </a:pPr>
            <a:r>
              <a:rPr lang="en-US" sz="1700" b="1" dirty="0">
                <a:solidFill>
                  <a:srgbClr val="5A5A5A"/>
                </a:solidFill>
                <a:latin typeface="Arial" pitchFamily="34" charset="0"/>
                <a:ea typeface="Arial" pitchFamily="34" charset="-122"/>
                <a:cs typeface="Arial" pitchFamily="34" charset="-120"/>
              </a:rPr>
              <a:t>Optimizador</a:t>
            </a:r>
            <a:endParaRPr lang="en-US" sz="1700" dirty="0"/>
          </a:p>
        </p:txBody>
      </p:sp>
      <p:sp>
        <p:nvSpPr>
          <p:cNvPr id="36" name="Text 33"/>
          <p:cNvSpPr txBox="1"/>
          <p:nvPr/>
        </p:nvSpPr>
        <p:spPr>
          <a:xfrm>
            <a:off x="5760720" y="6858000"/>
            <a:ext cx="3108960" cy="1463040"/>
          </a:xfrm>
          <a:prstGeom prst="rect">
            <a:avLst/>
          </a:prstGeom>
          <a:noFill/>
          <a:ln/>
        </p:spPr>
        <p:txBody>
          <a:bodyPr wrap="square" lIns="0" tIns="0" rIns="0" bIns="0" rtlCol="0" anchor="t"/>
          <a:lstStyle/>
          <a:p>
            <a:pPr indent="0" marL="0">
              <a:buNone/>
            </a:pPr>
            <a:r>
              <a:rPr lang="en-US" sz="2200" b="1" dirty="0">
                <a:solidFill>
                  <a:srgbClr val="222222"/>
                </a:solidFill>
                <a:latin typeface="Arial" pitchFamily="34" charset="0"/>
                <a:ea typeface="Arial" pitchFamily="34" charset="-122"/>
                <a:cs typeface="Arial" pitchFamily="34" charset="-120"/>
              </a:rPr>
              <a:t>Adam</a:t>
            </a:r>
            <a:endParaRPr lang="en-US" sz="2200" dirty="0"/>
          </a:p>
          <a:p>
            <a:pPr indent="0" marL="0">
              <a:buNone/>
            </a:pPr>
            <a:r>
              <a:rPr lang="en-US" sz="2200" b="1" dirty="0">
                <a:solidFill>
                  <a:srgbClr val="222222"/>
                </a:solidFill>
                <a:latin typeface="Arial" pitchFamily="34" charset="0"/>
                <a:ea typeface="Arial" pitchFamily="34" charset="-122"/>
                <a:cs typeface="Arial" pitchFamily="34" charset="-120"/>
              </a:rPr>
              <a:t>lr = 0.0005</a:t>
            </a:r>
            <a:endParaRPr lang="en-US" sz="2200" dirty="0"/>
          </a:p>
        </p:txBody>
      </p:sp>
      <p:sp>
        <p:nvSpPr>
          <p:cNvPr id="37" name="Shape 34"/>
          <p:cNvSpPr/>
          <p:nvPr/>
        </p:nvSpPr>
        <p:spPr>
          <a:xfrm>
            <a:off x="9464040" y="6035040"/>
            <a:ext cx="3611880" cy="2560320"/>
          </a:xfrm>
          <a:prstGeom prst="rect">
            <a:avLst/>
          </a:prstGeom>
          <a:solidFill>
            <a:srgbClr val="F4F6FA"/>
          </a:solidFill>
          <a:ln w="12700">
            <a:solidFill>
              <a:srgbClr val="D4D4D4"/>
            </a:solidFill>
            <a:prstDash val="solid"/>
          </a:ln>
        </p:spPr>
      </p:sp>
      <p:sp>
        <p:nvSpPr>
          <p:cNvPr id="38" name="Shape 35"/>
          <p:cNvSpPr/>
          <p:nvPr/>
        </p:nvSpPr>
        <p:spPr>
          <a:xfrm>
            <a:off x="9464040" y="6035040"/>
            <a:ext cx="3611880" cy="128016"/>
          </a:xfrm>
          <a:prstGeom prst="rect">
            <a:avLst/>
          </a:prstGeom>
          <a:solidFill>
            <a:srgbClr val="2A4BDB"/>
          </a:solidFill>
          <a:ln w="12700">
            <a:solidFill>
              <a:srgbClr val="2A4BDB"/>
            </a:solidFill>
            <a:prstDash val="solid"/>
          </a:ln>
        </p:spPr>
      </p:sp>
      <p:sp>
        <p:nvSpPr>
          <p:cNvPr id="39" name="Text 36"/>
          <p:cNvSpPr txBox="1"/>
          <p:nvPr/>
        </p:nvSpPr>
        <p:spPr>
          <a:xfrm>
            <a:off x="9738360" y="6355080"/>
            <a:ext cx="3108960" cy="457200"/>
          </a:xfrm>
          <a:prstGeom prst="rect">
            <a:avLst/>
          </a:prstGeom>
          <a:noFill/>
          <a:ln/>
        </p:spPr>
        <p:txBody>
          <a:bodyPr wrap="square" lIns="0" tIns="0" rIns="0" bIns="0" rtlCol="0" anchor="ctr"/>
          <a:lstStyle/>
          <a:p>
            <a:pPr indent="0" marL="0">
              <a:buNone/>
            </a:pPr>
            <a:r>
              <a:rPr lang="en-US" sz="1700" b="1" dirty="0">
                <a:solidFill>
                  <a:srgbClr val="5A5A5A"/>
                </a:solidFill>
                <a:latin typeface="Arial" pitchFamily="34" charset="0"/>
                <a:ea typeface="Arial" pitchFamily="34" charset="-122"/>
                <a:cs typeface="Arial" pitchFamily="34" charset="-120"/>
              </a:rPr>
              <a:t>Batch size</a:t>
            </a:r>
            <a:endParaRPr lang="en-US" sz="1700" dirty="0"/>
          </a:p>
        </p:txBody>
      </p:sp>
      <p:sp>
        <p:nvSpPr>
          <p:cNvPr id="40" name="Text 37"/>
          <p:cNvSpPr txBox="1"/>
          <p:nvPr/>
        </p:nvSpPr>
        <p:spPr>
          <a:xfrm>
            <a:off x="9738360" y="6858000"/>
            <a:ext cx="3108960" cy="1463040"/>
          </a:xfrm>
          <a:prstGeom prst="rect">
            <a:avLst/>
          </a:prstGeom>
          <a:noFill/>
          <a:ln/>
        </p:spPr>
        <p:txBody>
          <a:bodyPr wrap="square" lIns="0" tIns="0" rIns="0" bIns="0" rtlCol="0" anchor="t"/>
          <a:lstStyle/>
          <a:p>
            <a:pPr indent="0" marL="0">
              <a:buNone/>
            </a:pPr>
            <a:r>
              <a:rPr lang="en-US" sz="2200" b="1" dirty="0">
                <a:solidFill>
                  <a:srgbClr val="222222"/>
                </a:solidFill>
                <a:latin typeface="Arial" pitchFamily="34" charset="0"/>
                <a:ea typeface="Arial" pitchFamily="34" charset="-122"/>
                <a:cs typeface="Arial" pitchFamily="34" charset="-120"/>
              </a:rPr>
              <a:t>256</a:t>
            </a:r>
            <a:endParaRPr lang="en-US" sz="2200" dirty="0"/>
          </a:p>
        </p:txBody>
      </p:sp>
      <p:sp>
        <p:nvSpPr>
          <p:cNvPr id="41" name="Shape 38"/>
          <p:cNvSpPr/>
          <p:nvPr/>
        </p:nvSpPr>
        <p:spPr>
          <a:xfrm>
            <a:off x="13441680" y="6035040"/>
            <a:ext cx="3611880" cy="2560320"/>
          </a:xfrm>
          <a:prstGeom prst="rect">
            <a:avLst/>
          </a:prstGeom>
          <a:solidFill>
            <a:srgbClr val="F4F6FA"/>
          </a:solidFill>
          <a:ln w="12700">
            <a:solidFill>
              <a:srgbClr val="D4D4D4"/>
            </a:solidFill>
            <a:prstDash val="solid"/>
          </a:ln>
        </p:spPr>
      </p:sp>
      <p:sp>
        <p:nvSpPr>
          <p:cNvPr id="42" name="Shape 39"/>
          <p:cNvSpPr/>
          <p:nvPr/>
        </p:nvSpPr>
        <p:spPr>
          <a:xfrm>
            <a:off x="13441680" y="6035040"/>
            <a:ext cx="3611880" cy="128016"/>
          </a:xfrm>
          <a:prstGeom prst="rect">
            <a:avLst/>
          </a:prstGeom>
          <a:solidFill>
            <a:srgbClr val="2A4BDB"/>
          </a:solidFill>
          <a:ln w="12700">
            <a:solidFill>
              <a:srgbClr val="2A4BDB"/>
            </a:solidFill>
            <a:prstDash val="solid"/>
          </a:ln>
        </p:spPr>
      </p:sp>
      <p:sp>
        <p:nvSpPr>
          <p:cNvPr id="43" name="Text 40"/>
          <p:cNvSpPr txBox="1"/>
          <p:nvPr/>
        </p:nvSpPr>
        <p:spPr>
          <a:xfrm>
            <a:off x="13716000" y="6355080"/>
            <a:ext cx="3108960" cy="457200"/>
          </a:xfrm>
          <a:prstGeom prst="rect">
            <a:avLst/>
          </a:prstGeom>
          <a:noFill/>
          <a:ln/>
        </p:spPr>
        <p:txBody>
          <a:bodyPr wrap="square" lIns="0" tIns="0" rIns="0" bIns="0" rtlCol="0" anchor="ctr"/>
          <a:lstStyle/>
          <a:p>
            <a:pPr indent="0" marL="0">
              <a:buNone/>
            </a:pPr>
            <a:r>
              <a:rPr lang="en-US" sz="1700" b="1" dirty="0">
                <a:solidFill>
                  <a:srgbClr val="5A5A5A"/>
                </a:solidFill>
                <a:latin typeface="Arial" pitchFamily="34" charset="0"/>
                <a:ea typeface="Arial" pitchFamily="34" charset="-122"/>
                <a:cs typeface="Arial" pitchFamily="34" charset="-120"/>
              </a:rPr>
              <a:t>Épocas</a:t>
            </a:r>
            <a:endParaRPr lang="en-US" sz="1700" dirty="0"/>
          </a:p>
        </p:txBody>
      </p:sp>
      <p:sp>
        <p:nvSpPr>
          <p:cNvPr id="44" name="Text 41"/>
          <p:cNvSpPr txBox="1"/>
          <p:nvPr/>
        </p:nvSpPr>
        <p:spPr>
          <a:xfrm>
            <a:off x="13716000" y="6858000"/>
            <a:ext cx="3108960" cy="1463040"/>
          </a:xfrm>
          <a:prstGeom prst="rect">
            <a:avLst/>
          </a:prstGeom>
          <a:noFill/>
          <a:ln/>
        </p:spPr>
        <p:txBody>
          <a:bodyPr wrap="square" lIns="0" tIns="0" rIns="0" bIns="0" rtlCol="0" anchor="t"/>
          <a:lstStyle/>
          <a:p>
            <a:pPr indent="0" marL="0">
              <a:buNone/>
            </a:pPr>
            <a:r>
              <a:rPr lang="en-US" sz="2200" b="1" dirty="0">
                <a:solidFill>
                  <a:srgbClr val="222222"/>
                </a:solidFill>
                <a:latin typeface="Arial" pitchFamily="34" charset="0"/>
                <a:ea typeface="Arial" pitchFamily="34" charset="-122"/>
                <a:cs typeface="Arial" pitchFamily="34" charset="-120"/>
              </a:rPr>
              <a:t>Early Stopping</a:t>
            </a:r>
            <a:endParaRPr lang="en-US" sz="2200" dirty="0"/>
          </a:p>
          <a:p>
            <a:pPr indent="0" marL="0">
              <a:buNone/>
            </a:pPr>
            <a:r>
              <a:rPr lang="en-US" sz="2200" b="1" dirty="0">
                <a:solidFill>
                  <a:srgbClr val="222222"/>
                </a:solidFill>
                <a:latin typeface="Arial" pitchFamily="34" charset="0"/>
                <a:ea typeface="Arial" pitchFamily="34" charset="-122"/>
                <a:cs typeface="Arial" pitchFamily="34" charset="-120"/>
              </a:rPr>
              <a:t>patience = 10</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Funciones de activación, salida y pérdida</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48840"/>
            <a:ext cx="8412480" cy="4552071"/>
          </a:xfrm>
          <a:prstGeom prst="rect">
            <a:avLst/>
          </a:prstGeom>
          <a:solidFill>
            <a:srgbClr val="FFFFFF"/>
          </a:solidFill>
          <a:ln w="12700">
            <a:solidFill>
              <a:srgbClr val="D4D4D4"/>
            </a:solidFill>
            <a:prstDash val="solid"/>
          </a:ln>
        </p:spPr>
      </p:sp>
      <p:pic>
        <p:nvPicPr>
          <p:cNvPr id="10" name="Image 1" descr="/home/claude/ppt/assets/A_23_0.png">    </p:cNvPr>
          <p:cNvPicPr>
            <a:picLocks noChangeAspect="1"/>
          </p:cNvPicPr>
          <p:nvPr/>
        </p:nvPicPr>
        <p:blipFill>
          <a:blip r:embed="rId2"/>
          <a:stretch>
            <a:fillRect/>
          </a:stretch>
        </p:blipFill>
        <p:spPr>
          <a:xfrm>
            <a:off x="1645920" y="2286000"/>
            <a:ext cx="8138160" cy="4277751"/>
          </a:xfrm>
          <a:prstGeom prst="rect">
            <a:avLst/>
          </a:prstGeom>
        </p:spPr>
      </p:pic>
      <p:sp>
        <p:nvSpPr>
          <p:cNvPr id="11" name="Text 7"/>
          <p:cNvSpPr txBox="1"/>
          <p:nvPr/>
        </p:nvSpPr>
        <p:spPr>
          <a:xfrm>
            <a:off x="1508760" y="6720840"/>
            <a:ext cx="8412480" cy="411480"/>
          </a:xfrm>
          <a:prstGeom prst="rect">
            <a:avLst/>
          </a:prstGeom>
          <a:noFill/>
          <a:ln/>
        </p:spPr>
        <p:txBody>
          <a:bodyPr wrap="square" lIns="0" tIns="0" rIns="0" bIns="0" rtlCol="0" anchor="ctr"/>
          <a:lstStyle/>
          <a:p>
            <a:pPr indent="0" marL="0">
              <a:buNone/>
            </a:pPr>
            <a:r>
              <a:rPr lang="en-US" sz="1400" i="1" dirty="0">
                <a:solidFill>
                  <a:srgbClr val="5A5A5A"/>
                </a:solidFill>
                <a:latin typeface="Arial" pitchFamily="34" charset="0"/>
                <a:ea typeface="Arial" pitchFamily="34" charset="-122"/>
                <a:cs typeface="Arial" pitchFamily="34" charset="-120"/>
              </a:rPr>
              <a:t>Gradiente medio por capa en una red de 5 capas, antes de entrenar</a:t>
            </a:r>
            <a:endParaRPr lang="en-US" sz="1400" dirty="0"/>
          </a:p>
        </p:txBody>
      </p:sp>
      <p:sp>
        <p:nvSpPr>
          <p:cNvPr id="12" name="Shape 8"/>
          <p:cNvSpPr/>
          <p:nvPr/>
        </p:nvSpPr>
        <p:spPr>
          <a:xfrm>
            <a:off x="1508760" y="7269480"/>
            <a:ext cx="4069080" cy="1920240"/>
          </a:xfrm>
          <a:prstGeom prst="rect">
            <a:avLst/>
          </a:prstGeom>
          <a:solidFill>
            <a:srgbClr val="F4F6FA"/>
          </a:solidFill>
          <a:ln w="12700">
            <a:solidFill>
              <a:srgbClr val="D4D4D4"/>
            </a:solidFill>
            <a:prstDash val="solid"/>
          </a:ln>
        </p:spPr>
      </p:sp>
      <p:sp>
        <p:nvSpPr>
          <p:cNvPr id="13" name="Shape 9"/>
          <p:cNvSpPr/>
          <p:nvPr/>
        </p:nvSpPr>
        <p:spPr>
          <a:xfrm>
            <a:off x="1508760" y="7269480"/>
            <a:ext cx="4069080" cy="128016"/>
          </a:xfrm>
          <a:prstGeom prst="rect">
            <a:avLst/>
          </a:prstGeom>
          <a:solidFill>
            <a:srgbClr val="E0463A"/>
          </a:solidFill>
          <a:ln w="12700">
            <a:solidFill>
              <a:srgbClr val="E0463A"/>
            </a:solidFill>
            <a:prstDash val="solid"/>
          </a:ln>
        </p:spPr>
      </p:sp>
      <p:sp>
        <p:nvSpPr>
          <p:cNvPr id="14" name="Text 10"/>
          <p:cNvSpPr txBox="1"/>
          <p:nvPr/>
        </p:nvSpPr>
        <p:spPr>
          <a:xfrm>
            <a:off x="1783080" y="7543800"/>
            <a:ext cx="3611880" cy="731520"/>
          </a:xfrm>
          <a:prstGeom prst="rect">
            <a:avLst/>
          </a:prstGeom>
          <a:noFill/>
          <a:ln/>
        </p:spPr>
        <p:txBody>
          <a:bodyPr wrap="square" lIns="0" tIns="0" rIns="0" bIns="0" rtlCol="0" anchor="ctr"/>
          <a:lstStyle/>
          <a:p>
            <a:pPr indent="0" marL="0">
              <a:buNone/>
            </a:pPr>
            <a:r>
              <a:rPr lang="en-US" sz="3400" b="1" dirty="0">
                <a:solidFill>
                  <a:srgbClr val="E0463A"/>
                </a:solidFill>
                <a:latin typeface="Arial" pitchFamily="34" charset="0"/>
                <a:ea typeface="Arial" pitchFamily="34" charset="-122"/>
                <a:cs typeface="Arial" pitchFamily="34" charset="-120"/>
              </a:rPr>
              <a:t>1.959×</a:t>
            </a:r>
            <a:endParaRPr lang="en-US" sz="3400" dirty="0"/>
          </a:p>
        </p:txBody>
      </p:sp>
      <p:sp>
        <p:nvSpPr>
          <p:cNvPr id="15" name="Text 11"/>
          <p:cNvSpPr txBox="1"/>
          <p:nvPr/>
        </p:nvSpPr>
        <p:spPr>
          <a:xfrm>
            <a:off x="1783080" y="8293608"/>
            <a:ext cx="361188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Sigmoide</a:t>
            </a:r>
            <a:endParaRPr lang="en-US" sz="1700" dirty="0"/>
          </a:p>
        </p:txBody>
      </p:sp>
      <p:sp>
        <p:nvSpPr>
          <p:cNvPr id="16" name="Text 12"/>
          <p:cNvSpPr txBox="1"/>
          <p:nvPr/>
        </p:nvSpPr>
        <p:spPr>
          <a:xfrm>
            <a:off x="1783080" y="8686800"/>
            <a:ext cx="361188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atenuación salida → primera capa</a:t>
            </a:r>
            <a:endParaRPr lang="en-US" sz="1300" dirty="0"/>
          </a:p>
        </p:txBody>
      </p:sp>
      <p:sp>
        <p:nvSpPr>
          <p:cNvPr id="17" name="Shape 13"/>
          <p:cNvSpPr/>
          <p:nvPr/>
        </p:nvSpPr>
        <p:spPr>
          <a:xfrm>
            <a:off x="5806440" y="7269480"/>
            <a:ext cx="4069080" cy="1920240"/>
          </a:xfrm>
          <a:prstGeom prst="rect">
            <a:avLst/>
          </a:prstGeom>
          <a:solidFill>
            <a:srgbClr val="F4F6FA"/>
          </a:solidFill>
          <a:ln w="12700">
            <a:solidFill>
              <a:srgbClr val="D4D4D4"/>
            </a:solidFill>
            <a:prstDash val="solid"/>
          </a:ln>
        </p:spPr>
      </p:sp>
      <p:sp>
        <p:nvSpPr>
          <p:cNvPr id="18" name="Shape 14"/>
          <p:cNvSpPr/>
          <p:nvPr/>
        </p:nvSpPr>
        <p:spPr>
          <a:xfrm>
            <a:off x="5806440" y="7269480"/>
            <a:ext cx="4069080" cy="128016"/>
          </a:xfrm>
          <a:prstGeom prst="rect">
            <a:avLst/>
          </a:prstGeom>
          <a:solidFill>
            <a:srgbClr val="2A4BDB"/>
          </a:solidFill>
          <a:ln w="12700">
            <a:solidFill>
              <a:srgbClr val="2A4BDB"/>
            </a:solidFill>
            <a:prstDash val="solid"/>
          </a:ln>
        </p:spPr>
      </p:sp>
      <p:sp>
        <p:nvSpPr>
          <p:cNvPr id="19" name="Text 15"/>
          <p:cNvSpPr txBox="1"/>
          <p:nvPr/>
        </p:nvSpPr>
        <p:spPr>
          <a:xfrm>
            <a:off x="6080760" y="7543800"/>
            <a:ext cx="361188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2,9×</a:t>
            </a:r>
            <a:endParaRPr lang="en-US" sz="3400" dirty="0"/>
          </a:p>
        </p:txBody>
      </p:sp>
      <p:sp>
        <p:nvSpPr>
          <p:cNvPr id="20" name="Text 16"/>
          <p:cNvSpPr txBox="1"/>
          <p:nvPr/>
        </p:nvSpPr>
        <p:spPr>
          <a:xfrm>
            <a:off x="6080760" y="8293608"/>
            <a:ext cx="361188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ReLU</a:t>
            </a:r>
            <a:endParaRPr lang="en-US" sz="1700" dirty="0"/>
          </a:p>
        </p:txBody>
      </p:sp>
      <p:sp>
        <p:nvSpPr>
          <p:cNvPr id="21" name="Text 17"/>
          <p:cNvSpPr txBox="1"/>
          <p:nvPr/>
        </p:nvSpPr>
        <p:spPr>
          <a:xfrm>
            <a:off x="6080760" y="8686800"/>
            <a:ext cx="361188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atenuación salida → primera capa</a:t>
            </a:r>
            <a:endParaRPr lang="en-US" sz="1300" dirty="0"/>
          </a:p>
        </p:txBody>
      </p:sp>
      <p:sp>
        <p:nvSpPr>
          <p:cNvPr id="22" name="Shape 18"/>
          <p:cNvSpPr/>
          <p:nvPr/>
        </p:nvSpPr>
        <p:spPr>
          <a:xfrm>
            <a:off x="10424160" y="2148840"/>
            <a:ext cx="6995160" cy="3429000"/>
          </a:xfrm>
          <a:prstGeom prst="rect">
            <a:avLst/>
          </a:prstGeom>
          <a:solidFill>
            <a:srgbClr val="F4F6FA"/>
          </a:solidFill>
          <a:ln w="12700">
            <a:solidFill>
              <a:srgbClr val="D4D4D4"/>
            </a:solidFill>
            <a:prstDash val="solid"/>
          </a:ln>
        </p:spPr>
      </p:sp>
      <p:sp>
        <p:nvSpPr>
          <p:cNvPr id="23" name="Shape 19"/>
          <p:cNvSpPr/>
          <p:nvPr/>
        </p:nvSpPr>
        <p:spPr>
          <a:xfrm>
            <a:off x="10424160" y="2148840"/>
            <a:ext cx="6995160" cy="128016"/>
          </a:xfrm>
          <a:prstGeom prst="rect">
            <a:avLst/>
          </a:prstGeom>
          <a:solidFill>
            <a:srgbClr val="2A4BDB"/>
          </a:solidFill>
          <a:ln w="12700">
            <a:solidFill>
              <a:srgbClr val="2A4BDB"/>
            </a:solidFill>
            <a:prstDash val="solid"/>
          </a:ln>
        </p:spPr>
      </p:sp>
      <p:sp>
        <p:nvSpPr>
          <p:cNvPr id="24" name="Text 20"/>
          <p:cNvSpPr txBox="1"/>
          <p:nvPr/>
        </p:nvSpPr>
        <p:spPr>
          <a:xfrm>
            <a:off x="10744200" y="2468880"/>
            <a:ext cx="644652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Activación: ReLU</a:t>
            </a:r>
            <a:endParaRPr lang="en-US" sz="2000" dirty="0"/>
          </a:p>
        </p:txBody>
      </p:sp>
      <p:sp>
        <p:nvSpPr>
          <p:cNvPr id="25" name="Text 21"/>
          <p:cNvSpPr txBox="1"/>
          <p:nvPr/>
        </p:nvSpPr>
        <p:spPr>
          <a:xfrm>
            <a:off x="10744200" y="3017520"/>
            <a:ext cx="6446520" cy="237744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En la red 64-32 las 4 activaciones empatan: Δ F1 = 0,0024.</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En la red profunda, sigmoide desvanece el gradiente y converge en 56 épocas; ReLU en 36.</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Adam compensa gradientes pequeños, por eso el F1 final es similar.</a:t>
            </a:r>
            <a:endParaRPr lang="en-US" sz="1500" dirty="0"/>
          </a:p>
        </p:txBody>
      </p:sp>
      <p:sp>
        <p:nvSpPr>
          <p:cNvPr id="26" name="Shape 22"/>
          <p:cNvSpPr/>
          <p:nvPr/>
        </p:nvSpPr>
        <p:spPr>
          <a:xfrm>
            <a:off x="10424160" y="5806440"/>
            <a:ext cx="6995160" cy="3383280"/>
          </a:xfrm>
          <a:prstGeom prst="rect">
            <a:avLst/>
          </a:prstGeom>
          <a:solidFill>
            <a:srgbClr val="F4F6FA"/>
          </a:solidFill>
          <a:ln w="12700">
            <a:solidFill>
              <a:srgbClr val="D4D4D4"/>
            </a:solidFill>
            <a:prstDash val="solid"/>
          </a:ln>
        </p:spPr>
      </p:sp>
      <p:sp>
        <p:nvSpPr>
          <p:cNvPr id="27" name="Shape 23"/>
          <p:cNvSpPr/>
          <p:nvPr/>
        </p:nvSpPr>
        <p:spPr>
          <a:xfrm>
            <a:off x="10424160" y="5806440"/>
            <a:ext cx="6995160" cy="128016"/>
          </a:xfrm>
          <a:prstGeom prst="rect">
            <a:avLst/>
          </a:prstGeom>
          <a:solidFill>
            <a:srgbClr val="4E7CDC"/>
          </a:solidFill>
          <a:ln w="12700">
            <a:solidFill>
              <a:srgbClr val="4E7CDC"/>
            </a:solidFill>
            <a:prstDash val="solid"/>
          </a:ln>
        </p:spPr>
      </p:sp>
      <p:sp>
        <p:nvSpPr>
          <p:cNvPr id="28" name="Text 24"/>
          <p:cNvSpPr txBox="1"/>
          <p:nvPr/>
        </p:nvSpPr>
        <p:spPr>
          <a:xfrm>
            <a:off x="10744200" y="6126480"/>
            <a:ext cx="644652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Salida y pérdida: Softmax + CE</a:t>
            </a:r>
            <a:endParaRPr lang="en-US" sz="2000" dirty="0"/>
          </a:p>
        </p:txBody>
      </p:sp>
      <p:sp>
        <p:nvSpPr>
          <p:cNvPr id="29" name="Text 25"/>
          <p:cNvSpPr txBox="1"/>
          <p:nvPr/>
        </p:nvSpPr>
        <p:spPr>
          <a:xfrm>
            <a:off x="10744200" y="6675120"/>
            <a:ext cx="6446520" cy="233172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Softmax + CE: F1 0,9128; las salidas suman siempre 1,000.</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Sigmoide + MSE: F1 0,9132, pero sus salidas suman entre 0,82 y 1,49.</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Se elige por coherencia con 4 clases excluyentes, no por accuracy.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Épocas, learning rate y batch size</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508760" y="2148840"/>
          <a:ext cx="15910560" cy="914400"/>
        </p:xfrm>
        <a:graphic>
          <a:graphicData uri="http://schemas.openxmlformats.org/drawingml/2006/table">
            <a:tbl>
              <a:tblPr/>
              <a:tblGrid>
                <a:gridCol w="2377440"/>
                <a:gridCol w="3840480"/>
                <a:gridCol w="2194560"/>
                <a:gridCol w="7498080"/>
              </a:tblGrid>
              <a:tr h="713232">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Parámetro</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Valores probados</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Elegido</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Evidencia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r>
              <a:tr h="713232">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Learning rate</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0.1 · 0.01 · 0.001 · 0.0005</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0.0005</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Mayor F1 (0,9100) y menor val_loss (0,2394). Con 0.1 colapsa: accuracy 30,22% y val_loss ≈ ln 4.</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713232">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Batch size</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32 · 64 · 128 · 256</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256</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F1 0,9129 en 25 s, frente a 0,9100 en 150 s con batch 32.</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r h="713232">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Épocas</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100 sin parada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Early Stopping</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Mínimo de val_loss en la época 16; patience = 10 y restore_best_weights.</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bl>
          </a:graphicData>
        </a:graphic>
      </p:graphicFrame>
      <p:sp>
        <p:nvSpPr>
          <p:cNvPr id="10" name="Shape 6"/>
          <p:cNvSpPr/>
          <p:nvPr/>
        </p:nvSpPr>
        <p:spPr>
          <a:xfrm>
            <a:off x="1508760" y="5303520"/>
            <a:ext cx="6217920" cy="3643512"/>
          </a:xfrm>
          <a:prstGeom prst="rect">
            <a:avLst/>
          </a:prstGeom>
          <a:solidFill>
            <a:srgbClr val="FFFFFF"/>
          </a:solidFill>
          <a:ln w="12700">
            <a:solidFill>
              <a:srgbClr val="D4D4D4"/>
            </a:solidFill>
            <a:prstDash val="solid"/>
          </a:ln>
        </p:spPr>
      </p:sp>
      <p:pic>
        <p:nvPicPr>
          <p:cNvPr id="11" name="Image 1" descr="/home/claude/ppt/assets/B_25_1.png">    </p:cNvPr>
          <p:cNvPicPr>
            <a:picLocks noChangeAspect="1"/>
          </p:cNvPicPr>
          <p:nvPr/>
        </p:nvPicPr>
        <p:blipFill>
          <a:blip r:embed="rId2"/>
          <a:stretch>
            <a:fillRect/>
          </a:stretch>
        </p:blipFill>
        <p:spPr>
          <a:xfrm>
            <a:off x="1645920" y="5440680"/>
            <a:ext cx="5943600" cy="3369192"/>
          </a:xfrm>
          <a:prstGeom prst="rect">
            <a:avLst/>
          </a:prstGeom>
        </p:spPr>
      </p:pic>
      <p:sp>
        <p:nvSpPr>
          <p:cNvPr id="12" name="Shape 7"/>
          <p:cNvSpPr/>
          <p:nvPr/>
        </p:nvSpPr>
        <p:spPr>
          <a:xfrm>
            <a:off x="8458200" y="5303520"/>
            <a:ext cx="6217920" cy="3550320"/>
          </a:xfrm>
          <a:prstGeom prst="rect">
            <a:avLst/>
          </a:prstGeom>
          <a:solidFill>
            <a:srgbClr val="FFFFFF"/>
          </a:solidFill>
          <a:ln w="12700">
            <a:solidFill>
              <a:srgbClr val="D4D4D4"/>
            </a:solidFill>
            <a:prstDash val="solid"/>
          </a:ln>
        </p:spPr>
      </p:sp>
      <p:pic>
        <p:nvPicPr>
          <p:cNvPr id="13" name="Image 2" descr="/home/claude/ppt/assets/B_30_0.png">    </p:cNvPr>
          <p:cNvPicPr>
            <a:picLocks noChangeAspect="1"/>
          </p:cNvPicPr>
          <p:nvPr/>
        </p:nvPicPr>
        <p:blipFill>
          <a:blip r:embed="rId3"/>
          <a:stretch>
            <a:fillRect/>
          </a:stretch>
        </p:blipFill>
        <p:spPr>
          <a:xfrm>
            <a:off x="8595360" y="5440680"/>
            <a:ext cx="5943600" cy="3276000"/>
          </a:xfrm>
          <a:prstGeom prst="rect">
            <a:avLst/>
          </a:prstGeom>
        </p:spPr>
      </p:pic>
      <p:sp>
        <p:nvSpPr>
          <p:cNvPr id="14" name="Text 8"/>
          <p:cNvSpPr txBox="1"/>
          <p:nvPr/>
        </p:nvSpPr>
        <p:spPr>
          <a:xfrm>
            <a:off x="14950440" y="5486400"/>
            <a:ext cx="2468880" cy="2743200"/>
          </a:xfrm>
          <a:prstGeom prst="rect">
            <a:avLst/>
          </a:prstGeom>
          <a:noFill/>
          <a:ln/>
        </p:spPr>
        <p:txBody>
          <a:bodyPr wrap="square" lIns="0" tIns="0" rIns="0" bIns="0" rtlCol="0" anchor="t"/>
          <a:lstStyle/>
          <a:p>
            <a:pPr indent="0" marL="0">
              <a:buNone/>
            </a:pPr>
            <a:r>
              <a:rPr lang="en-US" sz="1500" i="1" dirty="0">
                <a:solidFill>
                  <a:srgbClr val="5A5A5A"/>
                </a:solidFill>
                <a:latin typeface="Arial" pitchFamily="34" charset="0"/>
                <a:ea typeface="Arial" pitchFamily="34" charset="-122"/>
                <a:cs typeface="Arial" pitchFamily="34" charset="-120"/>
              </a:rPr>
              <a:t>Un parámetro a la vez: el resto se mantiene fijo en cada experimento.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Efecto de la regularización</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48840"/>
            <a:ext cx="9052560" cy="3821084"/>
          </a:xfrm>
          <a:prstGeom prst="rect">
            <a:avLst/>
          </a:prstGeom>
          <a:solidFill>
            <a:srgbClr val="FFFFFF"/>
          </a:solidFill>
          <a:ln w="12700">
            <a:solidFill>
              <a:srgbClr val="D4D4D4"/>
            </a:solidFill>
            <a:prstDash val="solid"/>
          </a:ln>
        </p:spPr>
      </p:sp>
      <p:pic>
        <p:nvPicPr>
          <p:cNvPr id="10" name="Image 1" descr="/home/claude/ppt/assets/B_36_1.png">    </p:cNvPr>
          <p:cNvPicPr>
            <a:picLocks noChangeAspect="1"/>
          </p:cNvPicPr>
          <p:nvPr/>
        </p:nvPicPr>
        <p:blipFill>
          <a:blip r:embed="rId2"/>
          <a:stretch>
            <a:fillRect/>
          </a:stretch>
        </p:blipFill>
        <p:spPr>
          <a:xfrm>
            <a:off x="1645920" y="2286000"/>
            <a:ext cx="8778240" cy="3546764"/>
          </a:xfrm>
          <a:prstGeom prst="rect">
            <a:avLst/>
          </a:prstGeom>
        </p:spPr>
      </p:pic>
      <p:sp>
        <p:nvSpPr>
          <p:cNvPr id="11" name="Text 7"/>
          <p:cNvSpPr txBox="1"/>
          <p:nvPr/>
        </p:nvSpPr>
        <p:spPr>
          <a:xfrm>
            <a:off x="1508760" y="6035040"/>
            <a:ext cx="9052560" cy="411480"/>
          </a:xfrm>
          <a:prstGeom prst="rect">
            <a:avLst/>
          </a:prstGeom>
          <a:noFill/>
          <a:ln/>
        </p:spPr>
        <p:txBody>
          <a:bodyPr wrap="square" lIns="0" tIns="0" rIns="0" bIns="0" rtlCol="0" anchor="ctr"/>
          <a:lstStyle/>
          <a:p>
            <a:pPr indent="0" marL="0">
              <a:buNone/>
            </a:pPr>
            <a:r>
              <a:rPr lang="en-US" sz="1400" i="1" dirty="0">
                <a:solidFill>
                  <a:srgbClr val="5A5A5A"/>
                </a:solidFill>
                <a:latin typeface="Arial" pitchFamily="34" charset="0"/>
                <a:ea typeface="Arial" pitchFamily="34" charset="-122"/>
                <a:cs typeface="Arial" pitchFamily="34" charset="-120"/>
              </a:rPr>
              <a:t>F1 (barras azules) frente a brecha train-val (barras naranjas)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018520" y="2194560"/>
          <a:ext cx="6400800" cy="914400"/>
        </p:xfrm>
        <a:graphic>
          <a:graphicData uri="http://schemas.openxmlformats.org/drawingml/2006/table">
            <a:tbl>
              <a:tblPr/>
              <a:tblGrid>
                <a:gridCol w="2103120"/>
                <a:gridCol w="1280160"/>
                <a:gridCol w="1600200"/>
                <a:gridCol w="1417320"/>
              </a:tblGrid>
              <a:tr h="45720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Técnica</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F1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val_loss mín.</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Brecha</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r>
              <a:tr h="457200">
                <a:tc>
                  <a:txBody>
                    <a:bodyPr/>
                    <a:lstStyle/>
                    <a:p>
                      <a:pPr algn="l" indent="0" marL="0">
                        <a:buNone/>
                      </a:pPr>
                      <a:r>
                        <a:rPr lang="en-US" sz="1400" dirty="0">
                          <a:solidFill>
                            <a:srgbClr val="222222"/>
                          </a:solidFill>
                          <a:latin typeface="Arial" pitchFamily="34" charset="0"/>
                          <a:ea typeface="Arial" pitchFamily="34" charset="-122"/>
                          <a:cs typeface="Arial" pitchFamily="34" charset="-120"/>
                        </a:rPr>
                        <a:t>Ninguna</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0,9133</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0,2381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+0,0021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2A4BDB"/>
                          </a:solidFill>
                          <a:latin typeface="Arial" pitchFamily="34" charset="0"/>
                          <a:ea typeface="Arial" pitchFamily="34" charset="-122"/>
                          <a:cs typeface="Arial" pitchFamily="34" charset="-120"/>
                        </a:rPr>
                        <a:t>Dropout 0.2</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E6EBFB"/>
                    </a:solidFill>
                  </a:tcPr>
                </a:tc>
                <a:tc>
                  <a:txBody>
                    <a:bodyPr/>
                    <a:lstStyle/>
                    <a:p>
                      <a:pPr algn="ctr" indent="0" marL="0">
                        <a:buNone/>
                      </a:pPr>
                      <a:r>
                        <a:rPr lang="en-US" sz="1400" b="1" dirty="0">
                          <a:solidFill>
                            <a:srgbClr val="2A4BDB"/>
                          </a:solidFill>
                          <a:latin typeface="Arial" pitchFamily="34" charset="0"/>
                          <a:ea typeface="Arial" pitchFamily="34" charset="-122"/>
                          <a:cs typeface="Arial" pitchFamily="34" charset="-120"/>
                        </a:rPr>
                        <a:t>0,9132</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E6EBFB"/>
                    </a:solidFill>
                  </a:tcPr>
                </a:tc>
                <a:tc>
                  <a:txBody>
                    <a:bodyPr/>
                    <a:lstStyle/>
                    <a:p>
                      <a:pPr algn="ctr" indent="0" marL="0">
                        <a:buNone/>
                      </a:pPr>
                      <a:r>
                        <a:rPr lang="en-US" sz="1400" b="1" dirty="0">
                          <a:solidFill>
                            <a:srgbClr val="2A4BDB"/>
                          </a:solidFill>
                          <a:latin typeface="Arial" pitchFamily="34" charset="0"/>
                          <a:ea typeface="Arial" pitchFamily="34" charset="-122"/>
                          <a:cs typeface="Arial" pitchFamily="34" charset="-120"/>
                        </a:rPr>
                        <a:t>0,2341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E6EBFB"/>
                    </a:solidFill>
                  </a:tcPr>
                </a:tc>
                <a:tc>
                  <a:txBody>
                    <a:bodyPr/>
                    <a:lstStyle/>
                    <a:p>
                      <a:pPr algn="ctr" indent="0" marL="0">
                        <a:buNone/>
                      </a:pPr>
                      <a:r>
                        <a:rPr lang="en-US" sz="1400" b="1" dirty="0">
                          <a:solidFill>
                            <a:srgbClr val="2A4BDB"/>
                          </a:solidFill>
                          <a:latin typeface="Arial" pitchFamily="34" charset="0"/>
                          <a:ea typeface="Arial" pitchFamily="34" charset="-122"/>
                          <a:cs typeface="Arial" pitchFamily="34" charset="-120"/>
                        </a:rPr>
                        <a:t>−0,0013</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E6EBFB"/>
                    </a:solidFill>
                  </a:tcPr>
                </a:tc>
              </a:tr>
              <a:tr h="457200">
                <a:tc>
                  <a:txBody>
                    <a:bodyPr/>
                    <a:lstStyle/>
                    <a:p>
                      <a:pPr algn="l" indent="0" marL="0">
                        <a:buNone/>
                      </a:pPr>
                      <a:r>
                        <a:rPr lang="en-US" sz="1400" dirty="0">
                          <a:solidFill>
                            <a:srgbClr val="222222"/>
                          </a:solidFill>
                          <a:latin typeface="Arial" pitchFamily="34" charset="0"/>
                          <a:ea typeface="Arial" pitchFamily="34" charset="-122"/>
                          <a:cs typeface="Arial" pitchFamily="34" charset="-120"/>
                        </a:rPr>
                        <a:t>Dropout 0.4</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0,9138</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0,2353</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−0,0069</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222222"/>
                          </a:solidFill>
                          <a:latin typeface="Arial" pitchFamily="34" charset="0"/>
                          <a:ea typeface="Arial" pitchFamily="34" charset="-122"/>
                          <a:cs typeface="Arial" pitchFamily="34" charset="-120"/>
                        </a:rPr>
                        <a:t>L2 0.001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0,9130</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0,2459</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+0,0023</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r h="457200">
                <a:tc>
                  <a:txBody>
                    <a:bodyPr/>
                    <a:lstStyle/>
                    <a:p>
                      <a:pPr algn="l" indent="0" marL="0">
                        <a:buNone/>
                      </a:pPr>
                      <a:r>
                        <a:rPr lang="en-US" sz="1400" dirty="0">
                          <a:solidFill>
                            <a:srgbClr val="222222"/>
                          </a:solidFill>
                          <a:latin typeface="Arial" pitchFamily="34" charset="0"/>
                          <a:ea typeface="Arial" pitchFamily="34" charset="-122"/>
                          <a:cs typeface="Arial" pitchFamily="34" charset="-120"/>
                        </a:rPr>
                        <a:t>BatchNorm</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0,9120</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0,2423</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+0,0028</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222222"/>
                          </a:solidFill>
                          <a:latin typeface="Arial" pitchFamily="34" charset="0"/>
                          <a:ea typeface="Arial" pitchFamily="34" charset="-122"/>
                          <a:cs typeface="Arial" pitchFamily="34" charset="-120"/>
                        </a:rPr>
                        <a:t>Dropout + BN</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0,9131</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0,2355</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400" dirty="0">
                          <a:solidFill>
                            <a:srgbClr val="222222"/>
                          </a:solidFill>
                          <a:latin typeface="Arial" pitchFamily="34" charset="0"/>
                          <a:ea typeface="Arial" pitchFamily="34" charset="-122"/>
                          <a:cs typeface="Arial" pitchFamily="34" charset="-120"/>
                        </a:rPr>
                        <a:t>−0,0024</a:t>
                      </a:r>
                      <a:endParaRPr lang="en-US" sz="14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bl>
          </a:graphicData>
        </a:graphic>
      </p:graphicFrame>
      <p:sp>
        <p:nvSpPr>
          <p:cNvPr id="13" name="Shape 8"/>
          <p:cNvSpPr/>
          <p:nvPr/>
        </p:nvSpPr>
        <p:spPr>
          <a:xfrm>
            <a:off x="1508760" y="6766560"/>
            <a:ext cx="15910560" cy="2103120"/>
          </a:xfrm>
          <a:prstGeom prst="rect">
            <a:avLst/>
          </a:prstGeom>
          <a:solidFill>
            <a:srgbClr val="F4F6FA"/>
          </a:solidFill>
          <a:ln w="12700">
            <a:solidFill>
              <a:srgbClr val="D4D4D4"/>
            </a:solidFill>
            <a:prstDash val="solid"/>
          </a:ln>
        </p:spPr>
      </p:sp>
      <p:sp>
        <p:nvSpPr>
          <p:cNvPr id="14" name="Shape 9"/>
          <p:cNvSpPr/>
          <p:nvPr/>
        </p:nvSpPr>
        <p:spPr>
          <a:xfrm>
            <a:off x="1508760" y="6766560"/>
            <a:ext cx="15910560" cy="128016"/>
          </a:xfrm>
          <a:prstGeom prst="rect">
            <a:avLst/>
          </a:prstGeom>
          <a:solidFill>
            <a:srgbClr val="2A4BDB"/>
          </a:solidFill>
          <a:ln w="12700">
            <a:solidFill>
              <a:srgbClr val="2A4BDB"/>
            </a:solidFill>
            <a:prstDash val="solid"/>
          </a:ln>
        </p:spPr>
      </p:sp>
      <p:sp>
        <p:nvSpPr>
          <p:cNvPr id="15" name="Text 10"/>
          <p:cNvSpPr txBox="1"/>
          <p:nvPr/>
        </p:nvSpPr>
        <p:spPr>
          <a:xfrm>
            <a:off x="1828800" y="7086600"/>
            <a:ext cx="1536192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Hallazgo principal</a:t>
            </a:r>
            <a:endParaRPr lang="en-US" sz="2000" dirty="0"/>
          </a:p>
        </p:txBody>
      </p:sp>
      <p:sp>
        <p:nvSpPr>
          <p:cNvPr id="16" name="Text 11"/>
          <p:cNvSpPr txBox="1"/>
          <p:nvPr/>
        </p:nvSpPr>
        <p:spPr>
          <a:xfrm>
            <a:off x="1828800" y="7635240"/>
            <a:ext cx="15361920" cy="1051560"/>
          </a:xfrm>
          <a:prstGeom prst="rect">
            <a:avLst/>
          </a:prstGeom>
          <a:noFill/>
          <a:ln/>
        </p:spPr>
        <p:txBody>
          <a:bodyPr wrap="square" lIns="0" tIns="0" rIns="0" bIns="0" rtlCol="0" anchor="t"/>
          <a:lstStyle/>
          <a:p>
            <a:pPr indent="0" marL="0">
              <a:spcAft>
                <a:spcPts val="600"/>
              </a:spcAft>
              <a:buNone/>
            </a:pPr>
            <a:r>
              <a:rPr lang="en-US" sz="1600" dirty="0">
                <a:solidFill>
                  <a:srgbClr val="5A5A5A"/>
                </a:solidFill>
                <a:latin typeface="Arial" pitchFamily="34" charset="0"/>
                <a:ea typeface="Arial" pitchFamily="34" charset="-122"/>
                <a:cs typeface="Arial" pitchFamily="34" charset="-120"/>
              </a:rPr>
              <a:t>Las 6 variantes quedan en un rango de F1 de solo 0,0019, porque el sobreajuste de base ya era leve. Se elige Dropout 0.2: su diferencia con Dropout 0.4 (0,0006) está bajo el umbral de 0,005, y tiene el menor val_loss (probabilidades mejor calibradas) y la menor brecha absoluta. Las brechas negativas se deben a que la accuracy de entrenamiento se mide con neuronas apagadas.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Comparación de configuraciones</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48840"/>
            <a:ext cx="9784080" cy="4514836"/>
          </a:xfrm>
          <a:prstGeom prst="rect">
            <a:avLst/>
          </a:prstGeom>
          <a:solidFill>
            <a:srgbClr val="FFFFFF"/>
          </a:solidFill>
          <a:ln w="12700">
            <a:solidFill>
              <a:srgbClr val="D4D4D4"/>
            </a:solidFill>
            <a:prstDash val="solid"/>
          </a:ln>
        </p:spPr>
      </p:sp>
      <p:pic>
        <p:nvPicPr>
          <p:cNvPr id="10" name="Image 1" descr="/home/claude/ppt/assets/B_46_0.png">    </p:cNvPr>
          <p:cNvPicPr>
            <a:picLocks noChangeAspect="1"/>
          </p:cNvPicPr>
          <p:nvPr/>
        </p:nvPicPr>
        <p:blipFill>
          <a:blip r:embed="rId2"/>
          <a:stretch>
            <a:fillRect/>
          </a:stretch>
        </p:blipFill>
        <p:spPr>
          <a:xfrm>
            <a:off x="1645920" y="2286000"/>
            <a:ext cx="9509760" cy="4240516"/>
          </a:xfrm>
          <a:prstGeom prst="rect">
            <a:avLst/>
          </a:prstGeom>
        </p:spPr>
      </p:pic>
      <p:sp>
        <p:nvSpPr>
          <p:cNvPr id="11" name="Text 7"/>
          <p:cNvSpPr txBox="1"/>
          <p:nvPr/>
        </p:nvSpPr>
        <p:spPr>
          <a:xfrm>
            <a:off x="1508760" y="6766560"/>
            <a:ext cx="9784080" cy="411480"/>
          </a:xfrm>
          <a:prstGeom prst="rect">
            <a:avLst/>
          </a:prstGeom>
          <a:noFill/>
          <a:ln/>
        </p:spPr>
        <p:txBody>
          <a:bodyPr wrap="square" lIns="0" tIns="0" rIns="0" bIns="0" rtlCol="0" anchor="ctr"/>
          <a:lstStyle/>
          <a:p>
            <a:pPr indent="0" marL="0">
              <a:buNone/>
            </a:pPr>
            <a:r>
              <a:rPr lang="en-US" sz="1400" i="1" dirty="0">
                <a:solidFill>
                  <a:srgbClr val="5A5A5A"/>
                </a:solidFill>
                <a:latin typeface="Arial" pitchFamily="34" charset="0"/>
                <a:ea typeface="Arial" pitchFamily="34" charset="-122"/>
                <a:cs typeface="Arial" pitchFamily="34" charset="-120"/>
              </a:rPr>
              <a:t>Las 19 corridas del notebook principal; en naranja, la configuración seleccionada</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750040" y="2148840"/>
          <a:ext cx="5669280" cy="914400"/>
        </p:xfrm>
        <a:graphic>
          <a:graphicData uri="http://schemas.openxmlformats.org/drawingml/2006/table">
            <a:tbl>
              <a:tblPr/>
              <a:tblGrid>
                <a:gridCol w="2377440"/>
                <a:gridCol w="1554480"/>
                <a:gridCol w="1737360"/>
              </a:tblGrid>
              <a:tr h="457200">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Etapa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F1</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Δ F1</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r>
              <a:tr h="457200">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Baseline</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0,9076</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LR 0.0005</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0,9100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+0,0024</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r h="457200">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Batch 256</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0,9129</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+0,0029</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Early Stopping</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0,9133</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+0,0004</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r h="457200">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Dropout 0.2</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0,9132</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−0,0001</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bl>
          </a:graphicData>
        </a:graphic>
      </p:graphicFrame>
      <p:sp>
        <p:nvSpPr>
          <p:cNvPr id="13" name="Shape 8"/>
          <p:cNvSpPr/>
          <p:nvPr/>
        </p:nvSpPr>
        <p:spPr>
          <a:xfrm>
            <a:off x="11750040" y="5212080"/>
            <a:ext cx="5669280" cy="3657600"/>
          </a:xfrm>
          <a:prstGeom prst="rect">
            <a:avLst/>
          </a:prstGeom>
          <a:solidFill>
            <a:srgbClr val="F4F6FA"/>
          </a:solidFill>
          <a:ln w="12700">
            <a:solidFill>
              <a:srgbClr val="D4D4D4"/>
            </a:solidFill>
            <a:prstDash val="solid"/>
          </a:ln>
        </p:spPr>
      </p:sp>
      <p:sp>
        <p:nvSpPr>
          <p:cNvPr id="14" name="Shape 9"/>
          <p:cNvSpPr/>
          <p:nvPr/>
        </p:nvSpPr>
        <p:spPr>
          <a:xfrm>
            <a:off x="11750040" y="5212080"/>
            <a:ext cx="5669280" cy="128016"/>
          </a:xfrm>
          <a:prstGeom prst="rect">
            <a:avLst/>
          </a:prstGeom>
          <a:solidFill>
            <a:srgbClr val="2A4BDB"/>
          </a:solidFill>
          <a:ln w="12700">
            <a:solidFill>
              <a:srgbClr val="2A4BDB"/>
            </a:solidFill>
            <a:prstDash val="solid"/>
          </a:ln>
        </p:spPr>
      </p:sp>
      <p:sp>
        <p:nvSpPr>
          <p:cNvPr id="15" name="Text 10"/>
          <p:cNvSpPr txBox="1"/>
          <p:nvPr/>
        </p:nvSpPr>
        <p:spPr>
          <a:xfrm>
            <a:off x="12070080" y="5532120"/>
            <a:ext cx="512064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Otras comparaciones</a:t>
            </a:r>
            <a:endParaRPr lang="en-US" sz="2000" dirty="0"/>
          </a:p>
        </p:txBody>
      </p:sp>
      <p:sp>
        <p:nvSpPr>
          <p:cNvPr id="16" name="Text 11"/>
          <p:cNvSpPr txBox="1"/>
          <p:nvPr/>
        </p:nvSpPr>
        <p:spPr>
          <a:xfrm>
            <a:off x="12070080" y="6080760"/>
            <a:ext cx="5120640" cy="260604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Optimizadores: Adam, RMSprop y SGD empatan (F1 ≈ 0,913). Se mantiene Adam.</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Arquitecturas: con 22× más parámetros, F1 +0,0009. Se mantiene 64-32.</a:t>
            </a:r>
            <a:endParaRPr lang="en-US" sz="1500" dirty="0"/>
          </a:p>
        </p:txBody>
      </p:sp>
      <p:sp>
        <p:nvSpPr>
          <p:cNvPr id="17" name="Text 12"/>
          <p:cNvSpPr txBox="1"/>
          <p:nvPr/>
        </p:nvSpPr>
        <p:spPr>
          <a:xfrm>
            <a:off x="1508760" y="7406640"/>
            <a:ext cx="9784080" cy="1097280"/>
          </a:xfrm>
          <a:prstGeom prst="rect">
            <a:avLst/>
          </a:prstGeom>
          <a:noFill/>
          <a:ln/>
        </p:spPr>
        <p:txBody>
          <a:bodyPr wrap="square" lIns="0" tIns="0" rIns="0" bIns="0" rtlCol="0" anchor="t"/>
          <a:lstStyle/>
          <a:p>
            <a:pPr indent="0" marL="0">
              <a:buNone/>
            </a:pPr>
            <a:r>
              <a:rPr lang="en-US" sz="1800" b="1" dirty="0">
                <a:solidFill>
                  <a:srgbClr val="222222"/>
                </a:solidFill>
                <a:latin typeface="Arial" pitchFamily="34" charset="0"/>
                <a:ea typeface="Arial" pitchFamily="34" charset="-122"/>
                <a:cs typeface="Arial" pitchFamily="34" charset="-120"/>
              </a:rPr>
              <a:t>LR y batch explican +0,0053 de los +0,0056 de mejora.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Modelo final frente al baseline</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2240280" y="2103120"/>
            <a:ext cx="14447520" cy="4935305"/>
          </a:xfrm>
          <a:prstGeom prst="rect">
            <a:avLst/>
          </a:prstGeom>
          <a:solidFill>
            <a:srgbClr val="FFFFFF"/>
          </a:solidFill>
          <a:ln w="12700">
            <a:solidFill>
              <a:srgbClr val="D4D4D4"/>
            </a:solidFill>
            <a:prstDash val="solid"/>
          </a:ln>
        </p:spPr>
      </p:sp>
      <p:pic>
        <p:nvPicPr>
          <p:cNvPr id="10" name="Image 1" descr="/home/claude/ppt/assets/B_53_0.png">    </p:cNvPr>
          <p:cNvPicPr>
            <a:picLocks noChangeAspect="1"/>
          </p:cNvPicPr>
          <p:nvPr/>
        </p:nvPicPr>
        <p:blipFill>
          <a:blip r:embed="rId2"/>
          <a:stretch>
            <a:fillRect/>
          </a:stretch>
        </p:blipFill>
        <p:spPr>
          <a:xfrm>
            <a:off x="2377440" y="2240280"/>
            <a:ext cx="14173200" cy="4660985"/>
          </a:xfrm>
          <a:prstGeom prst="rect">
            <a:avLst/>
          </a:prstGeom>
        </p:spPr>
      </p:pic>
      <p:sp>
        <p:nvSpPr>
          <p:cNvPr id="11" name="Shape 7"/>
          <p:cNvSpPr/>
          <p:nvPr/>
        </p:nvSpPr>
        <p:spPr>
          <a:xfrm>
            <a:off x="1508760" y="7269480"/>
            <a:ext cx="3703320" cy="1920240"/>
          </a:xfrm>
          <a:prstGeom prst="rect">
            <a:avLst/>
          </a:prstGeom>
          <a:solidFill>
            <a:srgbClr val="F4F6FA"/>
          </a:solidFill>
          <a:ln w="12700">
            <a:solidFill>
              <a:srgbClr val="D4D4D4"/>
            </a:solidFill>
            <a:prstDash val="solid"/>
          </a:ln>
        </p:spPr>
      </p:sp>
      <p:sp>
        <p:nvSpPr>
          <p:cNvPr id="12" name="Shape 8"/>
          <p:cNvSpPr/>
          <p:nvPr/>
        </p:nvSpPr>
        <p:spPr>
          <a:xfrm>
            <a:off x="1508760" y="7269480"/>
            <a:ext cx="3703320" cy="128016"/>
          </a:xfrm>
          <a:prstGeom prst="rect">
            <a:avLst/>
          </a:prstGeom>
          <a:solidFill>
            <a:srgbClr val="2A4BDB"/>
          </a:solidFill>
          <a:ln w="12700">
            <a:solidFill>
              <a:srgbClr val="2A4BDB"/>
            </a:solidFill>
            <a:prstDash val="solid"/>
          </a:ln>
        </p:spPr>
      </p:sp>
      <p:sp>
        <p:nvSpPr>
          <p:cNvPr id="13" name="Text 9"/>
          <p:cNvSpPr txBox="1"/>
          <p:nvPr/>
        </p:nvSpPr>
        <p:spPr>
          <a:xfrm>
            <a:off x="1783080" y="7543800"/>
            <a:ext cx="324612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+0,0056</a:t>
            </a:r>
            <a:endParaRPr lang="en-US" sz="3400" dirty="0"/>
          </a:p>
        </p:txBody>
      </p:sp>
      <p:sp>
        <p:nvSpPr>
          <p:cNvPr id="14" name="Text 10"/>
          <p:cNvSpPr txBox="1"/>
          <p:nvPr/>
        </p:nvSpPr>
        <p:spPr>
          <a:xfrm>
            <a:off x="1783080" y="8293608"/>
            <a:ext cx="324612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F1 validación</a:t>
            </a:r>
            <a:endParaRPr lang="en-US" sz="1700" dirty="0"/>
          </a:p>
        </p:txBody>
      </p:sp>
      <p:sp>
        <p:nvSpPr>
          <p:cNvPr id="15" name="Text 11"/>
          <p:cNvSpPr txBox="1"/>
          <p:nvPr/>
        </p:nvSpPr>
        <p:spPr>
          <a:xfrm>
            <a:off x="1783080" y="8686800"/>
            <a:ext cx="324612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0,9076 → 0,9132</a:t>
            </a:r>
            <a:endParaRPr lang="en-US" sz="1300" dirty="0"/>
          </a:p>
        </p:txBody>
      </p:sp>
      <p:sp>
        <p:nvSpPr>
          <p:cNvPr id="16" name="Shape 12"/>
          <p:cNvSpPr/>
          <p:nvPr/>
        </p:nvSpPr>
        <p:spPr>
          <a:xfrm>
            <a:off x="5532120" y="7269480"/>
            <a:ext cx="3703320" cy="1920240"/>
          </a:xfrm>
          <a:prstGeom prst="rect">
            <a:avLst/>
          </a:prstGeom>
          <a:solidFill>
            <a:srgbClr val="F4F6FA"/>
          </a:solidFill>
          <a:ln w="12700">
            <a:solidFill>
              <a:srgbClr val="D4D4D4"/>
            </a:solidFill>
            <a:prstDash val="solid"/>
          </a:ln>
        </p:spPr>
      </p:sp>
      <p:sp>
        <p:nvSpPr>
          <p:cNvPr id="17" name="Shape 13"/>
          <p:cNvSpPr/>
          <p:nvPr/>
        </p:nvSpPr>
        <p:spPr>
          <a:xfrm>
            <a:off x="5532120" y="7269480"/>
            <a:ext cx="3703320" cy="128016"/>
          </a:xfrm>
          <a:prstGeom prst="rect">
            <a:avLst/>
          </a:prstGeom>
          <a:solidFill>
            <a:srgbClr val="2A4BDB"/>
          </a:solidFill>
          <a:ln w="12700">
            <a:solidFill>
              <a:srgbClr val="2A4BDB"/>
            </a:solidFill>
            <a:prstDash val="solid"/>
          </a:ln>
        </p:spPr>
      </p:sp>
      <p:sp>
        <p:nvSpPr>
          <p:cNvPr id="18" name="Text 14"/>
          <p:cNvSpPr txBox="1"/>
          <p:nvPr/>
        </p:nvSpPr>
        <p:spPr>
          <a:xfrm>
            <a:off x="5806440" y="7543800"/>
            <a:ext cx="324612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−2,8%</a:t>
            </a:r>
            <a:endParaRPr lang="en-US" sz="3400" dirty="0"/>
          </a:p>
        </p:txBody>
      </p:sp>
      <p:sp>
        <p:nvSpPr>
          <p:cNvPr id="19" name="Text 15"/>
          <p:cNvSpPr txBox="1"/>
          <p:nvPr/>
        </p:nvSpPr>
        <p:spPr>
          <a:xfrm>
            <a:off x="5806440" y="8293608"/>
            <a:ext cx="324612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val_loss mínima</a:t>
            </a:r>
            <a:endParaRPr lang="en-US" sz="1700" dirty="0"/>
          </a:p>
        </p:txBody>
      </p:sp>
      <p:sp>
        <p:nvSpPr>
          <p:cNvPr id="20" name="Text 16"/>
          <p:cNvSpPr txBox="1"/>
          <p:nvPr/>
        </p:nvSpPr>
        <p:spPr>
          <a:xfrm>
            <a:off x="5806440" y="8686800"/>
            <a:ext cx="324612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0,2409 → 0,2341</a:t>
            </a:r>
            <a:endParaRPr lang="en-US" sz="1300" dirty="0"/>
          </a:p>
        </p:txBody>
      </p:sp>
      <p:sp>
        <p:nvSpPr>
          <p:cNvPr id="21" name="Shape 17"/>
          <p:cNvSpPr/>
          <p:nvPr/>
        </p:nvSpPr>
        <p:spPr>
          <a:xfrm>
            <a:off x="9555480" y="7269480"/>
            <a:ext cx="3703320" cy="1920240"/>
          </a:xfrm>
          <a:prstGeom prst="rect">
            <a:avLst/>
          </a:prstGeom>
          <a:solidFill>
            <a:srgbClr val="F4F6FA"/>
          </a:solidFill>
          <a:ln w="12700">
            <a:solidFill>
              <a:srgbClr val="D4D4D4"/>
            </a:solidFill>
            <a:prstDash val="solid"/>
          </a:ln>
        </p:spPr>
      </p:sp>
      <p:sp>
        <p:nvSpPr>
          <p:cNvPr id="22" name="Shape 18"/>
          <p:cNvSpPr/>
          <p:nvPr/>
        </p:nvSpPr>
        <p:spPr>
          <a:xfrm>
            <a:off x="9555480" y="7269480"/>
            <a:ext cx="3703320" cy="128016"/>
          </a:xfrm>
          <a:prstGeom prst="rect">
            <a:avLst/>
          </a:prstGeom>
          <a:solidFill>
            <a:srgbClr val="2A4BDB"/>
          </a:solidFill>
          <a:ln w="12700">
            <a:solidFill>
              <a:srgbClr val="2A4BDB"/>
            </a:solidFill>
            <a:prstDash val="solid"/>
          </a:ln>
        </p:spPr>
      </p:sp>
      <p:sp>
        <p:nvSpPr>
          <p:cNvPr id="23" name="Text 19"/>
          <p:cNvSpPr txBox="1"/>
          <p:nvPr/>
        </p:nvSpPr>
        <p:spPr>
          <a:xfrm>
            <a:off x="9829800" y="7543800"/>
            <a:ext cx="324612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−0,0013</a:t>
            </a:r>
            <a:endParaRPr lang="en-US" sz="3400" dirty="0"/>
          </a:p>
        </p:txBody>
      </p:sp>
      <p:sp>
        <p:nvSpPr>
          <p:cNvPr id="24" name="Text 20"/>
          <p:cNvSpPr txBox="1"/>
          <p:nvPr/>
        </p:nvSpPr>
        <p:spPr>
          <a:xfrm>
            <a:off x="9829800" y="8293608"/>
            <a:ext cx="324612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Brecha train-val</a:t>
            </a:r>
            <a:endParaRPr lang="en-US" sz="1700" dirty="0"/>
          </a:p>
        </p:txBody>
      </p:sp>
      <p:sp>
        <p:nvSpPr>
          <p:cNvPr id="25" name="Text 21"/>
          <p:cNvSpPr txBox="1"/>
          <p:nvPr/>
        </p:nvSpPr>
        <p:spPr>
          <a:xfrm>
            <a:off x="9829800" y="8686800"/>
            <a:ext cx="324612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desde +0,0126</a:t>
            </a:r>
            <a:endParaRPr lang="en-US" sz="1300" dirty="0"/>
          </a:p>
        </p:txBody>
      </p:sp>
      <p:sp>
        <p:nvSpPr>
          <p:cNvPr id="26" name="Shape 22"/>
          <p:cNvSpPr/>
          <p:nvPr/>
        </p:nvSpPr>
        <p:spPr>
          <a:xfrm>
            <a:off x="13578840" y="7269480"/>
            <a:ext cx="3703320" cy="1920240"/>
          </a:xfrm>
          <a:prstGeom prst="rect">
            <a:avLst/>
          </a:prstGeom>
          <a:solidFill>
            <a:srgbClr val="F4F6FA"/>
          </a:solidFill>
          <a:ln w="12700">
            <a:solidFill>
              <a:srgbClr val="D4D4D4"/>
            </a:solidFill>
            <a:prstDash val="solid"/>
          </a:ln>
        </p:spPr>
      </p:sp>
      <p:sp>
        <p:nvSpPr>
          <p:cNvPr id="27" name="Shape 23"/>
          <p:cNvSpPr/>
          <p:nvPr/>
        </p:nvSpPr>
        <p:spPr>
          <a:xfrm>
            <a:off x="13578840" y="7269480"/>
            <a:ext cx="3703320" cy="128016"/>
          </a:xfrm>
          <a:prstGeom prst="rect">
            <a:avLst/>
          </a:prstGeom>
          <a:solidFill>
            <a:srgbClr val="2A4BDB"/>
          </a:solidFill>
          <a:ln w="12700">
            <a:solidFill>
              <a:srgbClr val="2A4BDB"/>
            </a:solidFill>
            <a:prstDash val="solid"/>
          </a:ln>
        </p:spPr>
      </p:sp>
      <p:sp>
        <p:nvSpPr>
          <p:cNvPr id="28" name="Text 24"/>
          <p:cNvSpPr txBox="1"/>
          <p:nvPr/>
        </p:nvSpPr>
        <p:spPr>
          <a:xfrm>
            <a:off x="13853160" y="7543800"/>
            <a:ext cx="324612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 5×</a:t>
            </a:r>
            <a:endParaRPr lang="en-US" sz="3400" dirty="0"/>
          </a:p>
        </p:txBody>
      </p:sp>
      <p:sp>
        <p:nvSpPr>
          <p:cNvPr id="29" name="Text 25"/>
          <p:cNvSpPr txBox="1"/>
          <p:nvPr/>
        </p:nvSpPr>
        <p:spPr>
          <a:xfrm>
            <a:off x="13853160" y="8293608"/>
            <a:ext cx="324612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Más rápido</a:t>
            </a:r>
            <a:endParaRPr lang="en-US" sz="1700" dirty="0"/>
          </a:p>
        </p:txBody>
      </p:sp>
      <p:sp>
        <p:nvSpPr>
          <p:cNvPr id="30" name="Text 26"/>
          <p:cNvSpPr txBox="1"/>
          <p:nvPr/>
        </p:nvSpPr>
        <p:spPr>
          <a:xfrm>
            <a:off x="13853160" y="8686800"/>
            <a:ext cx="324612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152 s → 31 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Resultados en test</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48840"/>
            <a:ext cx="3703320" cy="1874520"/>
          </a:xfrm>
          <a:prstGeom prst="rect">
            <a:avLst/>
          </a:prstGeom>
          <a:solidFill>
            <a:srgbClr val="F4F6FA"/>
          </a:solidFill>
          <a:ln w="12700">
            <a:solidFill>
              <a:srgbClr val="D4D4D4"/>
            </a:solidFill>
            <a:prstDash val="solid"/>
          </a:ln>
        </p:spPr>
      </p:sp>
      <p:sp>
        <p:nvSpPr>
          <p:cNvPr id="10" name="Shape 7"/>
          <p:cNvSpPr/>
          <p:nvPr/>
        </p:nvSpPr>
        <p:spPr>
          <a:xfrm>
            <a:off x="1508760" y="2148840"/>
            <a:ext cx="3703320" cy="128016"/>
          </a:xfrm>
          <a:prstGeom prst="rect">
            <a:avLst/>
          </a:prstGeom>
          <a:solidFill>
            <a:srgbClr val="2A4BDB"/>
          </a:solidFill>
          <a:ln w="12700">
            <a:solidFill>
              <a:srgbClr val="2A4BDB"/>
            </a:solidFill>
            <a:prstDash val="solid"/>
          </a:ln>
        </p:spPr>
      </p:sp>
      <p:sp>
        <p:nvSpPr>
          <p:cNvPr id="11" name="Text 8"/>
          <p:cNvSpPr txBox="1"/>
          <p:nvPr/>
        </p:nvSpPr>
        <p:spPr>
          <a:xfrm>
            <a:off x="1828800" y="2468880"/>
            <a:ext cx="315468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0,9108</a:t>
            </a:r>
            <a:endParaRPr lang="en-US" sz="4000" dirty="0"/>
          </a:p>
        </p:txBody>
      </p:sp>
      <p:sp>
        <p:nvSpPr>
          <p:cNvPr id="12" name="Text 9"/>
          <p:cNvSpPr txBox="1"/>
          <p:nvPr/>
        </p:nvSpPr>
        <p:spPr>
          <a:xfrm>
            <a:off x="1828800" y="3337560"/>
            <a:ext cx="315468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Accuracy</a:t>
            </a:r>
            <a:endParaRPr lang="en-US" sz="1900" dirty="0"/>
          </a:p>
        </p:txBody>
      </p:sp>
      <p:sp>
        <p:nvSpPr>
          <p:cNvPr id="13" name="Shape 10"/>
          <p:cNvSpPr/>
          <p:nvPr/>
        </p:nvSpPr>
        <p:spPr>
          <a:xfrm>
            <a:off x="5532120" y="2148840"/>
            <a:ext cx="3703320" cy="1874520"/>
          </a:xfrm>
          <a:prstGeom prst="rect">
            <a:avLst/>
          </a:prstGeom>
          <a:solidFill>
            <a:srgbClr val="F4F6FA"/>
          </a:solidFill>
          <a:ln w="12700">
            <a:solidFill>
              <a:srgbClr val="D4D4D4"/>
            </a:solidFill>
            <a:prstDash val="solid"/>
          </a:ln>
        </p:spPr>
      </p:sp>
      <p:sp>
        <p:nvSpPr>
          <p:cNvPr id="14" name="Shape 11"/>
          <p:cNvSpPr/>
          <p:nvPr/>
        </p:nvSpPr>
        <p:spPr>
          <a:xfrm>
            <a:off x="5532120" y="2148840"/>
            <a:ext cx="3703320" cy="128016"/>
          </a:xfrm>
          <a:prstGeom prst="rect">
            <a:avLst/>
          </a:prstGeom>
          <a:solidFill>
            <a:srgbClr val="2A4BDB"/>
          </a:solidFill>
          <a:ln w="12700">
            <a:solidFill>
              <a:srgbClr val="2A4BDB"/>
            </a:solidFill>
            <a:prstDash val="solid"/>
          </a:ln>
        </p:spPr>
      </p:sp>
      <p:sp>
        <p:nvSpPr>
          <p:cNvPr id="15" name="Text 12"/>
          <p:cNvSpPr txBox="1"/>
          <p:nvPr/>
        </p:nvSpPr>
        <p:spPr>
          <a:xfrm>
            <a:off x="5852160" y="2468880"/>
            <a:ext cx="315468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0,9108</a:t>
            </a:r>
            <a:endParaRPr lang="en-US" sz="4000" dirty="0"/>
          </a:p>
        </p:txBody>
      </p:sp>
      <p:sp>
        <p:nvSpPr>
          <p:cNvPr id="16" name="Text 13"/>
          <p:cNvSpPr txBox="1"/>
          <p:nvPr/>
        </p:nvSpPr>
        <p:spPr>
          <a:xfrm>
            <a:off x="5852160" y="3337560"/>
            <a:ext cx="315468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Precision (weighted)</a:t>
            </a:r>
            <a:endParaRPr lang="en-US" sz="1900" dirty="0"/>
          </a:p>
        </p:txBody>
      </p:sp>
      <p:sp>
        <p:nvSpPr>
          <p:cNvPr id="17" name="Shape 14"/>
          <p:cNvSpPr/>
          <p:nvPr/>
        </p:nvSpPr>
        <p:spPr>
          <a:xfrm>
            <a:off x="9555480" y="2148840"/>
            <a:ext cx="3703320" cy="1874520"/>
          </a:xfrm>
          <a:prstGeom prst="rect">
            <a:avLst/>
          </a:prstGeom>
          <a:solidFill>
            <a:srgbClr val="F4F6FA"/>
          </a:solidFill>
          <a:ln w="12700">
            <a:solidFill>
              <a:srgbClr val="D4D4D4"/>
            </a:solidFill>
            <a:prstDash val="solid"/>
          </a:ln>
        </p:spPr>
      </p:sp>
      <p:sp>
        <p:nvSpPr>
          <p:cNvPr id="18" name="Shape 15"/>
          <p:cNvSpPr/>
          <p:nvPr/>
        </p:nvSpPr>
        <p:spPr>
          <a:xfrm>
            <a:off x="9555480" y="2148840"/>
            <a:ext cx="3703320" cy="128016"/>
          </a:xfrm>
          <a:prstGeom prst="rect">
            <a:avLst/>
          </a:prstGeom>
          <a:solidFill>
            <a:srgbClr val="2A4BDB"/>
          </a:solidFill>
          <a:ln w="12700">
            <a:solidFill>
              <a:srgbClr val="2A4BDB"/>
            </a:solidFill>
            <a:prstDash val="solid"/>
          </a:ln>
        </p:spPr>
      </p:sp>
      <p:sp>
        <p:nvSpPr>
          <p:cNvPr id="19" name="Text 16"/>
          <p:cNvSpPr txBox="1"/>
          <p:nvPr/>
        </p:nvSpPr>
        <p:spPr>
          <a:xfrm>
            <a:off x="9875520" y="2468880"/>
            <a:ext cx="315468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0,9108</a:t>
            </a:r>
            <a:endParaRPr lang="en-US" sz="4000" dirty="0"/>
          </a:p>
        </p:txBody>
      </p:sp>
      <p:sp>
        <p:nvSpPr>
          <p:cNvPr id="20" name="Text 17"/>
          <p:cNvSpPr txBox="1"/>
          <p:nvPr/>
        </p:nvSpPr>
        <p:spPr>
          <a:xfrm>
            <a:off x="9875520" y="3337560"/>
            <a:ext cx="315468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Recall (weighted)</a:t>
            </a:r>
            <a:endParaRPr lang="en-US" sz="1900" dirty="0"/>
          </a:p>
        </p:txBody>
      </p:sp>
      <p:sp>
        <p:nvSpPr>
          <p:cNvPr id="21" name="Shape 18"/>
          <p:cNvSpPr/>
          <p:nvPr/>
        </p:nvSpPr>
        <p:spPr>
          <a:xfrm>
            <a:off x="13578840" y="2148840"/>
            <a:ext cx="3703320" cy="1874520"/>
          </a:xfrm>
          <a:prstGeom prst="rect">
            <a:avLst/>
          </a:prstGeom>
          <a:solidFill>
            <a:srgbClr val="F4F6FA"/>
          </a:solidFill>
          <a:ln w="12700">
            <a:solidFill>
              <a:srgbClr val="D4D4D4"/>
            </a:solidFill>
            <a:prstDash val="solid"/>
          </a:ln>
        </p:spPr>
      </p:sp>
      <p:sp>
        <p:nvSpPr>
          <p:cNvPr id="22" name="Shape 19"/>
          <p:cNvSpPr/>
          <p:nvPr/>
        </p:nvSpPr>
        <p:spPr>
          <a:xfrm>
            <a:off x="13578840" y="2148840"/>
            <a:ext cx="3703320" cy="128016"/>
          </a:xfrm>
          <a:prstGeom prst="rect">
            <a:avLst/>
          </a:prstGeom>
          <a:solidFill>
            <a:srgbClr val="2A4BDB"/>
          </a:solidFill>
          <a:ln w="12700">
            <a:solidFill>
              <a:srgbClr val="2A4BDB"/>
            </a:solidFill>
            <a:prstDash val="solid"/>
          </a:ln>
        </p:spPr>
      </p:sp>
      <p:sp>
        <p:nvSpPr>
          <p:cNvPr id="23" name="Text 20"/>
          <p:cNvSpPr txBox="1"/>
          <p:nvPr/>
        </p:nvSpPr>
        <p:spPr>
          <a:xfrm>
            <a:off x="13898880" y="2468880"/>
            <a:ext cx="3154680" cy="868680"/>
          </a:xfrm>
          <a:prstGeom prst="rect">
            <a:avLst/>
          </a:prstGeom>
          <a:noFill/>
          <a:ln/>
        </p:spPr>
        <p:txBody>
          <a:bodyPr wrap="square" lIns="0" tIns="0" rIns="0" bIns="0" rtlCol="0" anchor="ctr"/>
          <a:lstStyle/>
          <a:p>
            <a:pPr indent="0" marL="0">
              <a:buNone/>
            </a:pPr>
            <a:r>
              <a:rPr lang="en-US" sz="4000" b="1" dirty="0">
                <a:solidFill>
                  <a:srgbClr val="2A4BDB"/>
                </a:solidFill>
                <a:latin typeface="Arial" pitchFamily="34" charset="0"/>
                <a:ea typeface="Arial" pitchFamily="34" charset="-122"/>
                <a:cs typeface="Arial" pitchFamily="34" charset="-120"/>
              </a:rPr>
              <a:t>0,9108</a:t>
            </a:r>
            <a:endParaRPr lang="en-US" sz="4000" dirty="0"/>
          </a:p>
        </p:txBody>
      </p:sp>
      <p:sp>
        <p:nvSpPr>
          <p:cNvPr id="24" name="Text 21"/>
          <p:cNvSpPr txBox="1"/>
          <p:nvPr/>
        </p:nvSpPr>
        <p:spPr>
          <a:xfrm>
            <a:off x="13898880" y="3337560"/>
            <a:ext cx="3154680" cy="457200"/>
          </a:xfrm>
          <a:prstGeom prst="rect">
            <a:avLst/>
          </a:prstGeom>
          <a:noFill/>
          <a:ln/>
        </p:spPr>
        <p:txBody>
          <a:bodyPr wrap="square" lIns="0" tIns="0" rIns="0" bIns="0" rtlCol="0" anchor="t"/>
          <a:lstStyle/>
          <a:p>
            <a:pPr indent="0" marL="0">
              <a:buNone/>
            </a:pPr>
            <a:r>
              <a:rPr lang="en-US" sz="1900" b="1" dirty="0">
                <a:solidFill>
                  <a:srgbClr val="222222"/>
                </a:solidFill>
                <a:latin typeface="Arial" pitchFamily="34" charset="0"/>
                <a:ea typeface="Arial" pitchFamily="34" charset="-122"/>
                <a:cs typeface="Arial" pitchFamily="34" charset="-120"/>
              </a:rPr>
              <a:t>F1-score (weighted)</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508760" y="4434840"/>
          <a:ext cx="9052560" cy="914400"/>
        </p:xfrm>
        <a:graphic>
          <a:graphicData uri="http://schemas.openxmlformats.org/drawingml/2006/table">
            <a:tbl>
              <a:tblPr/>
              <a:tblGrid>
                <a:gridCol w="2468880"/>
                <a:gridCol w="1645920"/>
                <a:gridCol w="1645920"/>
                <a:gridCol w="1645920"/>
                <a:gridCol w="1645920"/>
              </a:tblGrid>
              <a:tr h="475488">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Categoría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Precision</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Recall</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F1</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Soporte</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1A1A1A"/>
                    </a:solidFill>
                  </a:tcPr>
                </a:tc>
              </a:tr>
              <a:tr h="475488">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Números</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0,9094</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0,9007</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0,9050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4.533</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Álgebra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0,9091</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0,9150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0,9120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4.045</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r h="475488">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Geometría</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0,9120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0,9078</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0,9099</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3.460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222222"/>
                          </a:solidFill>
                          <a:latin typeface="Arial" pitchFamily="34" charset="0"/>
                          <a:ea typeface="Arial" pitchFamily="34" charset="-122"/>
                          <a:cs typeface="Arial" pitchFamily="34" charset="-120"/>
                        </a:rPr>
                        <a:t>Datos y Prob.</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0,9139</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0,9240</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0,9189</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c>
                  <a:txBody>
                    <a:bodyPr/>
                    <a:lstStyle/>
                    <a:p>
                      <a:pPr algn="ctr" indent="0" marL="0">
                        <a:buNone/>
                      </a:pPr>
                      <a:r>
                        <a:rPr lang="en-US" sz="1500" dirty="0">
                          <a:solidFill>
                            <a:srgbClr val="222222"/>
                          </a:solidFill>
                          <a:latin typeface="Arial" pitchFamily="34" charset="0"/>
                          <a:ea typeface="Arial" pitchFamily="34" charset="-122"/>
                          <a:cs typeface="Arial" pitchFamily="34" charset="-120"/>
                        </a:rPr>
                        <a:t>2.962</a:t>
                      </a:r>
                      <a:endParaRPr lang="en-US" sz="1500" dirty="0">
                        <a:latin typeface="Arial" charset="0"/>
                        <a:ea typeface="Arial" charset="0"/>
                        <a:cs typeface="Arial" charset="0"/>
                      </a:endParaRPr>
                    </a:p>
                  </a:txBody>
                  <a:tcPr marL="101600" marR="101600" marT="50800" marB="50800"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4F6FA"/>
                    </a:solidFill>
                  </a:tcPr>
                </a:tc>
              </a:tr>
            </a:tbl>
          </a:graphicData>
        </a:graphic>
      </p:graphicFrame>
      <p:sp>
        <p:nvSpPr>
          <p:cNvPr id="26" name="Text 22"/>
          <p:cNvSpPr txBox="1"/>
          <p:nvPr/>
        </p:nvSpPr>
        <p:spPr>
          <a:xfrm>
            <a:off x="1508760" y="7086600"/>
            <a:ext cx="9052560" cy="118872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Validación 0,9132 → test 0,9108: diferencia de solo 0,0025. Las decisiones tomadas sobre validación no se sobreajustaron a ese conjunto.</a:t>
            </a:r>
            <a:endParaRPr lang="en-US" sz="1600" dirty="0"/>
          </a:p>
        </p:txBody>
      </p:sp>
      <p:sp>
        <p:nvSpPr>
          <p:cNvPr id="27" name="Shape 23"/>
          <p:cNvSpPr/>
          <p:nvPr/>
        </p:nvSpPr>
        <p:spPr>
          <a:xfrm>
            <a:off x="10972800" y="4434840"/>
            <a:ext cx="6446520" cy="4434840"/>
          </a:xfrm>
          <a:prstGeom prst="rect">
            <a:avLst/>
          </a:prstGeom>
          <a:solidFill>
            <a:srgbClr val="F4F6FA"/>
          </a:solidFill>
          <a:ln w="12700">
            <a:solidFill>
              <a:srgbClr val="D4D4D4"/>
            </a:solidFill>
            <a:prstDash val="solid"/>
          </a:ln>
        </p:spPr>
      </p:sp>
      <p:sp>
        <p:nvSpPr>
          <p:cNvPr id="28" name="Shape 24"/>
          <p:cNvSpPr/>
          <p:nvPr/>
        </p:nvSpPr>
        <p:spPr>
          <a:xfrm>
            <a:off x="10972800" y="4434840"/>
            <a:ext cx="6446520" cy="128016"/>
          </a:xfrm>
          <a:prstGeom prst="rect">
            <a:avLst/>
          </a:prstGeom>
          <a:solidFill>
            <a:srgbClr val="2A4BDB"/>
          </a:solidFill>
          <a:ln w="12700">
            <a:solidFill>
              <a:srgbClr val="2A4BDB"/>
            </a:solidFill>
            <a:prstDash val="solid"/>
          </a:ln>
        </p:spPr>
      </p:sp>
      <p:sp>
        <p:nvSpPr>
          <p:cNvPr id="29" name="Text 25"/>
          <p:cNvSpPr txBox="1"/>
          <p:nvPr/>
        </p:nvSpPr>
        <p:spPr>
          <a:xfrm>
            <a:off x="11292840" y="4754880"/>
            <a:ext cx="589788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Cálculo con la matriz real: Números</a:t>
            </a:r>
            <a:endParaRPr lang="en-US" sz="2000" dirty="0"/>
          </a:p>
        </p:txBody>
      </p:sp>
      <p:sp>
        <p:nvSpPr>
          <p:cNvPr id="30" name="Text 26"/>
          <p:cNvSpPr txBox="1"/>
          <p:nvPr/>
        </p:nvSpPr>
        <p:spPr>
          <a:xfrm>
            <a:off x="11292840" y="5303520"/>
            <a:ext cx="5897880" cy="3383280"/>
          </a:xfrm>
          <a:prstGeom prst="rect">
            <a:avLst/>
          </a:prstGeom>
          <a:noFill/>
          <a:ln/>
        </p:spPr>
        <p:txBody>
          <a:bodyPr wrap="square" lIns="0" tIns="0" rIns="0" bIns="0" rtlCol="0" anchor="t"/>
          <a:lstStyle/>
          <a:p>
            <a:pPr indent="0" marL="0">
              <a:spcAft>
                <a:spcPts val="600"/>
              </a:spcAft>
              <a:buNone/>
            </a:pPr>
            <a:r>
              <a:rPr lang="en-US" sz="1600" dirty="0">
                <a:solidFill>
                  <a:srgbClr val="5A5A5A"/>
                </a:solidFill>
                <a:latin typeface="Arial" pitchFamily="34" charset="0"/>
                <a:ea typeface="Arial" pitchFamily="34" charset="-122"/>
                <a:cs typeface="Arial" pitchFamily="34" charset="-120"/>
              </a:rPr>
              <a:t>Precision = VP / (VP + FP)</a:t>
            </a:r>
            <a:endParaRPr lang="en-US" sz="1600" dirty="0"/>
          </a:p>
          <a:p>
            <a:pPr indent="0" marL="0">
              <a:spcAft>
                <a:spcPts val="600"/>
              </a:spcAft>
              <a:buNone/>
            </a:pPr>
            <a:r>
              <a:rPr lang="en-US" sz="1600" dirty="0">
                <a:solidFill>
                  <a:srgbClr val="5A5A5A"/>
                </a:solidFill>
                <a:latin typeface="Arial" pitchFamily="34" charset="0"/>
                <a:ea typeface="Arial" pitchFamily="34" charset="-122"/>
                <a:cs typeface="Arial" pitchFamily="34" charset="-120"/>
              </a:rPr>
              <a:t>= 4.083 / (4.083 + 407) = 0,9094</a:t>
            </a:r>
            <a:endParaRPr lang="en-US" sz="1600" dirty="0"/>
          </a:p>
          <a:p>
            <a:pPr indent="0" marL="0">
              <a:spcAft>
                <a:spcPts val="600"/>
              </a:spcAft>
              <a:buNone/>
            </a:pPr>
            <a:endParaRPr lang="en-US" sz="1600" dirty="0"/>
          </a:p>
          <a:p>
            <a:pPr indent="0" marL="0">
              <a:spcAft>
                <a:spcPts val="600"/>
              </a:spcAft>
              <a:buNone/>
            </a:pPr>
            <a:r>
              <a:rPr lang="en-US" sz="1600" dirty="0">
                <a:solidFill>
                  <a:srgbClr val="5A5A5A"/>
                </a:solidFill>
                <a:latin typeface="Arial" pitchFamily="34" charset="0"/>
                <a:ea typeface="Arial" pitchFamily="34" charset="-122"/>
                <a:cs typeface="Arial" pitchFamily="34" charset="-120"/>
              </a:rPr>
              <a:t>Recall = VP / (VP + FN)</a:t>
            </a:r>
            <a:endParaRPr lang="en-US" sz="1600" dirty="0"/>
          </a:p>
          <a:p>
            <a:pPr indent="0" marL="0">
              <a:spcAft>
                <a:spcPts val="600"/>
              </a:spcAft>
              <a:buNone/>
            </a:pPr>
            <a:r>
              <a:rPr lang="en-US" sz="1600" dirty="0">
                <a:solidFill>
                  <a:srgbClr val="5A5A5A"/>
                </a:solidFill>
                <a:latin typeface="Arial" pitchFamily="34" charset="0"/>
                <a:ea typeface="Arial" pitchFamily="34" charset="-122"/>
                <a:cs typeface="Arial" pitchFamily="34" charset="-120"/>
              </a:rPr>
              <a:t>= 4.083 / (4.083 + 450) = 0,9007</a:t>
            </a:r>
            <a:endParaRPr lang="en-US" sz="1600" dirty="0"/>
          </a:p>
          <a:p>
            <a:pPr indent="0" marL="0">
              <a:spcAft>
                <a:spcPts val="600"/>
              </a:spcAft>
              <a:buNone/>
            </a:pPr>
            <a:endParaRPr lang="en-US" sz="1600" dirty="0"/>
          </a:p>
          <a:p>
            <a:pPr indent="0" marL="0">
              <a:spcAft>
                <a:spcPts val="600"/>
              </a:spcAft>
              <a:buNone/>
            </a:pPr>
            <a:r>
              <a:rPr lang="en-US" sz="1600" dirty="0">
                <a:solidFill>
                  <a:srgbClr val="5A5A5A"/>
                </a:solidFill>
                <a:latin typeface="Arial" pitchFamily="34" charset="0"/>
                <a:ea typeface="Arial" pitchFamily="34" charset="-122"/>
                <a:cs typeface="Arial" pitchFamily="34" charset="-120"/>
              </a:rPr>
              <a:t>F1 = 2·P·R / (P + R) = 0,9050</a:t>
            </a:r>
            <a:endParaRPr lang="en-US" sz="1600" dirty="0"/>
          </a:p>
          <a:p>
            <a:pPr indent="0" marL="0">
              <a:spcAft>
                <a:spcPts val="600"/>
              </a:spcAft>
              <a:buNone/>
            </a:pPr>
            <a:endParaRPr lang="en-US" sz="1600" dirty="0"/>
          </a:p>
          <a:p>
            <a:pPr indent="0" marL="0">
              <a:spcAft>
                <a:spcPts val="600"/>
              </a:spcAft>
              <a:buNone/>
            </a:pPr>
            <a:r>
              <a:rPr lang="en-US" sz="1600" dirty="0">
                <a:solidFill>
                  <a:srgbClr val="5A5A5A"/>
                </a:solidFill>
                <a:latin typeface="Arial" pitchFamily="34" charset="0"/>
                <a:ea typeface="Arial" pitchFamily="34" charset="-122"/>
                <a:cs typeface="Arial" pitchFamily="34" charset="-120"/>
              </a:rPr>
              <a:t>El F1 ponderado calculado a mano coincide con sklearn: 0,9108.</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Errores del modelo y cómo mejorar</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48840"/>
            <a:ext cx="9966960" cy="3577097"/>
          </a:xfrm>
          <a:prstGeom prst="rect">
            <a:avLst/>
          </a:prstGeom>
          <a:solidFill>
            <a:srgbClr val="FFFFFF"/>
          </a:solidFill>
          <a:ln w="12700">
            <a:solidFill>
              <a:srgbClr val="D4D4D4"/>
            </a:solidFill>
            <a:prstDash val="solid"/>
          </a:ln>
        </p:spPr>
      </p:sp>
      <p:pic>
        <p:nvPicPr>
          <p:cNvPr id="10" name="Image 1" descr="/home/claude/ppt/assets/A_28_0.png">    </p:cNvPr>
          <p:cNvPicPr>
            <a:picLocks noChangeAspect="1"/>
          </p:cNvPicPr>
          <p:nvPr/>
        </p:nvPicPr>
        <p:blipFill>
          <a:blip r:embed="rId2"/>
          <a:stretch>
            <a:fillRect/>
          </a:stretch>
        </p:blipFill>
        <p:spPr>
          <a:xfrm>
            <a:off x="1645920" y="2286000"/>
            <a:ext cx="9692640" cy="3302777"/>
          </a:xfrm>
          <a:prstGeom prst="rect">
            <a:avLst/>
          </a:prstGeom>
        </p:spPr>
      </p:pic>
      <p:sp>
        <p:nvSpPr>
          <p:cNvPr id="11" name="Shape 7"/>
          <p:cNvSpPr/>
          <p:nvPr/>
        </p:nvSpPr>
        <p:spPr>
          <a:xfrm>
            <a:off x="11612880" y="2148840"/>
            <a:ext cx="5806440" cy="3321839"/>
          </a:xfrm>
          <a:prstGeom prst="rect">
            <a:avLst/>
          </a:prstGeom>
          <a:solidFill>
            <a:srgbClr val="FFFFFF"/>
          </a:solidFill>
          <a:ln w="12700">
            <a:solidFill>
              <a:srgbClr val="D4D4D4"/>
            </a:solidFill>
            <a:prstDash val="solid"/>
          </a:ln>
        </p:spPr>
      </p:sp>
      <p:pic>
        <p:nvPicPr>
          <p:cNvPr id="12" name="Image 2" descr="/home/claude/ppt/assets/A_30_0.png">    </p:cNvPr>
          <p:cNvPicPr>
            <a:picLocks noChangeAspect="1"/>
          </p:cNvPicPr>
          <p:nvPr/>
        </p:nvPicPr>
        <p:blipFill>
          <a:blip r:embed="rId3"/>
          <a:stretch>
            <a:fillRect/>
          </a:stretch>
        </p:blipFill>
        <p:spPr>
          <a:xfrm>
            <a:off x="11750040" y="2286000"/>
            <a:ext cx="5532120" cy="3047519"/>
          </a:xfrm>
          <a:prstGeom prst="rect">
            <a:avLst/>
          </a:prstGeom>
        </p:spPr>
      </p:pic>
      <p:sp>
        <p:nvSpPr>
          <p:cNvPr id="13" name="Shape 8"/>
          <p:cNvSpPr/>
          <p:nvPr/>
        </p:nvSpPr>
        <p:spPr>
          <a:xfrm>
            <a:off x="1508760" y="5897880"/>
            <a:ext cx="3108960" cy="1920240"/>
          </a:xfrm>
          <a:prstGeom prst="rect">
            <a:avLst/>
          </a:prstGeom>
          <a:solidFill>
            <a:srgbClr val="F4F6FA"/>
          </a:solidFill>
          <a:ln w="12700">
            <a:solidFill>
              <a:srgbClr val="D4D4D4"/>
            </a:solidFill>
            <a:prstDash val="solid"/>
          </a:ln>
        </p:spPr>
      </p:sp>
      <p:sp>
        <p:nvSpPr>
          <p:cNvPr id="14" name="Shape 9"/>
          <p:cNvSpPr/>
          <p:nvPr/>
        </p:nvSpPr>
        <p:spPr>
          <a:xfrm>
            <a:off x="1508760" y="5897880"/>
            <a:ext cx="3108960" cy="128016"/>
          </a:xfrm>
          <a:prstGeom prst="rect">
            <a:avLst/>
          </a:prstGeom>
          <a:solidFill>
            <a:srgbClr val="E0463A"/>
          </a:solidFill>
          <a:ln w="12700">
            <a:solidFill>
              <a:srgbClr val="E0463A"/>
            </a:solidFill>
            <a:prstDash val="solid"/>
          </a:ln>
        </p:spPr>
      </p:sp>
      <p:sp>
        <p:nvSpPr>
          <p:cNvPr id="15" name="Text 10"/>
          <p:cNvSpPr txBox="1"/>
          <p:nvPr/>
        </p:nvSpPr>
        <p:spPr>
          <a:xfrm>
            <a:off x="1783080" y="6172200"/>
            <a:ext cx="2651760" cy="731520"/>
          </a:xfrm>
          <a:prstGeom prst="rect">
            <a:avLst/>
          </a:prstGeom>
          <a:noFill/>
          <a:ln/>
        </p:spPr>
        <p:txBody>
          <a:bodyPr wrap="square" lIns="0" tIns="0" rIns="0" bIns="0" rtlCol="0" anchor="ctr"/>
          <a:lstStyle/>
          <a:p>
            <a:pPr indent="0" marL="0">
              <a:buNone/>
            </a:pPr>
            <a:r>
              <a:rPr lang="en-US" sz="3400" b="1" dirty="0">
                <a:solidFill>
                  <a:srgbClr val="E0463A"/>
                </a:solidFill>
                <a:latin typeface="Arial" pitchFamily="34" charset="0"/>
                <a:ea typeface="Arial" pitchFamily="34" charset="-122"/>
                <a:cs typeface="Arial" pitchFamily="34" charset="-120"/>
              </a:rPr>
              <a:t>185</a:t>
            </a:r>
            <a:endParaRPr lang="en-US" sz="3400" dirty="0"/>
          </a:p>
        </p:txBody>
      </p:sp>
      <p:sp>
        <p:nvSpPr>
          <p:cNvPr id="16" name="Text 11"/>
          <p:cNvSpPr txBox="1"/>
          <p:nvPr/>
        </p:nvSpPr>
        <p:spPr>
          <a:xfrm>
            <a:off x="1783080" y="6922008"/>
            <a:ext cx="265176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Números → Álgebra</a:t>
            </a:r>
            <a:endParaRPr lang="en-US" sz="1700" dirty="0"/>
          </a:p>
        </p:txBody>
      </p:sp>
      <p:sp>
        <p:nvSpPr>
          <p:cNvPr id="17" name="Text 12"/>
          <p:cNvSpPr txBox="1"/>
          <p:nvPr/>
        </p:nvSpPr>
        <p:spPr>
          <a:xfrm>
            <a:off x="1783080" y="7315200"/>
            <a:ext cx="2651760" cy="3657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confusión principal</a:t>
            </a:r>
            <a:endParaRPr lang="en-US" sz="1300" dirty="0"/>
          </a:p>
        </p:txBody>
      </p:sp>
      <p:sp>
        <p:nvSpPr>
          <p:cNvPr id="18" name="Shape 13"/>
          <p:cNvSpPr/>
          <p:nvPr/>
        </p:nvSpPr>
        <p:spPr>
          <a:xfrm>
            <a:off x="4828032" y="5897880"/>
            <a:ext cx="3108960" cy="1920240"/>
          </a:xfrm>
          <a:prstGeom prst="rect">
            <a:avLst/>
          </a:prstGeom>
          <a:solidFill>
            <a:srgbClr val="F4F6FA"/>
          </a:solidFill>
          <a:ln w="12700">
            <a:solidFill>
              <a:srgbClr val="D4D4D4"/>
            </a:solidFill>
            <a:prstDash val="solid"/>
          </a:ln>
        </p:spPr>
      </p:sp>
      <p:sp>
        <p:nvSpPr>
          <p:cNvPr id="19" name="Shape 14"/>
          <p:cNvSpPr/>
          <p:nvPr/>
        </p:nvSpPr>
        <p:spPr>
          <a:xfrm>
            <a:off x="4828032" y="5897880"/>
            <a:ext cx="3108960" cy="128016"/>
          </a:xfrm>
          <a:prstGeom prst="rect">
            <a:avLst/>
          </a:prstGeom>
          <a:solidFill>
            <a:srgbClr val="2A4BDB"/>
          </a:solidFill>
          <a:ln w="12700">
            <a:solidFill>
              <a:srgbClr val="2A4BDB"/>
            </a:solidFill>
            <a:prstDash val="solid"/>
          </a:ln>
        </p:spPr>
      </p:sp>
      <p:sp>
        <p:nvSpPr>
          <p:cNvPr id="20" name="Text 15"/>
          <p:cNvSpPr txBox="1"/>
          <p:nvPr/>
        </p:nvSpPr>
        <p:spPr>
          <a:xfrm>
            <a:off x="5102352" y="6172200"/>
            <a:ext cx="265176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164</a:t>
            </a:r>
            <a:endParaRPr lang="en-US" sz="3400" dirty="0"/>
          </a:p>
        </p:txBody>
      </p:sp>
      <p:sp>
        <p:nvSpPr>
          <p:cNvPr id="21" name="Text 16"/>
          <p:cNvSpPr txBox="1"/>
          <p:nvPr/>
        </p:nvSpPr>
        <p:spPr>
          <a:xfrm>
            <a:off x="5102352" y="6922008"/>
            <a:ext cx="265176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Álgebra → Números</a:t>
            </a:r>
            <a:endParaRPr lang="en-US" sz="1700" dirty="0"/>
          </a:p>
        </p:txBody>
      </p:sp>
      <p:sp>
        <p:nvSpPr>
          <p:cNvPr id="22" name="Text 17"/>
          <p:cNvSpPr txBox="1"/>
          <p:nvPr/>
        </p:nvSpPr>
        <p:spPr>
          <a:xfrm>
            <a:off x="5102352" y="7315200"/>
            <a:ext cx="2651760" cy="365760"/>
          </a:xfrm>
          <a:prstGeom prst="rect">
            <a:avLst/>
          </a:prstGeom>
          <a:noFill/>
          <a:ln/>
        </p:spPr>
        <p:txBody>
          <a:bodyPr wrap="square" lIns="0" tIns="0" rIns="0" bIns="0" rtlCol="0" anchor="ctr"/>
          <a:lstStyle/>
          <a:p>
            <a:pPr indent="0" marL="0">
              <a:buNone/>
            </a:pPr>
            <a:endParaRPr lang="en-US" sz="1300" dirty="0"/>
          </a:p>
        </p:txBody>
      </p:sp>
      <p:sp>
        <p:nvSpPr>
          <p:cNvPr id="23" name="Shape 18"/>
          <p:cNvSpPr/>
          <p:nvPr/>
        </p:nvSpPr>
        <p:spPr>
          <a:xfrm>
            <a:off x="8147304" y="5897880"/>
            <a:ext cx="3108960" cy="1920240"/>
          </a:xfrm>
          <a:prstGeom prst="rect">
            <a:avLst/>
          </a:prstGeom>
          <a:solidFill>
            <a:srgbClr val="F4F6FA"/>
          </a:solidFill>
          <a:ln w="12700">
            <a:solidFill>
              <a:srgbClr val="D4D4D4"/>
            </a:solidFill>
            <a:prstDash val="solid"/>
          </a:ln>
        </p:spPr>
      </p:sp>
      <p:sp>
        <p:nvSpPr>
          <p:cNvPr id="24" name="Shape 19"/>
          <p:cNvSpPr/>
          <p:nvPr/>
        </p:nvSpPr>
        <p:spPr>
          <a:xfrm>
            <a:off x="8147304" y="5897880"/>
            <a:ext cx="3108960" cy="128016"/>
          </a:xfrm>
          <a:prstGeom prst="rect">
            <a:avLst/>
          </a:prstGeom>
          <a:solidFill>
            <a:srgbClr val="2A4BDB"/>
          </a:solidFill>
          <a:ln w="12700">
            <a:solidFill>
              <a:srgbClr val="2A4BDB"/>
            </a:solidFill>
            <a:prstDash val="solid"/>
          </a:ln>
        </p:spPr>
      </p:sp>
      <p:sp>
        <p:nvSpPr>
          <p:cNvPr id="25" name="Text 20"/>
          <p:cNvSpPr txBox="1"/>
          <p:nvPr/>
        </p:nvSpPr>
        <p:spPr>
          <a:xfrm>
            <a:off x="8421624" y="6172200"/>
            <a:ext cx="2651760" cy="731520"/>
          </a:xfrm>
          <a:prstGeom prst="rect">
            <a:avLst/>
          </a:prstGeom>
          <a:noFill/>
          <a:ln/>
        </p:spPr>
        <p:txBody>
          <a:bodyPr wrap="square" lIns="0" tIns="0" rIns="0" bIns="0" rtlCol="0" anchor="ctr"/>
          <a:lstStyle/>
          <a:p>
            <a:pPr indent="0" marL="0">
              <a:buNone/>
            </a:pPr>
            <a:r>
              <a:rPr lang="en-US" sz="3400" b="1" dirty="0">
                <a:solidFill>
                  <a:srgbClr val="2A4BDB"/>
                </a:solidFill>
                <a:latin typeface="Arial" pitchFamily="34" charset="0"/>
                <a:ea typeface="Arial" pitchFamily="34" charset="-122"/>
                <a:cs typeface="Arial" pitchFamily="34" charset="-120"/>
              </a:rPr>
              <a:t>148</a:t>
            </a:r>
            <a:endParaRPr lang="en-US" sz="3400" dirty="0"/>
          </a:p>
        </p:txBody>
      </p:sp>
      <p:sp>
        <p:nvSpPr>
          <p:cNvPr id="26" name="Text 21"/>
          <p:cNvSpPr txBox="1"/>
          <p:nvPr/>
        </p:nvSpPr>
        <p:spPr>
          <a:xfrm>
            <a:off x="8421624" y="6922008"/>
            <a:ext cx="2651760" cy="384048"/>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Geometría → Números</a:t>
            </a:r>
            <a:endParaRPr lang="en-US" sz="1700" dirty="0"/>
          </a:p>
        </p:txBody>
      </p:sp>
      <p:sp>
        <p:nvSpPr>
          <p:cNvPr id="27" name="Text 22"/>
          <p:cNvSpPr txBox="1"/>
          <p:nvPr/>
        </p:nvSpPr>
        <p:spPr>
          <a:xfrm>
            <a:off x="8421624" y="7315200"/>
            <a:ext cx="2651760" cy="365760"/>
          </a:xfrm>
          <a:prstGeom prst="rect">
            <a:avLst/>
          </a:prstGeom>
          <a:noFill/>
          <a:ln/>
        </p:spPr>
        <p:txBody>
          <a:bodyPr wrap="square" lIns="0" tIns="0" rIns="0" bIns="0" rtlCol="0" anchor="ctr"/>
          <a:lstStyle/>
          <a:p>
            <a:pPr indent="0" marL="0">
              <a:buNone/>
            </a:pPr>
            <a:endParaRPr lang="en-US" sz="1300" dirty="0"/>
          </a:p>
        </p:txBody>
      </p:sp>
      <p:sp>
        <p:nvSpPr>
          <p:cNvPr id="28" name="Text 23"/>
          <p:cNvSpPr txBox="1"/>
          <p:nvPr/>
        </p:nvSpPr>
        <p:spPr>
          <a:xfrm>
            <a:off x="1508760" y="8046720"/>
            <a:ext cx="9966960" cy="822960"/>
          </a:xfrm>
          <a:prstGeom prst="rect">
            <a:avLst/>
          </a:prstGeom>
          <a:noFill/>
          <a:ln/>
        </p:spPr>
        <p:txBody>
          <a:bodyPr wrap="square" lIns="0" tIns="0" rIns="0" bIns="0" rtlCol="0" anchor="t"/>
          <a:lstStyle/>
          <a:p>
            <a:pPr indent="0" marL="0">
              <a:buNone/>
            </a:pPr>
            <a:r>
              <a:rPr lang="en-US" sz="1600" b="1" dirty="0">
                <a:solidFill>
                  <a:srgbClr val="222222"/>
                </a:solidFill>
                <a:latin typeface="Arial" pitchFamily="34" charset="0"/>
                <a:ea typeface="Arial" pitchFamily="34" charset="-122"/>
                <a:cs typeface="Arial" pitchFamily="34" charset="-120"/>
              </a:rPr>
              <a:t>Números participa en las tres confusiones principales: por eso tiene el menor recall (0,9007).</a:t>
            </a:r>
            <a:endParaRPr lang="en-US" sz="1600" dirty="0"/>
          </a:p>
        </p:txBody>
      </p:sp>
      <p:sp>
        <p:nvSpPr>
          <p:cNvPr id="29" name="Shape 24"/>
          <p:cNvSpPr/>
          <p:nvPr/>
        </p:nvSpPr>
        <p:spPr>
          <a:xfrm>
            <a:off x="11612880" y="5897880"/>
            <a:ext cx="5806440" cy="2971800"/>
          </a:xfrm>
          <a:prstGeom prst="rect">
            <a:avLst/>
          </a:prstGeom>
          <a:solidFill>
            <a:srgbClr val="F4F6FA"/>
          </a:solidFill>
          <a:ln w="12700">
            <a:solidFill>
              <a:srgbClr val="D4D4D4"/>
            </a:solidFill>
            <a:prstDash val="solid"/>
          </a:ln>
        </p:spPr>
      </p:sp>
      <p:sp>
        <p:nvSpPr>
          <p:cNvPr id="30" name="Shape 25"/>
          <p:cNvSpPr/>
          <p:nvPr/>
        </p:nvSpPr>
        <p:spPr>
          <a:xfrm>
            <a:off x="11612880" y="5897880"/>
            <a:ext cx="5806440" cy="128016"/>
          </a:xfrm>
          <a:prstGeom prst="rect">
            <a:avLst/>
          </a:prstGeom>
          <a:solidFill>
            <a:srgbClr val="2A4BDB"/>
          </a:solidFill>
          <a:ln w="12700">
            <a:solidFill>
              <a:srgbClr val="2A4BDB"/>
            </a:solidFill>
            <a:prstDash val="solid"/>
          </a:ln>
        </p:spPr>
      </p:sp>
      <p:sp>
        <p:nvSpPr>
          <p:cNvPr id="31" name="Text 26"/>
          <p:cNvSpPr txBox="1"/>
          <p:nvPr/>
        </p:nvSpPr>
        <p:spPr>
          <a:xfrm>
            <a:off x="11932920" y="6217920"/>
            <a:ext cx="525780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Umbral de confianza</a:t>
            </a:r>
            <a:endParaRPr lang="en-US" sz="2000" dirty="0"/>
          </a:p>
        </p:txBody>
      </p:sp>
      <p:sp>
        <p:nvSpPr>
          <p:cNvPr id="32" name="Text 27"/>
          <p:cNvSpPr txBox="1"/>
          <p:nvPr/>
        </p:nvSpPr>
        <p:spPr>
          <a:xfrm>
            <a:off x="11932920" y="6766560"/>
            <a:ext cx="5257800" cy="192024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Con umbral ≥ 0,80: precisión 96,7%, cubriendo el 82,1%.</a:t>
            </a:r>
            <a:endParaRPr lang="en-US" sz="1500" dirty="0"/>
          </a:p>
          <a:p>
            <a:pPr marL="279400" indent="-279400">
              <a:spcAft>
                <a:spcPts val="1600"/>
              </a:spcAft>
              <a:buSzPct val="100000"/>
              <a:buChar char="•"/>
            </a:pPr>
            <a:r>
              <a:rPr lang="en-US" sz="1500" dirty="0">
                <a:solidFill>
                  <a:srgbClr val="5A5A5A"/>
                </a:solidFill>
                <a:latin typeface="Arial" pitchFamily="34" charset="0"/>
                <a:ea typeface="Arial" pitchFamily="34" charset="-122"/>
                <a:cs typeface="Arial" pitchFamily="34" charset="-120"/>
              </a:rPr>
              <a:t>El resto pasa a revisión manual.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808" cy="10287000"/>
          </a:xfrm>
          <a:prstGeom prst="rect">
            <a:avLst/>
          </a:prstGeom>
          <a:solidFill>
            <a:srgbClr val="1A1A1A"/>
          </a:solidFill>
          <a:ln w="12700">
            <a:solidFill>
              <a:srgbClr val="1A1A1A"/>
            </a:solidFill>
            <a:prstDash val="solid"/>
          </a:ln>
        </p:spPr>
      </p:sp>
      <p:sp>
        <p:nvSpPr>
          <p:cNvPr id="3" name="Shape 1"/>
          <p:cNvSpPr/>
          <p:nvPr/>
        </p:nvSpPr>
        <p:spPr>
          <a:xfrm>
            <a:off x="228600" y="457200"/>
            <a:ext cx="292608" cy="292608"/>
          </a:xfrm>
          <a:prstGeom prst="rect">
            <a:avLst/>
          </a:prstGeom>
          <a:solidFill>
            <a:srgbClr val="2A4BDB"/>
          </a:solidFill>
          <a:ln w="12700">
            <a:solidFill>
              <a:srgbClr val="2A4BDB"/>
            </a:solidFill>
            <a:prstDash val="solid"/>
          </a:ln>
        </p:spPr>
      </p:sp>
      <p:sp>
        <p:nvSpPr>
          <p:cNvPr id="4" name="Text 2"/>
          <p:cNvSpPr txBox="1"/>
          <p:nvPr/>
        </p:nvSpPr>
        <p:spPr>
          <a:xfrm>
            <a:off x="146304" y="1737360"/>
            <a:ext cx="457200" cy="6858000"/>
          </a:xfrm>
          <a:prstGeom prst="rect">
            <a:avLst/>
          </a:prstGeom>
          <a:noFill/>
          <a:ln/>
        </p:spPr>
        <p:txBody>
          <a:bodyPr wrap="square" lIns="0" tIns="0" rIns="0" bIns="0" rtlCol="0" anchor="ctr" vert="vert270"/>
          <a:lstStyle/>
          <a:p>
            <a:pPr algn="ctr" indent="0" marL="0">
              <a:buNone/>
            </a:pPr>
            <a:r>
              <a:rPr lang="en-US" sz="1100" spc="200" kern="0" dirty="0">
                <a:solidFill>
                  <a:srgbClr val="FFFFFF"/>
                </a:solidFill>
                <a:latin typeface="Arial" pitchFamily="34" charset="0"/>
                <a:ea typeface="Arial" pitchFamily="34" charset="-122"/>
                <a:cs typeface="Arial" pitchFamily="34" charset="-120"/>
              </a:rPr>
              <a:t>ESCUELA DE INFORMÁTICA Y TELECOMUNICACIONES</a:t>
            </a:r>
            <a:endParaRPr lang="en-US" sz="1100" dirty="0"/>
          </a:p>
        </p:txBody>
      </p:sp>
      <p:sp>
        <p:nvSpPr>
          <p:cNvPr id="5" name="Shape 3"/>
          <p:cNvSpPr/>
          <p:nvPr/>
        </p:nvSpPr>
        <p:spPr>
          <a:xfrm>
            <a:off x="17099280" y="621792"/>
            <a:ext cx="438912" cy="438912"/>
          </a:xfrm>
          <a:prstGeom prst="rect">
            <a:avLst/>
          </a:prstGeom>
          <a:solidFill>
            <a:srgbClr val="4E7CDC"/>
          </a:solidFill>
          <a:ln w="12700">
            <a:solidFill>
              <a:srgbClr val="4E7CDC"/>
            </a:solidFill>
            <a:prstDash val="solid"/>
          </a:ln>
        </p:spPr>
      </p:sp>
      <p:sp>
        <p:nvSpPr>
          <p:cNvPr id="6" name="Text 4"/>
          <p:cNvSpPr txBox="1"/>
          <p:nvPr/>
        </p:nvSpPr>
        <p:spPr>
          <a:xfrm>
            <a:off x="1508760" y="566928"/>
            <a:ext cx="15179040" cy="100584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Conclusiones y posibles mejoras</a:t>
            </a:r>
            <a:endParaRPr lang="en-US" sz="4000" dirty="0"/>
          </a:p>
        </p:txBody>
      </p:sp>
      <p:sp>
        <p:nvSpPr>
          <p:cNvPr id="7" name="Shape 5"/>
          <p:cNvSpPr/>
          <p:nvPr/>
        </p:nvSpPr>
        <p:spPr>
          <a:xfrm>
            <a:off x="1508760" y="1737360"/>
            <a:ext cx="2834640" cy="45720"/>
          </a:xfrm>
          <a:prstGeom prst="rect">
            <a:avLst/>
          </a:prstGeom>
          <a:solidFill>
            <a:srgbClr val="2A4BDB"/>
          </a:solidFill>
          <a:ln w="12700">
            <a:solidFill>
              <a:srgbClr val="2A4BDB"/>
            </a:solidFill>
            <a:prstDash val="solid"/>
          </a:ln>
        </p:spPr>
      </p:sp>
      <p:pic>
        <p:nvPicPr>
          <p:cNvPr id="8" name="Image 0" descr="/home/claude/ppt/assets/logo.png">    </p:cNvPr>
          <p:cNvPicPr>
            <a:picLocks noChangeAspect="1"/>
          </p:cNvPicPr>
          <p:nvPr/>
        </p:nvPicPr>
        <p:blipFill>
          <a:blip r:embed="rId1"/>
          <a:stretch>
            <a:fillRect/>
          </a:stretch>
        </p:blipFill>
        <p:spPr>
          <a:xfrm>
            <a:off x="15316200" y="9235440"/>
            <a:ext cx="2194560" cy="548640"/>
          </a:xfrm>
          <a:prstGeom prst="rect">
            <a:avLst/>
          </a:prstGeom>
        </p:spPr>
      </p:pic>
      <p:sp>
        <p:nvSpPr>
          <p:cNvPr id="9" name="Shape 6"/>
          <p:cNvSpPr/>
          <p:nvPr/>
        </p:nvSpPr>
        <p:spPr>
          <a:xfrm>
            <a:off x="1508760" y="2194560"/>
            <a:ext cx="7772400" cy="6675120"/>
          </a:xfrm>
          <a:prstGeom prst="rect">
            <a:avLst/>
          </a:prstGeom>
          <a:solidFill>
            <a:srgbClr val="F4F6FA"/>
          </a:solidFill>
          <a:ln w="12700">
            <a:solidFill>
              <a:srgbClr val="D4D4D4"/>
            </a:solidFill>
            <a:prstDash val="solid"/>
          </a:ln>
        </p:spPr>
      </p:sp>
      <p:sp>
        <p:nvSpPr>
          <p:cNvPr id="10" name="Shape 7"/>
          <p:cNvSpPr/>
          <p:nvPr/>
        </p:nvSpPr>
        <p:spPr>
          <a:xfrm>
            <a:off x="1508760" y="2194560"/>
            <a:ext cx="7772400" cy="128016"/>
          </a:xfrm>
          <a:prstGeom prst="rect">
            <a:avLst/>
          </a:prstGeom>
          <a:solidFill>
            <a:srgbClr val="2A4BDB"/>
          </a:solidFill>
          <a:ln w="12700">
            <a:solidFill>
              <a:srgbClr val="2A4BDB"/>
            </a:solidFill>
            <a:prstDash val="solid"/>
          </a:ln>
        </p:spPr>
      </p:sp>
      <p:sp>
        <p:nvSpPr>
          <p:cNvPr id="11" name="Text 8"/>
          <p:cNvSpPr txBox="1"/>
          <p:nvPr/>
        </p:nvSpPr>
        <p:spPr>
          <a:xfrm>
            <a:off x="1828800" y="2514600"/>
            <a:ext cx="722376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Conclusiones</a:t>
            </a:r>
            <a:endParaRPr lang="en-US" sz="2000" dirty="0"/>
          </a:p>
        </p:txBody>
      </p:sp>
      <p:sp>
        <p:nvSpPr>
          <p:cNvPr id="12" name="Text 9"/>
          <p:cNvSpPr txBox="1"/>
          <p:nvPr/>
        </p:nvSpPr>
        <p:spPr>
          <a:xfrm>
            <a:off x="1828800" y="3063240"/>
            <a:ext cx="7223760" cy="5623560"/>
          </a:xfrm>
          <a:prstGeom prst="rect">
            <a:avLst/>
          </a:prstGeom>
          <a:noFill/>
          <a:ln/>
        </p:spPr>
        <p:txBody>
          <a:bodyPr wrap="square" lIns="0" tIns="0" rIns="0" bIns="0" rtlCol="0" anchor="t"/>
          <a:lstStyle/>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MLP 64-32 con ReLU, Softmax y Cross-Entropy; Adam 0.0005, batch 256, Dropout 0.2 y Early Stopping. F1 en test: 0,9108.</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La mayor mejora proviene del learning rate y del batch size; la regularización mejora la calibración más que el F1.</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Las funciones y arquitecturas rinden de forma equivalente en esta red; las diferencias aparecen en el gradiente y en la velocidad de convergencia.</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El desempeño en test confirma la generalización: solo 0,0025 bajo validación.</a:t>
            </a:r>
            <a:endParaRPr lang="en-US" sz="2000" dirty="0"/>
          </a:p>
        </p:txBody>
      </p:sp>
      <p:sp>
        <p:nvSpPr>
          <p:cNvPr id="13" name="Shape 10"/>
          <p:cNvSpPr/>
          <p:nvPr/>
        </p:nvSpPr>
        <p:spPr>
          <a:xfrm>
            <a:off x="9738360" y="2194560"/>
            <a:ext cx="7772400" cy="6675120"/>
          </a:xfrm>
          <a:prstGeom prst="rect">
            <a:avLst/>
          </a:prstGeom>
          <a:solidFill>
            <a:srgbClr val="F4F6FA"/>
          </a:solidFill>
          <a:ln w="12700">
            <a:solidFill>
              <a:srgbClr val="D4D4D4"/>
            </a:solidFill>
            <a:prstDash val="solid"/>
          </a:ln>
        </p:spPr>
      </p:sp>
      <p:sp>
        <p:nvSpPr>
          <p:cNvPr id="14" name="Shape 11"/>
          <p:cNvSpPr/>
          <p:nvPr/>
        </p:nvSpPr>
        <p:spPr>
          <a:xfrm>
            <a:off x="9738360" y="2194560"/>
            <a:ext cx="7772400" cy="128016"/>
          </a:xfrm>
          <a:prstGeom prst="rect">
            <a:avLst/>
          </a:prstGeom>
          <a:solidFill>
            <a:srgbClr val="4E7CDC"/>
          </a:solidFill>
          <a:ln w="12700">
            <a:solidFill>
              <a:srgbClr val="4E7CDC"/>
            </a:solidFill>
            <a:prstDash val="solid"/>
          </a:ln>
        </p:spPr>
      </p:sp>
      <p:sp>
        <p:nvSpPr>
          <p:cNvPr id="15" name="Text 12"/>
          <p:cNvSpPr txBox="1"/>
          <p:nvPr/>
        </p:nvSpPr>
        <p:spPr>
          <a:xfrm>
            <a:off x="10058400" y="2514600"/>
            <a:ext cx="7223760" cy="502920"/>
          </a:xfrm>
          <a:prstGeom prst="rect">
            <a:avLst/>
          </a:prstGeom>
          <a:noFill/>
          <a:ln/>
        </p:spPr>
        <p:txBody>
          <a:bodyPr wrap="square" lIns="0" tIns="0" rIns="0" bIns="0" rtlCol="0" anchor="ctr"/>
          <a:lstStyle/>
          <a:p>
            <a:pPr indent="0" marL="0">
              <a:buNone/>
            </a:pPr>
            <a:r>
              <a:rPr lang="en-US" sz="2000" b="1" dirty="0">
                <a:solidFill>
                  <a:srgbClr val="222222"/>
                </a:solidFill>
                <a:latin typeface="Arial" pitchFamily="34" charset="0"/>
                <a:ea typeface="Arial" pitchFamily="34" charset="-122"/>
                <a:cs typeface="Arial" pitchFamily="34" charset="-120"/>
              </a:rPr>
              <a:t>Posibles mejoras</a:t>
            </a:r>
            <a:endParaRPr lang="en-US" sz="2000" dirty="0"/>
          </a:p>
        </p:txBody>
      </p:sp>
      <p:sp>
        <p:nvSpPr>
          <p:cNvPr id="16" name="Text 13"/>
          <p:cNvSpPr txBox="1"/>
          <p:nvPr/>
        </p:nvSpPr>
        <p:spPr>
          <a:xfrm>
            <a:off x="10058400" y="3063240"/>
            <a:ext cx="7223760" cy="5623560"/>
          </a:xfrm>
          <a:prstGeom prst="rect">
            <a:avLst/>
          </a:prstGeom>
          <a:noFill/>
          <a:ln/>
        </p:spPr>
        <p:txBody>
          <a:bodyPr wrap="square" lIns="0" tIns="0" rIns="0" bIns="0" rtlCol="0" anchor="t"/>
          <a:lstStyle/>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Búsqueda conjunta de hiperparámetros (Keras Tuner), en lugar de variar uno a la vez.</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Validación cruzada estratificada para estimar la variabilidad de las métricas.</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Umbral de confianza con revisión manual para los registros de baja certeza.</a:t>
            </a:r>
            <a:endParaRPr lang="en-US" sz="2000" dirty="0"/>
          </a:p>
          <a:p>
            <a:pPr marL="279400" indent="-279400">
              <a:spcAft>
                <a:spcPts val="1600"/>
              </a:spcAft>
              <a:buSzPct val="100000"/>
              <a:buChar char="•"/>
            </a:pPr>
            <a:r>
              <a:rPr lang="en-US" sz="2000" dirty="0">
                <a:solidFill>
                  <a:srgbClr val="5A5A5A"/>
                </a:solidFill>
                <a:latin typeface="Arial" pitchFamily="34" charset="0"/>
                <a:ea typeface="Arial" pitchFamily="34" charset="-122"/>
                <a:cs typeface="Arial" pitchFamily="34" charset="-120"/>
              </a:rPr>
              <a:t>Nuevas variables para separar Números de Álgebra, y class_weight para subir el recall de Números.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pic>
        <p:nvPicPr>
          <p:cNvPr id="2" name="Image 0" descr="/home/claude/ppt/assets/cierre.jp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9144000" y="640080"/>
            <a:ext cx="8412480" cy="8823960"/>
          </a:xfrm>
          <a:prstGeom prst="rect">
            <a:avLst/>
          </a:prstGeom>
          <a:solidFill>
            <a:srgbClr val="2A4BDB"/>
          </a:solidFill>
          <a:ln w="12700">
            <a:solidFill>
              <a:srgbClr val="2A4BDB"/>
            </a:solidFill>
            <a:prstDash val="solid"/>
          </a:ln>
        </p:spPr>
      </p:sp>
      <p:sp>
        <p:nvSpPr>
          <p:cNvPr id="4" name="Shape 1"/>
          <p:cNvSpPr/>
          <p:nvPr/>
        </p:nvSpPr>
        <p:spPr>
          <a:xfrm>
            <a:off x="9692640" y="3566160"/>
            <a:ext cx="310896" cy="310896"/>
          </a:xfrm>
          <a:prstGeom prst="rect">
            <a:avLst/>
          </a:prstGeom>
          <a:solidFill>
            <a:srgbClr val="FFFFFF"/>
          </a:solidFill>
          <a:ln w="12700">
            <a:solidFill>
              <a:srgbClr val="FFFFFF"/>
            </a:solidFill>
            <a:prstDash val="solid"/>
          </a:ln>
        </p:spPr>
      </p:sp>
      <p:sp>
        <p:nvSpPr>
          <p:cNvPr id="5" name="Text 2"/>
          <p:cNvSpPr txBox="1"/>
          <p:nvPr/>
        </p:nvSpPr>
        <p:spPr>
          <a:xfrm>
            <a:off x="10287000" y="3017520"/>
            <a:ext cx="7040880" cy="128016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Gracias</a:t>
            </a:r>
            <a:endParaRPr lang="en-US" sz="5400" dirty="0"/>
          </a:p>
        </p:txBody>
      </p:sp>
      <p:sp>
        <p:nvSpPr>
          <p:cNvPr id="6" name="Text 3"/>
          <p:cNvSpPr txBox="1"/>
          <p:nvPr/>
        </p:nvSpPr>
        <p:spPr>
          <a:xfrm>
            <a:off x="10287000" y="4389120"/>
            <a:ext cx="7040880" cy="822960"/>
          </a:xfrm>
          <a:prstGeom prst="rect">
            <a:avLst/>
          </a:prstGeom>
          <a:noFill/>
          <a:ln/>
        </p:spPr>
        <p:txBody>
          <a:bodyPr wrap="square" lIns="0" tIns="0" rIns="0" bIns="0" rtlCol="0" anchor="ctr"/>
          <a:lstStyle/>
          <a:p>
            <a:pPr indent="0" marL="0">
              <a:buNone/>
            </a:pPr>
            <a:r>
              <a:rPr lang="en-US" sz="2800" i="1" dirty="0">
                <a:solidFill>
                  <a:srgbClr val="FFFFFF"/>
                </a:solidFill>
                <a:latin typeface="Arial" pitchFamily="34" charset="0"/>
                <a:ea typeface="Arial" pitchFamily="34" charset="-122"/>
                <a:cs typeface="Arial" pitchFamily="34" charset="-120"/>
              </a:rPr>
              <a:t>¿Preguntas?</a:t>
            </a:r>
            <a:endParaRPr lang="en-US" sz="2800" dirty="0"/>
          </a:p>
        </p:txBody>
      </p:sp>
      <p:sp>
        <p:nvSpPr>
          <p:cNvPr id="7" name="Text 4"/>
          <p:cNvSpPr txBox="1"/>
          <p:nvPr/>
        </p:nvSpPr>
        <p:spPr>
          <a:xfrm>
            <a:off x="9692640" y="6583680"/>
            <a:ext cx="7498080" cy="10058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Repositorio</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github.com/Nicolas-Salas/deep-learning-ep1</a:t>
            </a:r>
            <a:endParaRPr lang="en-US" sz="1800" dirty="0"/>
          </a:p>
        </p:txBody>
      </p:sp>
      <p:sp>
        <p:nvSpPr>
          <p:cNvPr id="8" name="Shape 5"/>
          <p:cNvSpPr/>
          <p:nvPr/>
        </p:nvSpPr>
        <p:spPr>
          <a:xfrm>
            <a:off x="15133320" y="8549640"/>
            <a:ext cx="2286000" cy="731520"/>
          </a:xfrm>
          <a:prstGeom prst="roundRect">
            <a:avLst>
              <a:gd name="adj" fmla="val 10000"/>
            </a:avLst>
          </a:prstGeom>
          <a:solidFill>
            <a:srgbClr val="FFFFFF"/>
          </a:solidFill>
          <a:ln w="12700">
            <a:solidFill>
              <a:srgbClr val="FFFFFF"/>
            </a:solidFill>
            <a:prstDash val="solid"/>
          </a:ln>
        </p:spPr>
      </p:sp>
      <p:pic>
        <p:nvPicPr>
          <p:cNvPr id="9" name="Image 1" descr="/home/claude/ppt/assets/logo.png">    </p:cNvPr>
          <p:cNvPicPr>
            <a:picLocks noChangeAspect="1"/>
          </p:cNvPicPr>
          <p:nvPr/>
        </p:nvPicPr>
        <p:blipFill>
          <a:blip r:embed="rId2"/>
          <a:stretch>
            <a:fillRect/>
          </a:stretch>
        </p:blipFill>
        <p:spPr>
          <a:xfrm>
            <a:off x="15179040" y="8641080"/>
            <a:ext cx="219456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Curricular Automática con MLP</dc:title>
  <dc:subject>PptxGenJS Presentation</dc:subject>
  <dc:creator>PptxGenJS</dc:creator>
  <cp:lastModifiedBy>PptxGenJS</cp:lastModifiedBy>
  <cp:revision>1</cp:revision>
  <dcterms:created xsi:type="dcterms:W3CDTF">2026-09-25T11:43:01Z</dcterms:created>
  <dcterms:modified xsi:type="dcterms:W3CDTF">2026-09-25T11:43:01Z</dcterms:modified>
</cp:coreProperties>
</file>